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80" r:id="rId3"/>
    <p:sldId id="257" r:id="rId4"/>
    <p:sldId id="258" r:id="rId5"/>
    <p:sldId id="259" r:id="rId6"/>
    <p:sldId id="260" r:id="rId7"/>
    <p:sldId id="261" r:id="rId8"/>
    <p:sldId id="269" r:id="rId9"/>
    <p:sldId id="270" r:id="rId10"/>
    <p:sldId id="271" r:id="rId11"/>
    <p:sldId id="266" r:id="rId12"/>
    <p:sldId id="272" r:id="rId13"/>
    <p:sldId id="273" r:id="rId14"/>
    <p:sldId id="274" r:id="rId15"/>
    <p:sldId id="275" r:id="rId16"/>
    <p:sldId id="276" r:id="rId17"/>
    <p:sldId id="277" r:id="rId18"/>
    <p:sldId id="278" r:id="rId19"/>
    <p:sldId id="264" r:id="rId20"/>
    <p:sldId id="279" r:id="rId21"/>
    <p:sldId id="265" r:id="rId22"/>
    <p:sldId id="267" r:id="rId23"/>
    <p:sldId id="26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9B1"/>
    <a:srgbClr val="E6E6FF"/>
    <a:srgbClr val="1231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05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This is the first TL1 lecture, and it's the most hands-on one you'll get from us — because Git is not something you learn by watching. You learn it by doing it, breaking it, and fixing it. So today you're not going to sit and take notes while I talk about version control. You're going to create a repository, push to it, pull from it, and deliberately crash into a merge conflict and climb back out — all live, on your own machines, following along with us.</a:t>
            </a:r>
          </a:p>
          <a:p>
            <a:endParaRPr/>
          </a:p>
          <a:p>
            <a:r>
              <a:t>By the end of this hour you'll have done every core Git move at least once. That's the goal: not that you've heard of these commands, but that you've run them."</a:t>
            </a:r>
          </a:p>
          <a:p>
            <a:endParaRPr/>
          </a:p>
          <a:p>
            <a:r>
              <a:t>[Then to the introductions slide with the whole TL1 group up 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whole TL1 group up front; each says their name so the class can flag them by name.]</a:t>
            </a:r>
          </a:p>
          <a:p>
            <a:endParaRPr/>
          </a:p>
          <a:p>
            <a:r>
              <a:t>"First, quick introductions — you'll be calling on us by name all hour."</a:t>
            </a:r>
          </a:p>
          <a:p>
            <a:endParaRPr/>
          </a:p>
          <a:p>
            <a:r>
              <a:t>[Each TL1 says name + team.]</a:t>
            </a:r>
          </a:p>
          <a:p>
            <a:endParaRPr/>
          </a:p>
          <a:p>
            <a:r>
              <a:t>"Here's something worth knowing: while one of us presents, the rest are moving around the room to help you get set up. And we are highly motivated to help — each of us needs to log support interactions this semester, and helping you is the easiest way to earn them. So when Git does something confusing — and it will — put your hand up. You're doing us a favor by asking.</a:t>
            </a:r>
          </a:p>
          <a:p>
            <a:endParaRPr/>
          </a:p>
          <a:p>
            <a:r>
              <a:t>One more thing, and this is special to TL1: our job doesn't end when this lecture does. During the TL2 lecture, when your team is pushing features to the repo and something goes wrong with a push or a pull or a merge — any TL1 can come help you, and we earn a support credit for it. Normally only the team that's presenting earns those. TL1 is the exception, precisely because Git problems happen to everyone, all semester. So all semester long: if it's a Git problem, grab a TL1. We're looking for the work."</a:t>
            </a:r>
          </a:p>
          <a:p>
            <a:endParaRPr/>
          </a:p>
          <a:p>
            <a:r>
              <a:t>[This LEC-for-Git-help exception is also stated in the TL2 deck so the class hears it there too.]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plan. First, why the team needs one shared repository at all. Then an important distinction — we actually deal with TWO repositories today, and they have very different rules, so I'll make sure you know which is which.</a:t>
            </a:r>
          </a:p>
          <a:p>
            <a:endParaRPr/>
          </a:p>
          <a:p>
            <a:r>
              <a:t>Then the hands-on core: three follow-alongs. One, we create the platformer repository together, add a .gitignore, and load the starting game. Two — and this is the one everyone remembers — we all edit the same file on purpose and walk through resolving the merge conflicts that causes. Three, you'll prove you can reach the locked main project repo by updating your README.</a:t>
            </a:r>
          </a:p>
          <a:p>
            <a:endParaRPr/>
          </a:p>
          <a:p>
            <a:r>
              <a:t>Then we'll name the everyday loop you'll repeat all semester, cover how you hand work in from now on, and finish with how all of this gets used during the TL2 lecture.</a:t>
            </a:r>
          </a:p>
          <a:p>
            <a:endParaRPr/>
          </a:p>
          <a:p>
            <a:r>
              <a:t>The middle part — the three follow-alongs — is where you'll spend most of the hour, laptops open."]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"Start with the why. Your TL cohort — all of you who share a TL number — are building ONE platformer together. Each of you will add at least one feature, and all those features have to end up in a single game. That's the problem Git solves: it lets several people work on the same project at the same time without silently overwriting each other's work.</a:t>
            </a:r>
          </a:p>
          <a:p>
            <a:endParaRPr/>
          </a:p>
          <a:p>
            <a:r>
              <a:t>Without Git, team coding is emailing zip files around and hoping — someone always ends up pasting their work over someone else's and losing an afternoon. With Git, everyone works from the same source of truth, and the tool keeps track of who changed what.</a:t>
            </a:r>
          </a:p>
          <a:p>
            <a:endParaRPr/>
          </a:p>
          <a:p>
            <a:r>
              <a:t>TL1's job — your job — is to set up that repository and teach the rest of the team the handful of moves they'll use every day. That's what today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7386-B471-93C8-D9E4-BF3FC9248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6422F-FAF1-C365-77C6-015E84A4F1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2B1C9A-F4D0-BD4B-146E-0AA0429E1348}"/>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63E6D4C0-07FF-E7D3-FF27-CE1B28FBA5C0}"/>
              </a:ext>
            </a:extLst>
          </p:cNvPr>
          <p:cNvSpPr>
            <a:spLocks noGrp="1"/>
          </p:cNvSpPr>
          <p:nvPr>
            <p:ph type="sldNum" sz="quarter" idx="5"/>
          </p:nvPr>
        </p:nvSpPr>
        <p:spPr/>
      </p:sp>
    </p:spTree>
    <p:extLst>
      <p:ext uri="{BB962C8B-B14F-4D97-AF65-F5344CB8AC3E}">
        <p14:creationId xmlns:p14="http://schemas.microsoft.com/office/powerpoint/2010/main" val="22080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02FC-7A49-1F6A-90FE-F2012977E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6D93D-D3F6-49CE-E206-1FAA07298F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57F92E-8644-DCAB-03C1-EF4B0FE393BB}"/>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BEABC0A4-1AE6-72AF-45B8-A6BB1F92FF93}"/>
              </a:ext>
            </a:extLst>
          </p:cNvPr>
          <p:cNvSpPr>
            <a:spLocks noGrp="1"/>
          </p:cNvSpPr>
          <p:nvPr>
            <p:ph type="sldNum" sz="quarter" idx="5"/>
          </p:nvPr>
        </p:nvSpPr>
        <p:spPr/>
      </p:sp>
    </p:spTree>
    <p:extLst>
      <p:ext uri="{BB962C8B-B14F-4D97-AF65-F5344CB8AC3E}">
        <p14:creationId xmlns:p14="http://schemas.microsoft.com/office/powerpoint/2010/main" val="97208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8760-0238-FDB5-02E2-552CB3D2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26E2F-F70B-76BA-A003-5235D6025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E02915-A855-D5D8-CCF6-57F87A9E03AA}"/>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E4E36D28-A6D2-B1D4-907A-6735E01FC6CC}"/>
              </a:ext>
            </a:extLst>
          </p:cNvPr>
          <p:cNvSpPr>
            <a:spLocks noGrp="1"/>
          </p:cNvSpPr>
          <p:nvPr>
            <p:ph type="sldNum" sz="quarter" idx="5"/>
          </p:nvPr>
        </p:nvSpPr>
        <p:spPr/>
      </p:sp>
    </p:spTree>
    <p:extLst>
      <p:ext uri="{BB962C8B-B14F-4D97-AF65-F5344CB8AC3E}">
        <p14:creationId xmlns:p14="http://schemas.microsoft.com/office/powerpoint/2010/main" val="94962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 are the actual commands, and this is the exact flow the TL2 lecture will point you to every time you add a feature. There are really only four you use constantly.</a:t>
            </a:r>
          </a:p>
          <a:p>
            <a:endParaRPr/>
          </a:p>
          <a:p>
            <a:r>
              <a:t>git pull to get the latest. Then you do your work and test it. git add to stage your changes. git commit with a clear message to snapshot it. git push to share it with the team.</a:t>
            </a:r>
          </a:p>
          <a:p>
            <a:endParaRPr/>
          </a:p>
          <a:p>
            <a:r>
              <a:t>One thing I want to nag you about: the commit message. Write something real — 'Add enemy,' 'Add coins,' 'Add HUD' — so that when anyone reads the project history it reads like the feature list. '</a:t>
            </a:r>
            <a:r>
              <a:rPr lang="en-US" err="1"/>
              <a:t>asdf</a:t>
            </a:r>
            <a:r>
              <a:t>' or 'stuff' or 'fixed it' tells no one anything, and later this semester your commit history becomes evidence at your oral exam. Make it read like a story of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50BC-9821-A8C0-20BA-0E92907F2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E106-F309-7C0B-768D-89716860E8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9E7B69-30A2-406B-7DE3-D6728CE7BC8F}"/>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a:t>
            </a:r>
            <a:r>
              <a:rPr err="1"/>
              <a:t>gitignore</a:t>
            </a:r>
            <a:r>
              <a:t>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a:t>
            </a:r>
            <a:r>
              <a:rPr err="1"/>
              <a:t>gitignore</a:t>
            </a:r>
            <a:r>
              <a:t>", not "</a:t>
            </a:r>
            <a:r>
              <a:rPr err="1"/>
              <a:t>asdf</a:t>
            </a:r>
            <a:r>
              <a:t>").</a:t>
            </a:r>
          </a:p>
          <a:p>
            <a:endParaRPr/>
          </a:p>
          <a:p>
            <a:r>
              <a:t>IF YOU DON'T ALREADY KNOW HOW:</a:t>
            </a:r>
          </a:p>
          <a:p>
            <a:r>
              <a:t>- Creating a repo + collaborators: GitHub -&gt; New repository; Settings -&gt; Collaborators. Search "GitHub add collaborator to repository".</a:t>
            </a:r>
          </a:p>
          <a:p>
            <a:r>
              <a:t>- .</a:t>
            </a:r>
            <a:r>
              <a:rPr err="1"/>
              <a:t>gitignore</a:t>
            </a:r>
            <a:r>
              <a:t> for Unity: DON'T write one by hand. Use GitHub's template (choose "Unity" when creating the repo) or grab the official one — search "Unity .</a:t>
            </a:r>
            <a:r>
              <a:rPr err="1"/>
              <a:t>gitignore</a:t>
            </a:r>
            <a:r>
              <a:t> </a:t>
            </a:r>
            <a:r>
              <a:rPr err="1"/>
              <a:t>github</a:t>
            </a:r>
            <a:r>
              <a:t>/</a:t>
            </a:r>
            <a:r>
              <a:rPr err="1"/>
              <a:t>gitignore</a:t>
            </a:r>
            <a:r>
              <a:t>". Ask the AI: "What belongs in a Unity .</a:t>
            </a:r>
            <a:r>
              <a:rPr err="1"/>
              <a:t>gitignore</a:t>
            </a:r>
            <a:r>
              <a:t> and why?"</a:t>
            </a:r>
          </a:p>
          <a:p>
            <a:r>
              <a:t>- Clone/add/commit/push: search "git clone add commit push tutorial" or use GitHub Desktop (search "GitHub Desktop clone commit push") if the class prefers a GUI.</a:t>
            </a:r>
          </a:p>
          <a:p>
            <a:r>
              <a:t>- WHY .</a:t>
            </a:r>
            <a:r>
              <a:rPr err="1"/>
              <a:t>gitignore</a:t>
            </a:r>
            <a:r>
              <a:t>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22C8469D-A4C5-CAAC-86F8-B5E8ED2DF32E}"/>
              </a:ext>
            </a:extLst>
          </p:cNvPr>
          <p:cNvSpPr>
            <a:spLocks noGrp="1"/>
          </p:cNvSpPr>
          <p:nvPr>
            <p:ph type="sldNum" sz="quarter" idx="5"/>
          </p:nvPr>
        </p:nvSpPr>
        <p:spPr/>
      </p:sp>
    </p:spTree>
    <p:extLst>
      <p:ext uri="{BB962C8B-B14F-4D97-AF65-F5344CB8AC3E}">
        <p14:creationId xmlns:p14="http://schemas.microsoft.com/office/powerpoint/2010/main" val="1115276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20D0-9E27-3E0B-0478-7A0033A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31D3-C43C-6CB1-3C1A-C6EC45666B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49FD5D-6066-D86E-6C2F-AA8437CF0447}"/>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C4FBD527-1169-EF05-B25C-52A468D4DD3C}"/>
              </a:ext>
            </a:extLst>
          </p:cNvPr>
          <p:cNvSpPr>
            <a:spLocks noGrp="1"/>
          </p:cNvSpPr>
          <p:nvPr>
            <p:ph type="sldNum" sz="quarter" idx="5"/>
          </p:nvPr>
        </p:nvSpPr>
        <p:spPr/>
      </p:sp>
    </p:spTree>
    <p:extLst>
      <p:ext uri="{BB962C8B-B14F-4D97-AF65-F5344CB8AC3E}">
        <p14:creationId xmlns:p14="http://schemas.microsoft.com/office/powerpoint/2010/main" val="39564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0E01-8E14-D0ED-1397-2156072E0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739B-D24D-F57B-D91D-C9A445190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7459BE-EC75-C674-6544-6D4BB9AEE4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DC9C1E62-9FD4-A680-AE3C-B82953CE4006}"/>
              </a:ext>
            </a:extLst>
          </p:cNvPr>
          <p:cNvSpPr>
            <a:spLocks noGrp="1"/>
          </p:cNvSpPr>
          <p:nvPr>
            <p:ph type="sldNum" sz="quarter" idx="5"/>
          </p:nvPr>
        </p:nvSpPr>
        <p:spPr/>
      </p:sp>
    </p:spTree>
    <p:extLst>
      <p:ext uri="{BB962C8B-B14F-4D97-AF65-F5344CB8AC3E}">
        <p14:creationId xmlns:p14="http://schemas.microsoft.com/office/powerpoint/2010/main" val="179663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0E5D-7CAE-E30B-53FD-3EB68F22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189-6CB9-F0ED-9A69-AB7C0026F1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A612428-73B5-E650-802B-73D5FE7B49BD}"/>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4695BA16-2E6C-1A3E-608E-E74001666A93}"/>
              </a:ext>
            </a:extLst>
          </p:cNvPr>
          <p:cNvSpPr>
            <a:spLocks noGrp="1"/>
          </p:cNvSpPr>
          <p:nvPr>
            <p:ph type="sldNum" sz="quarter" idx="5"/>
          </p:nvPr>
        </p:nvSpPr>
        <p:spPr/>
      </p:sp>
    </p:spTree>
    <p:extLst>
      <p:ext uri="{BB962C8B-B14F-4D97-AF65-F5344CB8AC3E}">
        <p14:creationId xmlns:p14="http://schemas.microsoft.com/office/powerpoint/2010/main" val="1083836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7A46-4ABF-7E4A-A4EA-3B475D38B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72B6-D69E-246B-6327-84E9816BB7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C8C5EF-C436-631F-307A-8061A0C4FA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FFE5CFA0-BC82-8B75-163D-B0DF8B8984DC}"/>
              </a:ext>
            </a:extLst>
          </p:cNvPr>
          <p:cNvSpPr>
            <a:spLocks noGrp="1"/>
          </p:cNvSpPr>
          <p:nvPr>
            <p:ph type="sldNum" sz="quarter" idx="5"/>
          </p:nvPr>
        </p:nvSpPr>
        <p:spPr/>
      </p:sp>
    </p:spTree>
    <p:extLst>
      <p:ext uri="{BB962C8B-B14F-4D97-AF65-F5344CB8AC3E}">
        <p14:creationId xmlns:p14="http://schemas.microsoft.com/office/powerpoint/2010/main" val="268647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one everyone remembers. Run it SEQUENTIALLY so each student genuinely hits and resolves a conflict. In the PLATFORMER repo, on a shared file TEAM.md. CODEOWNERS does not apply here.]</a:t>
            </a:r>
          </a:p>
          <a:p>
            <a:endParaRPr/>
          </a:p>
          <a:p>
            <a:r>
              <a:t>YOU MUST ACCOMPLISH:</a:t>
            </a:r>
          </a:p>
          <a:p>
            <a:r>
              <a:t>- Every student edits the SAME file, TEAM.md, on the same line(s) — e.g. each adds their own name/row.</a:t>
            </a:r>
          </a:p>
          <a:p>
            <a:r>
              <a:t>- Done ONE AT A TIME: first person pushes and succeeds; each next person's push is rejected, they pull, get a real conflict, resolve it, and push. So EVERY student after the first personally resolves a conflict.</a:t>
            </a:r>
          </a:p>
          <a:p>
            <a:r>
              <a:t>- Each student can identify the conflict markers (&lt;&lt;&lt;&lt;&lt;&lt;&lt;, =======, &gt;&gt;&gt;&gt;&gt;&gt;&gt;), edit the file to the correct combined result, remove the markers, then add/commit/push.</a:t>
            </a:r>
          </a:p>
          <a:p>
            <a:r>
              <a:t>- End state: TEAM.md contains everyone's line, cleanly merged, and main is not broken.</a:t>
            </a:r>
          </a:p>
          <a:p>
            <a:endParaRPr/>
          </a:p>
          <a:p>
            <a:r>
              <a:t>IF YOU DON'T ALREADY KNOW HOW:</a:t>
            </a:r>
          </a:p>
          <a:p>
            <a:r>
              <a:t>- Search "git merge conflict resolve tutorial" and "what do &lt;&lt;&lt;&lt;&lt;&lt;&lt; ======= &gt;&gt;&gt;&gt;&gt;&gt;&gt; mean in git". Ask the AI: "Walk me through resolving a git merge conflict in a text file, step by step."</a:t>
            </a:r>
          </a:p>
          <a:p>
            <a:r>
              <a:t>- The mental model to teach: a conflict means two people changed the same lines; Git can't choose, so it shows you BOTH and asks you to produce the final version. You edit the file to what it SHOULD be, delete the markers, then add/commit.</a:t>
            </a:r>
          </a:p>
          <a:p>
            <a:r>
              <a:t>- GUI option: GitHub Desktop and VS Code both have visual conflict resolvers — search "VS Code resolve merge conflict".</a:t>
            </a:r>
          </a:p>
          <a:p>
            <a:endParaRPr/>
          </a:p>
          <a:p>
            <a:r>
              <a:t>TEACHING NOTE: conflicts here are GOOD — you WANT them to happen so students see they're routine and fixable, not scary. Say that out loud.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F865-EFE2-2590-421B-A0D34D5BE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F0E56-9245-B594-B584-0BD89A221F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DEA02-B19F-CC4A-3B66-88DDACC5459D}"/>
              </a:ext>
            </a:extLst>
          </p:cNvPr>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a:extLst>
              <a:ext uri="{FF2B5EF4-FFF2-40B4-BE49-F238E27FC236}">
                <a16:creationId xmlns:a16="http://schemas.microsoft.com/office/drawing/2014/main" id="{6B275E96-5132-1DB4-B75C-EDDD1F4C792B}"/>
              </a:ext>
            </a:extLst>
          </p:cNvPr>
          <p:cNvSpPr>
            <a:spLocks noGrp="1"/>
          </p:cNvSpPr>
          <p:nvPr>
            <p:ph type="sldNum" sz="quarter" idx="5"/>
          </p:nvPr>
        </p:nvSpPr>
        <p:spPr/>
      </p:sp>
    </p:spTree>
    <p:extLst>
      <p:ext uri="{BB962C8B-B14F-4D97-AF65-F5344CB8AC3E}">
        <p14:creationId xmlns:p14="http://schemas.microsoft.com/office/powerpoint/2010/main" val="218887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reframe as "the loop you just practiced," since they've now done it in FA1/FA2.]</a:t>
            </a:r>
          </a:p>
          <a:p>
            <a:endParaRPr/>
          </a:p>
          <a:p>
            <a:r>
              <a:t>"Everything you just did collapses into one small loop that you'll repeat all semester, for every feature you ever add. Four beats.</a:t>
            </a:r>
          </a:p>
          <a:p>
            <a:endParaRPr/>
          </a:p>
          <a:p>
            <a:r>
              <a:t>Pull first — always start on the latest team version, so you're building on what everyone else has already done. Build your feature and TEST it — never push something you haven't run. Then stage, commit, and push to share it. And if a teammate pushed while you were working, you pull again, resolve anything like we just practiced, and push.</a:t>
            </a:r>
          </a:p>
          <a:p>
            <a:endParaRPr/>
          </a:p>
          <a:p>
            <a:r>
              <a:t>That's it. Pull, build-and-test, commit-and-push, pull-again-if-needed. You already did every piece of this in the last twenty minutes — now it just becomes routine. The single most common mistake is forgetting to pull FIRST, so you build on a stale version and create a conflict you didn't need. Pull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 short, firm rule. This is the version-control lecture, so it's the canonical statement; TL2 restates it.]</a:t>
            </a:r>
          </a:p>
          <a:p>
            <a:endParaRPr/>
          </a:p>
          <a:p>
            <a:r>
              <a:t>"A rule that starts now and holds for the rest of the course: everything you hand in is a LINK to a Git repository. Not a zip file, not an upload, not a file emailed to me — a repo link.</a:t>
            </a:r>
          </a:p>
          <a:p>
            <a:endParaRPr/>
          </a:p>
          <a:p>
            <a:r>
              <a:t>Why? Because the repo carries more than the code. It carries the history — who committed what, and when. When you hand in a link, you're handing in the story of how the work got done, not just the final artifact. That history is part of what's being assessed, and later it's your evidence at the oral exam.</a:t>
            </a:r>
          </a:p>
          <a:p>
            <a:endParaRPr/>
          </a:p>
          <a:p>
            <a:r>
              <a:t>So from today: if you're handing in code, you're handing in a repo link. Get comfortable with that now."]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closes the lecture; connects today's skills to where they get used.]</a:t>
            </a:r>
          </a:p>
          <a:p>
            <a:endParaRPr/>
          </a:p>
          <a:p>
            <a:r>
              <a:t>"Last thing — where all of this actually gets used. During the TL2 lecture, the TL2s walk everyone through building each feature of the platformer: enemies, coins, power-ups, animation, HUD, sound. And at each feature, here's the cadence:</a:t>
            </a:r>
          </a:p>
          <a:p>
            <a:endParaRPr/>
          </a:p>
          <a:p>
            <a:r>
              <a:t>The TL2 shows how to build the feature. Then each team picks whose version they want to use, and that person PUSHES it. Everyone else PULLS. And we make sure that over the course of the lecture, every single person gets at least one push in — because everyone needs to have actually done it.</a:t>
            </a:r>
          </a:p>
          <a:p>
            <a:endParaRPr/>
          </a:p>
          <a:p>
            <a:r>
              <a:t>And this is where TL1 comes back in. When a team is trying to push their chosen feature and Git fights them — a conflict, a rejected push, an auth problem — a TL1 comes over and helps, and earns a support credit for it. So during TL2, watch for us: we're circulating, and we WANT the Git questions.</a:t>
            </a:r>
          </a:p>
          <a:p>
            <a:endParaRPr/>
          </a:p>
          <a:p>
            <a:r>
              <a:t>By the end, the cohort's platformer is a genuine merge of everyone's work, with a clean history that proves who did what. Everything you practiced today is what makes that possible."]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289B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8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289B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7432766"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Logo">
            <a:extLst>
              <a:ext uri="{FF2B5EF4-FFF2-40B4-BE49-F238E27FC236}">
                <a16:creationId xmlns:a16="http://schemas.microsoft.com/office/drawing/2014/main" id="{534AFCE8-7EAA-7C59-2CFC-5196C72185DC}"/>
              </a:ext>
            </a:extLst>
          </p:cNvPr>
          <p:cNvPicPr>
            <a:picLocks noChangeAspect="1"/>
          </p:cNvPicPr>
          <p:nvPr userDrawn="1"/>
        </p:nvPicPr>
        <p:blipFill>
          <a:blip r:embed="rId14"/>
          <a:stretch>
            <a:fillRect/>
          </a:stretch>
        </p:blipFill>
        <p:spPr>
          <a:xfrm>
            <a:off x="8037305" y="274638"/>
            <a:ext cx="650901" cy="914400"/>
          </a:xfrm>
          <a:prstGeom prst="rect">
            <a:avLst/>
          </a:prstGeom>
        </p:spPr>
      </p:pic>
      <p:sp>
        <p:nvSpPr>
          <p:cNvPr id="10" name="FooterName">
            <a:extLst>
              <a:ext uri="{FF2B5EF4-FFF2-40B4-BE49-F238E27FC236}">
                <a16:creationId xmlns:a16="http://schemas.microsoft.com/office/drawing/2014/main" id="{24781F91-662D-C6A3-93B8-C1A2F34F7210}"/>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 Presenter Name</a:t>
            </a:r>
          </a:p>
        </p:txBody>
      </p:sp>
      <p:sp>
        <p:nvSpPr>
          <p:cNvPr id="12" name="FooterPage">
            <a:extLst>
              <a:ext uri="{FF2B5EF4-FFF2-40B4-BE49-F238E27FC236}">
                <a16:creationId xmlns:a16="http://schemas.microsoft.com/office/drawing/2014/main" id="{32A76B9A-A86E-3919-6979-D949B92C22D8}"/>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4" name="FooterName2">
            <a:extLst>
              <a:ext uri="{FF2B5EF4-FFF2-40B4-BE49-F238E27FC236}">
                <a16:creationId xmlns:a16="http://schemas.microsoft.com/office/drawing/2014/main" id="{28B9F554-8954-58FD-E804-A19DB5767DC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6" name="Rectangle 15">
            <a:extLst>
              <a:ext uri="{FF2B5EF4-FFF2-40B4-BE49-F238E27FC236}">
                <a16:creationId xmlns:a16="http://schemas.microsoft.com/office/drawing/2014/main" id="{8704DF81-F8BF-A691-B42B-B4E51C7C80A4}"/>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55000" lnSpcReduction="20000"/>
          </a:bodyPr>
          <a:lstStyle/>
          <a:p>
            <a:r>
              <a:t>TL1 L1 — Git for the Team Platformer. Blank Office Theme master (BC adds formatting/logo). Tutorial-heavy: 3 live follow-</a:t>
            </a:r>
            <a:r>
              <a:rPr err="1"/>
              <a:t>alongs</a:t>
            </a:r>
            <a:r>
              <a:t>.</a:t>
            </a:r>
          </a:p>
          <a:p>
            <a:r>
              <a:t>PRE-LECTURE (TL1): create the MAIN PROJECT repo with a blank README in each teammate's directory (locked; no code until System's Analysis). Team + all-TL Discords were set up at the Meet &amp; Greet.</a:t>
            </a:r>
          </a:p>
          <a:p>
            <a:r>
              <a:t>ORDER: Title · Intros(+LEC-for-Git note) · TOC · Why one repo · TWO REPOS TWO JOBS · FA1 </a:t>
            </a:r>
            <a:r>
              <a:rPr err="1"/>
              <a:t>create+gitignore+base</a:t>
            </a:r>
            <a:r>
              <a:t> · FA2 conflict drill (TEAM.md) · FA3 README in locked repo · everyday loop · commands · What to hand in · How it runs in TL2 L2 (+TL1 earns LEC).</a:t>
            </a:r>
          </a:p>
          <a:p>
            <a:r>
              <a:t>TWO REPOS: PLATFORMER repo = live work, conflicts welcome, CODEOWNERS does NOT apply. MAIN PROJECT repo = locked, README-only proof of access.</a:t>
            </a:r>
          </a:p>
          <a:p>
            <a:r>
              <a:t>IN L2, NOT HERE: CODEOWNERS, directory-audit, commit-as-alibi, recovery (revert/reset/</a:t>
            </a:r>
            <a:r>
              <a:rPr err="1"/>
              <a:t>reflog</a:t>
            </a:r>
            <a:r>
              <a:t>), CI/CD. L1 only forward-points to these.</a:t>
            </a:r>
          </a:p>
          <a:p>
            <a:r>
              <a:t>NOTE MODES: word-for-word spoken on non-tutorial slides; 'YOU MUST ACCOMPLISH / IF YOU DON'T KNOW HOW' brief on the 3 follow-along slides. Follow-along slides show key commands as a reference (slide not projected during the live demo).</a:t>
            </a:r>
          </a:p>
        </p:txBody>
      </p:sp>
      <p:sp>
        <p:nvSpPr>
          <p:cNvPr id="4" name="TextBox 3">
            <a:extLst>
              <a:ext uri="{FF2B5EF4-FFF2-40B4-BE49-F238E27FC236}">
                <a16:creationId xmlns:a16="http://schemas.microsoft.com/office/drawing/2014/main" id="{956C929B-86C9-E96C-E78C-998ABB4D0801}"/>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724556-9F57-4831-AE33-80081BC13ECB}"/>
              </a:ext>
            </a:extLst>
          </p:cNvPr>
          <p:cNvSpPr>
            <a:spLocks noGrp="1"/>
          </p:cNvSpPr>
          <p:nvPr>
            <p:ph type="title"/>
          </p:nvPr>
        </p:nvSpPr>
        <p:spPr/>
        <p:txBody>
          <a:bodyPr/>
          <a:lstStyle/>
          <a:p>
            <a:r>
              <a:rPr lang="en-US"/>
              <a:t>Sit with your TL# group</a:t>
            </a:r>
          </a:p>
        </p:txBody>
      </p:sp>
      <p:sp>
        <p:nvSpPr>
          <p:cNvPr id="5" name="Rectangle 4">
            <a:extLst>
              <a:ext uri="{FF2B5EF4-FFF2-40B4-BE49-F238E27FC236}">
                <a16:creationId xmlns:a16="http://schemas.microsoft.com/office/drawing/2014/main" id="{99E574F9-0B72-487A-AC62-E93F72F729BB}"/>
              </a:ext>
            </a:extLst>
          </p:cNvPr>
          <p:cNvSpPr/>
          <p:nvPr/>
        </p:nvSpPr>
        <p:spPr>
          <a:xfrm>
            <a:off x="680280" y="2497720"/>
            <a:ext cx="1778001" cy="10985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TL3s </a:t>
            </a:r>
          </a:p>
          <a:p>
            <a:pPr algn="l" fontAlgn="base"/>
            <a:r>
              <a:rPr lang="en-US" sz="2400">
                <a:latin typeface="inherit"/>
              </a:rPr>
              <a:t>+ KC (a TL5)</a:t>
            </a:r>
          </a:p>
        </p:txBody>
      </p:sp>
      <p:sp>
        <p:nvSpPr>
          <p:cNvPr id="6" name="Rectangle 5">
            <a:extLst>
              <a:ext uri="{FF2B5EF4-FFF2-40B4-BE49-F238E27FC236}">
                <a16:creationId xmlns:a16="http://schemas.microsoft.com/office/drawing/2014/main" id="{184AE95F-4160-4944-A719-0E99FC3EDDE7}"/>
              </a:ext>
            </a:extLst>
          </p:cNvPr>
          <p:cNvSpPr/>
          <p:nvPr/>
        </p:nvSpPr>
        <p:spPr>
          <a:xfrm>
            <a:off x="3001284" y="4580478"/>
            <a:ext cx="2645312" cy="13190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The remaining TL5s and TL6s</a:t>
            </a:r>
          </a:p>
        </p:txBody>
      </p:sp>
      <p:sp>
        <p:nvSpPr>
          <p:cNvPr id="7" name="Rectangle 6">
            <a:extLst>
              <a:ext uri="{FF2B5EF4-FFF2-40B4-BE49-F238E27FC236}">
                <a16:creationId xmlns:a16="http://schemas.microsoft.com/office/drawing/2014/main" id="{D66B3CF8-354B-402F-BDD9-62005B47D0F6}"/>
              </a:ext>
            </a:extLst>
          </p:cNvPr>
          <p:cNvSpPr/>
          <p:nvPr/>
        </p:nvSpPr>
        <p:spPr>
          <a:xfrm>
            <a:off x="6312474" y="2533653"/>
            <a:ext cx="2159001" cy="10286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TL4s </a:t>
            </a:r>
          </a:p>
          <a:p>
            <a:pPr algn="l" fontAlgn="base"/>
            <a:r>
              <a:rPr lang="en-US" sz="2400">
                <a:latin typeface="inherit"/>
              </a:rPr>
              <a:t>+ </a:t>
            </a:r>
            <a:r>
              <a:rPr lang="en-US" sz="2400" err="1">
                <a:latin typeface="inherit"/>
              </a:rPr>
              <a:t>Rinab</a:t>
            </a:r>
            <a:r>
              <a:rPr lang="en-US" sz="2400">
                <a:latin typeface="inherit"/>
              </a:rPr>
              <a:t> ( a TL6)</a:t>
            </a:r>
          </a:p>
        </p:txBody>
      </p:sp>
      <p:sp>
        <p:nvSpPr>
          <p:cNvPr id="8" name="Rectangle 7">
            <a:extLst>
              <a:ext uri="{FF2B5EF4-FFF2-40B4-BE49-F238E27FC236}">
                <a16:creationId xmlns:a16="http://schemas.microsoft.com/office/drawing/2014/main" id="{48A9D0ED-0211-43F6-95FB-2C60A2047633}"/>
              </a:ext>
            </a:extLst>
          </p:cNvPr>
          <p:cNvSpPr/>
          <p:nvPr/>
        </p:nvSpPr>
        <p:spPr>
          <a:xfrm>
            <a:off x="3866740" y="3021670"/>
            <a:ext cx="914400" cy="819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TL1s</a:t>
            </a:r>
          </a:p>
        </p:txBody>
      </p:sp>
      <p:sp>
        <p:nvSpPr>
          <p:cNvPr id="2" name="Rectangle 1">
            <a:extLst>
              <a:ext uri="{FF2B5EF4-FFF2-40B4-BE49-F238E27FC236}">
                <a16:creationId xmlns:a16="http://schemas.microsoft.com/office/drawing/2014/main" id="{604948A4-E99E-F5D9-8E5C-ED8B75518D00}"/>
              </a:ext>
            </a:extLst>
          </p:cNvPr>
          <p:cNvSpPr/>
          <p:nvPr/>
        </p:nvSpPr>
        <p:spPr>
          <a:xfrm>
            <a:off x="187371" y="1416848"/>
            <a:ext cx="8765687" cy="4336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i="1"/>
              <a:t>Front Of Room</a:t>
            </a:r>
          </a:p>
        </p:txBody>
      </p:sp>
    </p:spTree>
    <p:extLst>
      <p:ext uri="{BB962C8B-B14F-4D97-AF65-F5344CB8AC3E}">
        <p14:creationId xmlns:p14="http://schemas.microsoft.com/office/powerpoint/2010/main" val="1713719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4638"/>
            <a:ext cx="7432766" cy="1143000"/>
          </a:xfrm>
        </p:spPr>
        <p:txBody>
          <a:bodyPr anchor="ctr">
            <a:normAutofit/>
          </a:bodyPr>
          <a:lstStyle/>
          <a:p>
            <a:r>
              <a:t>Git for the Team Platformer</a:t>
            </a:r>
          </a:p>
        </p:txBody>
      </p:sp>
      <p:pic>
        <p:nvPicPr>
          <p:cNvPr id="12" name="Picture 11">
            <a:extLst>
              <a:ext uri="{FF2B5EF4-FFF2-40B4-BE49-F238E27FC236}">
                <a16:creationId xmlns:a16="http://schemas.microsoft.com/office/drawing/2014/main" id="{3A169DE6-3667-1516-C10F-59AF66310799}"/>
              </a:ext>
            </a:extLst>
          </p:cNvPr>
          <p:cNvPicPr>
            <a:picLocks noChangeAspect="1"/>
          </p:cNvPicPr>
          <p:nvPr/>
        </p:nvPicPr>
        <p:blipFill>
          <a:blip r:embed="rId3"/>
          <a:stretch>
            <a:fillRect/>
          </a:stretch>
        </p:blipFill>
        <p:spPr>
          <a:xfrm>
            <a:off x="457200" y="1843881"/>
            <a:ext cx="4038600" cy="4038600"/>
          </a:xfrm>
          <a:prstGeom prst="rect">
            <a:avLst/>
          </a:prstGeom>
          <a:noFill/>
        </p:spPr>
      </p:pic>
      <p:sp>
        <p:nvSpPr>
          <p:cNvPr id="3" name="Subtitle 2"/>
          <p:cNvSpPr>
            <a:spLocks noGrp="1"/>
          </p:cNvSpPr>
          <p:nvPr>
            <p:ph sz="half" idx="2"/>
          </p:nvPr>
        </p:nvSpPr>
        <p:spPr>
          <a:xfrm>
            <a:off x="4648200" y="1600200"/>
            <a:ext cx="4038600" cy="4525963"/>
          </a:xfrm>
        </p:spPr>
        <p:txBody>
          <a:bodyPr>
            <a:normAutofit/>
          </a:bodyPr>
          <a:lstStyle/>
          <a:p>
            <a:pPr marL="0" indent="0">
              <a:buNone/>
            </a:pPr>
            <a:r>
              <a:rPr lang="en-US" sz="3600"/>
              <a:t>· </a:t>
            </a:r>
            <a:r>
              <a:rPr sz="3600"/>
              <a:t>TL1 — Lecture 1 · </a:t>
            </a:r>
            <a:endParaRPr lang="en-US" sz="3600"/>
          </a:p>
          <a:p>
            <a:pPr marL="0" indent="0">
              <a:buNone/>
            </a:pPr>
            <a:r>
              <a:t>Create the repo</a:t>
            </a:r>
            <a:r>
              <a:rPr lang="en-US"/>
              <a:t>.</a:t>
            </a:r>
          </a:p>
          <a:p>
            <a:pPr marL="0" indent="0">
              <a:buNone/>
            </a:pPr>
            <a:r>
              <a:rPr lang="en-US"/>
              <a:t>L</a:t>
            </a:r>
            <a:r>
              <a:t>oad the base</a:t>
            </a:r>
            <a:r>
              <a:rPr lang="en-US"/>
              <a:t>.</a:t>
            </a:r>
          </a:p>
          <a:p>
            <a:pPr marL="0" indent="0">
              <a:buNone/>
            </a:pPr>
            <a:r>
              <a:rPr lang="en-US"/>
              <a:t>C</a:t>
            </a:r>
            <a:r>
              <a:t>ommit your features</a:t>
            </a:r>
            <a:r>
              <a:rPr lang="en-US"/>
              <a:t>.</a:t>
            </a:r>
            <a:endParaRPr/>
          </a:p>
        </p:txBody>
      </p:sp>
      <p:sp>
        <p:nvSpPr>
          <p:cNvPr id="14" name="TextBox 13">
            <a:extLst>
              <a:ext uri="{FF2B5EF4-FFF2-40B4-BE49-F238E27FC236}">
                <a16:creationId xmlns:a16="http://schemas.microsoft.com/office/drawing/2014/main" id="{BDB64A62-E29D-9AD6-3A11-DDE4D9B8E151}"/>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TL1 Team</a:t>
            </a:r>
          </a:p>
        </p:txBody>
      </p:sp>
      <p:sp>
        <p:nvSpPr>
          <p:cNvPr id="3" name="Content Placeholder 2"/>
          <p:cNvSpPr>
            <a:spLocks noGrp="1"/>
          </p:cNvSpPr>
          <p:nvPr>
            <p:ph idx="1"/>
          </p:nvPr>
        </p:nvSpPr>
        <p:spPr/>
        <p:txBody>
          <a:bodyPr>
            <a:normAutofit lnSpcReduction="10000"/>
          </a:bodyPr>
          <a:lstStyle/>
          <a:p>
            <a:r>
              <a:t>We are your TL1 group — everyone across the class who shares TL number 1.</a:t>
            </a:r>
          </a:p>
          <a:p>
            <a:r>
              <a:t>Each of us will introduce ourselves by name.</a:t>
            </a:r>
          </a:p>
          <a:p>
            <a:r>
              <a:t>While one of us presents, the rest are circulating to help you set up Git.</a:t>
            </a:r>
          </a:p>
          <a:p>
            <a:r>
              <a:t>Special: during the TL2 lecture, a TL1 can earn a support credit (LEC) for helping ANY team with a Git push / pull / merge problem — so flag us down all semester.</a:t>
            </a:r>
          </a:p>
        </p:txBody>
      </p:sp>
      <p:sp>
        <p:nvSpPr>
          <p:cNvPr id="4" name="TextBox 3">
            <a:extLst>
              <a:ext uri="{FF2B5EF4-FFF2-40B4-BE49-F238E27FC236}">
                <a16:creationId xmlns:a16="http://schemas.microsoft.com/office/drawing/2014/main" id="{7D55F5FB-BDF0-3964-45FF-8EB77DFF26B7}"/>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Do Today</a:t>
            </a:r>
          </a:p>
        </p:txBody>
      </p:sp>
      <p:sp>
        <p:nvSpPr>
          <p:cNvPr id="3" name="Content Placeholder 2"/>
          <p:cNvSpPr>
            <a:spLocks noGrp="1"/>
          </p:cNvSpPr>
          <p:nvPr>
            <p:ph idx="1"/>
          </p:nvPr>
        </p:nvSpPr>
        <p:spPr/>
        <p:txBody>
          <a:bodyPr>
            <a:normAutofit fontScale="92500" lnSpcReduction="20000"/>
          </a:bodyPr>
          <a:lstStyle/>
          <a:p>
            <a:r>
              <a:t>1  Why the team needs one shared repository</a:t>
            </a:r>
          </a:p>
          <a:p>
            <a:r>
              <a:t>2  Two repos, two very different jobs</a:t>
            </a:r>
          </a:p>
          <a:p>
            <a:r>
              <a:t>3  Follow Along 1: create the platformer repo (+ .</a:t>
            </a:r>
            <a:r>
              <a:rPr err="1"/>
              <a:t>gitignore</a:t>
            </a:r>
            <a:r>
              <a:t>) and load the base game</a:t>
            </a:r>
          </a:p>
          <a:p>
            <a:r>
              <a:t>4  Follow Along 2: cause and resolve merge conflicts (TEAM.md)</a:t>
            </a:r>
          </a:p>
          <a:p>
            <a:r>
              <a:t>5  Follow Along 3: prove you can reach the locked project repo</a:t>
            </a:r>
          </a:p>
          <a:p>
            <a:r>
              <a:t>6  The everyday loop, what to hand in, and how this runs during TL2</a:t>
            </a:r>
          </a:p>
        </p:txBody>
      </p:sp>
      <p:sp>
        <p:nvSpPr>
          <p:cNvPr id="4" name="TextBox 3">
            <a:extLst>
              <a:ext uri="{FF2B5EF4-FFF2-40B4-BE49-F238E27FC236}">
                <a16:creationId xmlns:a16="http://schemas.microsoft.com/office/drawing/2014/main" id="{68D76FC4-A387-12B2-A548-3E07A9D18A6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One Shared Repo</a:t>
            </a:r>
          </a:p>
        </p:txBody>
      </p:sp>
      <p:sp>
        <p:nvSpPr>
          <p:cNvPr id="3" name="Content Placeholder 2"/>
          <p:cNvSpPr>
            <a:spLocks noGrp="1"/>
          </p:cNvSpPr>
          <p:nvPr>
            <p:ph idx="1"/>
          </p:nvPr>
        </p:nvSpPr>
        <p:spPr/>
        <p:txBody>
          <a:bodyPr/>
          <a:lstStyle/>
          <a:p>
            <a:r>
              <a:t>Your TL cohort is building ONE platformer together.</a:t>
            </a:r>
          </a:p>
          <a:p>
            <a:r>
              <a:t>Everyone adds at least one feature — and those features must merge into a single game.</a:t>
            </a:r>
          </a:p>
          <a:p>
            <a:r>
              <a:t>Git lets several people contribute at once without overwriting each other's work.</a:t>
            </a:r>
          </a:p>
          <a:p>
            <a:r>
              <a:t>TL1's job: set up the repo and teach the flow the rest of the team will use.</a:t>
            </a:r>
          </a:p>
        </p:txBody>
      </p:sp>
      <p:sp>
        <p:nvSpPr>
          <p:cNvPr id="4" name="TextBox 3">
            <a:extLst>
              <a:ext uri="{FF2B5EF4-FFF2-40B4-BE49-F238E27FC236}">
                <a16:creationId xmlns:a16="http://schemas.microsoft.com/office/drawing/2014/main" id="{D874816A-4A80-1739-3717-90E7CE3C26B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Repos, Two Jobs</a:t>
            </a:r>
          </a:p>
        </p:txBody>
      </p:sp>
      <p:sp>
        <p:nvSpPr>
          <p:cNvPr id="3" name="Content Placeholder 2"/>
          <p:cNvSpPr>
            <a:spLocks noGrp="1"/>
          </p:cNvSpPr>
          <p:nvPr>
            <p:ph idx="1"/>
          </p:nvPr>
        </p:nvSpPr>
        <p:spPr/>
        <p:txBody>
          <a:bodyPr>
            <a:normAutofit fontScale="85000" lnSpcReduction="10000"/>
          </a:bodyPr>
          <a:lstStyle/>
          <a:p>
            <a:r>
              <a:t>PLATFORMER repo — our live workspace. Push, pull, and (on purpose today) hit merge conflicts. The one-directory ownership rule does NOT apply here.</a:t>
            </a:r>
          </a:p>
          <a:p>
            <a:r>
              <a:t>MAIN PROJECT repo — your real project. Already set up, and LOCKED: no project code until the System's Analysis passes.</a:t>
            </a:r>
          </a:p>
          <a:p>
            <a:r>
              <a:t>Today you touch the main repo for ONE thing: update your own README, to prove you can reach it.</a:t>
            </a:r>
          </a:p>
          <a:p>
            <a:r>
              <a:t>All hands-on practice happens in the PLATFORMER repo. Don't run the drills on the locked repo.</a:t>
            </a:r>
          </a:p>
        </p:txBody>
      </p:sp>
      <p:sp>
        <p:nvSpPr>
          <p:cNvPr id="4" name="TextBox 3">
            <a:extLst>
              <a:ext uri="{FF2B5EF4-FFF2-40B4-BE49-F238E27FC236}">
                <a16:creationId xmlns:a16="http://schemas.microsoft.com/office/drawing/2014/main" id="{FF78575C-A48D-3D92-1B4B-BAD095B3A0BD}"/>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BE4-FCCD-EF45-547C-87AE3F100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9C9BC-68D2-51BF-4EFA-7EF80CEAA3DD}"/>
              </a:ext>
            </a:extLst>
          </p:cNvPr>
          <p:cNvSpPr>
            <a:spLocks noGrp="1"/>
          </p:cNvSpPr>
          <p:nvPr>
            <p:ph type="title"/>
          </p:nvPr>
        </p:nvSpPr>
        <p:spPr/>
        <p:txBody>
          <a:bodyPr/>
          <a:lstStyle/>
          <a:p>
            <a:r>
              <a:rPr lang="en-US"/>
              <a:t>Recap: What is GIT?</a:t>
            </a:r>
          </a:p>
        </p:txBody>
      </p:sp>
      <p:sp>
        <p:nvSpPr>
          <p:cNvPr id="3" name="Content Placeholder 2">
            <a:extLst>
              <a:ext uri="{FF2B5EF4-FFF2-40B4-BE49-F238E27FC236}">
                <a16:creationId xmlns:a16="http://schemas.microsoft.com/office/drawing/2014/main" id="{5D997EAF-683B-C0C2-DD2A-82EC1635AA77}"/>
              </a:ext>
            </a:extLst>
          </p:cNvPr>
          <p:cNvSpPr>
            <a:spLocks noGrp="1"/>
          </p:cNvSpPr>
          <p:nvPr>
            <p:ph idx="1"/>
          </p:nvPr>
        </p:nvSpPr>
        <p:spPr/>
        <p:txBody>
          <a:bodyPr vert="horz" lIns="91440" tIns="45720" rIns="91440" bIns="45720" rtlCol="0" anchor="t">
            <a:normAutofit/>
          </a:bodyPr>
          <a:lstStyle/>
          <a:p>
            <a:r>
              <a:rPr lang="en-US">
                <a:ea typeface="Calibri"/>
                <a:cs typeface="Calibri"/>
              </a:rPr>
              <a:t>Version control for your repository</a:t>
            </a:r>
          </a:p>
          <a:p>
            <a:r>
              <a:rPr lang="en-US">
                <a:ea typeface="Calibri"/>
                <a:cs typeface="Calibri"/>
              </a:rPr>
              <a:t>Track changes in source code and files over time</a:t>
            </a:r>
          </a:p>
          <a:p>
            <a:r>
              <a:rPr lang="en-US">
                <a:ea typeface="Calibri"/>
                <a:cs typeface="Calibri"/>
              </a:rPr>
              <a:t>Allows for multiple developers to work on the same project, without overwriting each other's work</a:t>
            </a:r>
          </a:p>
          <a:p>
            <a:endParaRPr lang="en-US">
              <a:ea typeface="Calibri"/>
              <a:cs typeface="Calibri"/>
            </a:endParaRPr>
          </a:p>
        </p:txBody>
      </p:sp>
      <p:sp>
        <p:nvSpPr>
          <p:cNvPr id="4" name="TextBox 3">
            <a:extLst>
              <a:ext uri="{FF2B5EF4-FFF2-40B4-BE49-F238E27FC236}">
                <a16:creationId xmlns:a16="http://schemas.microsoft.com/office/drawing/2014/main" id="{C92DBF71-87A8-63A8-3415-55427BE05C2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extLst>
      <p:ext uri="{BB962C8B-B14F-4D97-AF65-F5344CB8AC3E}">
        <p14:creationId xmlns:p14="http://schemas.microsoft.com/office/powerpoint/2010/main" val="3070233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737-1356-411B-CF14-F0ED0556B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61FE9-C431-3049-3D12-E234E5404A9E}"/>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AE6371CF-476B-1EFC-60EA-D20EE7157DBD}"/>
              </a:ext>
            </a:extLst>
          </p:cNvPr>
          <p:cNvSpPr>
            <a:spLocks noGrp="1"/>
          </p:cNvSpPr>
          <p:nvPr>
            <p:ph idx="1"/>
          </p:nvPr>
        </p:nvSpPr>
        <p:spPr/>
        <p:txBody>
          <a:bodyPr vert="horz" lIns="91440" tIns="45720" rIns="91440" bIns="45720" rtlCol="0" anchor="t">
            <a:normAutofit/>
          </a:bodyPr>
          <a:lstStyle/>
          <a:p>
            <a:r>
              <a:rPr lang="en-US">
                <a:ea typeface="Calibri"/>
                <a:cs typeface="Calibri"/>
              </a:rPr>
              <a:t>git clone: Copy a remote repository to your local machine.</a:t>
            </a:r>
            <a:endParaRPr lang="en-US"/>
          </a:p>
          <a:p>
            <a:r>
              <a:rPr lang="en-US">
                <a:ea typeface="Calibri"/>
                <a:cs typeface="Calibri"/>
              </a:rPr>
              <a:t>git add: Stage selected changes in you working tree. Will be included in your next commit.</a:t>
            </a:r>
          </a:p>
          <a:p>
            <a:r>
              <a:rPr lang="en-US">
                <a:ea typeface="Calibri"/>
                <a:cs typeface="Calibri"/>
              </a:rPr>
              <a:t>git commit: Save a snapshot of the staged changes with a message.</a:t>
            </a:r>
          </a:p>
          <a:p>
            <a:endParaRPr lang="en-US">
              <a:ea typeface="Calibri"/>
              <a:cs typeface="Calibri"/>
            </a:endParaRPr>
          </a:p>
        </p:txBody>
      </p:sp>
      <p:sp>
        <p:nvSpPr>
          <p:cNvPr id="4" name="TextBox 3">
            <a:extLst>
              <a:ext uri="{FF2B5EF4-FFF2-40B4-BE49-F238E27FC236}">
                <a16:creationId xmlns:a16="http://schemas.microsoft.com/office/drawing/2014/main" id="{D54425FE-FF88-BB72-98B2-F90659132B4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188840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7F6-DFE2-67C3-A81E-95A33831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26AD-7FD5-39AB-8D2E-F718E4E6F1F6}"/>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33347569-8C51-93EA-1945-52269F8EA7AE}"/>
              </a:ext>
            </a:extLst>
          </p:cNvPr>
          <p:cNvSpPr>
            <a:spLocks noGrp="1"/>
          </p:cNvSpPr>
          <p:nvPr>
            <p:ph idx="1"/>
          </p:nvPr>
        </p:nvSpPr>
        <p:spPr/>
        <p:txBody>
          <a:bodyPr vert="horz" lIns="91440" tIns="45720" rIns="91440" bIns="45720" rtlCol="0" anchor="t">
            <a:normAutofit/>
          </a:bodyPr>
          <a:lstStyle/>
          <a:p>
            <a:r>
              <a:rPr lang="en-US">
                <a:ea typeface="Calibri"/>
                <a:cs typeface="Calibri"/>
              </a:rPr>
              <a:t>git push: Sends local commits to the remote repository. </a:t>
            </a:r>
          </a:p>
          <a:p>
            <a:r>
              <a:rPr lang="en-US">
                <a:ea typeface="Calibri"/>
                <a:cs typeface="Calibri"/>
              </a:rPr>
              <a:t>git pull: Fetches new commits from remote branch and merges them with your local branch.</a:t>
            </a:r>
          </a:p>
          <a:p>
            <a:r>
              <a:rPr lang="en-US">
                <a:ea typeface="Calibri"/>
                <a:cs typeface="Calibri"/>
              </a:rPr>
              <a:t>git merge: Takes changes from one branch and integrates them into another branch.</a:t>
            </a:r>
          </a:p>
          <a:p>
            <a:endParaRPr lang="en-US">
              <a:ea typeface="Calibri"/>
              <a:cs typeface="Calibri"/>
            </a:endParaRPr>
          </a:p>
        </p:txBody>
      </p:sp>
      <p:sp>
        <p:nvSpPr>
          <p:cNvPr id="4" name="TextBox 3">
            <a:extLst>
              <a:ext uri="{FF2B5EF4-FFF2-40B4-BE49-F238E27FC236}">
                <a16:creationId xmlns:a16="http://schemas.microsoft.com/office/drawing/2014/main" id="{424BBEFF-D94F-BCD7-3F59-E2978F9DD87B}"/>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Tree>
    <p:extLst>
      <p:ext uri="{BB962C8B-B14F-4D97-AF65-F5344CB8AC3E}">
        <p14:creationId xmlns:p14="http://schemas.microsoft.com/office/powerpoint/2010/main" val="251592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Commands</a:t>
            </a:r>
          </a:p>
        </p:txBody>
      </p:sp>
      <p:sp>
        <p:nvSpPr>
          <p:cNvPr id="3" name="Content Placeholder 2"/>
          <p:cNvSpPr>
            <a:spLocks noGrp="1"/>
          </p:cNvSpPr>
          <p:nvPr>
            <p:ph idx="1"/>
          </p:nvPr>
        </p:nvSpPr>
        <p:spPr>
          <a:solidFill>
            <a:schemeClr val="tx1"/>
          </a:solidFill>
        </p:spPr>
        <p:txBody>
          <a:bodyPr/>
          <a:lstStyle/>
          <a:p>
            <a:pPr marL="0" indent="0">
              <a:buNone/>
            </a:pPr>
            <a:r>
              <a:rPr sz="1600">
                <a:solidFill>
                  <a:schemeClr val="bg1"/>
                </a:solidFill>
                <a:latin typeface="Consolas"/>
              </a:rPr>
              <a:t>git pull                       # get the latest</a:t>
            </a:r>
          </a:p>
          <a:p>
            <a:pPr marL="0" indent="0">
              <a:buNone/>
            </a:pPr>
            <a:r>
              <a:rPr sz="1600">
                <a:solidFill>
                  <a:schemeClr val="bg1"/>
                </a:solidFill>
                <a:latin typeface="Consolas"/>
              </a:rPr>
              <a:t># ...add your feature, test it...</a:t>
            </a:r>
          </a:p>
          <a:p>
            <a:pPr marL="0" indent="0">
              <a:buNone/>
            </a:pPr>
            <a:r>
              <a:rPr sz="1600">
                <a:solidFill>
                  <a:schemeClr val="bg1"/>
                </a:solidFill>
                <a:latin typeface="Consolas"/>
              </a:rPr>
              <a:t>git add .                      # stage changes</a:t>
            </a:r>
          </a:p>
          <a:p>
            <a:pPr marL="0" indent="0">
              <a:buNone/>
            </a:pPr>
            <a:r>
              <a:rPr sz="1600">
                <a:solidFill>
                  <a:schemeClr val="bg1"/>
                </a:solidFill>
                <a:latin typeface="Consolas"/>
              </a:rPr>
              <a:t>git commit -m "Add &lt;feature&gt;"   # save a snapshot</a:t>
            </a:r>
          </a:p>
          <a:p>
            <a:pPr marL="0" indent="0">
              <a:buNone/>
            </a:pPr>
            <a:r>
              <a:rPr sz="1600">
                <a:solidFill>
                  <a:schemeClr val="bg1"/>
                </a:solidFill>
                <a:latin typeface="Consolas"/>
              </a:rPr>
              <a:t>git push                       # share with the team</a:t>
            </a:r>
          </a:p>
          <a:p>
            <a:pPr marL="0" indent="0">
              <a:buNone/>
            </a:pPr>
            <a:endParaRPr sz="1600">
              <a:solidFill>
                <a:schemeClr val="bg1"/>
              </a:solidFill>
              <a:latin typeface="Consolas"/>
            </a:endParaRPr>
          </a:p>
          <a:p>
            <a:pPr marL="0" indent="0">
              <a:buNone/>
            </a:pPr>
            <a:r>
              <a:rPr sz="1600">
                <a:solidFill>
                  <a:schemeClr val="bg1"/>
                </a:solidFill>
                <a:latin typeface="Consolas"/>
              </a:rPr>
              <a:t># Clear messages: "Add enemy", "Add coins", "Add HUD"</a:t>
            </a:r>
          </a:p>
          <a:p>
            <a:pPr marL="0" indent="0">
              <a:buNone/>
            </a:pPr>
            <a:r>
              <a:rPr sz="1600">
                <a:solidFill>
                  <a:schemeClr val="bg1"/>
                </a:solidFill>
                <a:latin typeface="Consolas"/>
              </a:rPr>
              <a:t># so the history reads like the feature list.</a:t>
            </a:r>
          </a:p>
        </p:txBody>
      </p:sp>
      <p:sp>
        <p:nvSpPr>
          <p:cNvPr id="4" name="TextBox 3">
            <a:extLst>
              <a:ext uri="{FF2B5EF4-FFF2-40B4-BE49-F238E27FC236}">
                <a16:creationId xmlns:a16="http://schemas.microsoft.com/office/drawing/2014/main" id="{37AD84AD-7306-691D-96CC-9CF7184D18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Create the Platformer Repo</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6BAF4909-2CA6-042D-10D6-813AD44B0839}"/>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12" name="Picture 11">
            <a:extLst>
              <a:ext uri="{FF2B5EF4-FFF2-40B4-BE49-F238E27FC236}">
                <a16:creationId xmlns:a16="http://schemas.microsoft.com/office/drawing/2014/main" id="{44680FFC-42C2-778B-65A1-74BDB38D2CA1}"/>
              </a:ext>
            </a:extLst>
          </p:cNvPr>
          <p:cNvPicPr>
            <a:picLocks noChangeAspect="1"/>
          </p:cNvPicPr>
          <p:nvPr/>
        </p:nvPicPr>
        <p:blipFill>
          <a:blip r:embed="rId3"/>
          <a:stretch>
            <a:fillRect/>
          </a:stretch>
        </p:blipFill>
        <p:spPr>
          <a:xfrm>
            <a:off x="2009417" y="4584422"/>
            <a:ext cx="5125165" cy="1952898"/>
          </a:xfrm>
          <a:prstGeom prst="rect">
            <a:avLst/>
          </a:prstGeom>
        </p:spPr>
      </p:pic>
    </p:spTree>
    <p:extLst>
      <p:ext uri="{BB962C8B-B14F-4D97-AF65-F5344CB8AC3E}">
        <p14:creationId xmlns:p14="http://schemas.microsoft.com/office/powerpoint/2010/main" val="188498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CA36-EE20-81C3-4709-E70BF32D0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BEF64-F8F8-5E5B-963B-C1D9D10FCA64}"/>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F4F60D9-6AA8-5E6D-713F-9690F4021312}"/>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DD07DA58-0FAE-FEFD-A845-853859E360BE}"/>
              </a:ext>
            </a:extLst>
          </p:cNvPr>
          <p:cNvSpPr txBox="1"/>
          <p:nvPr/>
        </p:nvSpPr>
        <p:spPr>
          <a:xfrm>
            <a:off x="457201" y="6577976"/>
            <a:ext cx="2500010" cy="369332"/>
          </a:xfrm>
          <a:prstGeom prst="rect">
            <a:avLst/>
          </a:prstGeom>
          <a:noFill/>
        </p:spPr>
        <p:txBody>
          <a:bodyPr wrap="square" rtlCol="0">
            <a:spAutoFit/>
          </a:bodyPr>
          <a:lstStyle/>
          <a:p>
            <a:r>
              <a:rPr lang="en-US">
                <a:solidFill>
                  <a:schemeClr val="bg1"/>
                </a:solidFill>
              </a:rPr>
              <a:t>Dawson</a:t>
            </a:r>
          </a:p>
        </p:txBody>
      </p:sp>
      <p:pic>
        <p:nvPicPr>
          <p:cNvPr id="8" name="Picture 7">
            <a:extLst>
              <a:ext uri="{FF2B5EF4-FFF2-40B4-BE49-F238E27FC236}">
                <a16:creationId xmlns:a16="http://schemas.microsoft.com/office/drawing/2014/main" id="{EE43935C-6B4F-10C4-63DA-25664C2E8437}"/>
              </a:ext>
            </a:extLst>
          </p:cNvPr>
          <p:cNvPicPr>
            <a:picLocks noChangeAspect="1"/>
          </p:cNvPicPr>
          <p:nvPr/>
        </p:nvPicPr>
        <p:blipFill>
          <a:blip r:embed="rId3"/>
          <a:stretch>
            <a:fillRect/>
          </a:stretch>
        </p:blipFill>
        <p:spPr>
          <a:xfrm>
            <a:off x="2580997" y="4567921"/>
            <a:ext cx="3743603" cy="1889714"/>
          </a:xfrm>
          <a:prstGeom prst="rect">
            <a:avLst/>
          </a:prstGeom>
        </p:spPr>
      </p:pic>
    </p:spTree>
    <p:extLst>
      <p:ext uri="{BB962C8B-B14F-4D97-AF65-F5344CB8AC3E}">
        <p14:creationId xmlns:p14="http://schemas.microsoft.com/office/powerpoint/2010/main" val="3804593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51A5-46D3-E815-46AB-B8B79D52E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0E40-DD5E-93E0-C7AD-AE660AD3A933}"/>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808380DF-2F08-0101-B461-336267E274B0}"/>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highlight>
                  <a:srgbClr val="FF00FF"/>
                </a:highlight>
                <a:latin typeface="Consolas"/>
              </a:rPr>
              <a:t>git clone &lt;repo-</a:t>
            </a:r>
            <a:r>
              <a:rPr sz="1400" err="1">
                <a:solidFill>
                  <a:schemeClr val="bg1"/>
                </a:solidFill>
                <a:highlight>
                  <a:srgbClr val="FF00FF"/>
                </a:highlight>
                <a:latin typeface="Consolas"/>
              </a:rPr>
              <a:t>url</a:t>
            </a:r>
            <a:r>
              <a:rPr sz="1400">
                <a:solidFill>
                  <a:schemeClr val="bg1"/>
                </a:solidFill>
                <a:highlight>
                  <a:srgbClr val="FF00FF"/>
                </a:highlight>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D9F1143-51F6-8CA1-FC72-F632A0114D0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6D2CF8BE-B015-164C-F476-3DCEEA19FD94}"/>
              </a:ext>
            </a:extLst>
          </p:cNvPr>
          <p:cNvPicPr>
            <a:picLocks noChangeAspect="1"/>
          </p:cNvPicPr>
          <p:nvPr/>
        </p:nvPicPr>
        <p:blipFill>
          <a:blip r:embed="rId3"/>
          <a:stretch>
            <a:fillRect/>
          </a:stretch>
        </p:blipFill>
        <p:spPr>
          <a:xfrm>
            <a:off x="2175278" y="4583037"/>
            <a:ext cx="4793443" cy="798907"/>
          </a:xfrm>
          <a:prstGeom prst="rect">
            <a:avLst/>
          </a:prstGeom>
        </p:spPr>
      </p:pic>
      <p:pic>
        <p:nvPicPr>
          <p:cNvPr id="9" name="Picture 8">
            <a:extLst>
              <a:ext uri="{FF2B5EF4-FFF2-40B4-BE49-F238E27FC236}">
                <a16:creationId xmlns:a16="http://schemas.microsoft.com/office/drawing/2014/main" id="{4A8EAE78-259E-9839-EFC1-02DFDDE8334B}"/>
              </a:ext>
            </a:extLst>
          </p:cNvPr>
          <p:cNvPicPr>
            <a:picLocks noChangeAspect="1"/>
          </p:cNvPicPr>
          <p:nvPr/>
        </p:nvPicPr>
        <p:blipFill>
          <a:blip r:embed="rId4"/>
          <a:stretch>
            <a:fillRect/>
          </a:stretch>
        </p:blipFill>
        <p:spPr>
          <a:xfrm>
            <a:off x="3438371" y="5517401"/>
            <a:ext cx="2191056" cy="1209844"/>
          </a:xfrm>
          <a:prstGeom prst="rect">
            <a:avLst/>
          </a:prstGeom>
        </p:spPr>
      </p:pic>
    </p:spTree>
    <p:extLst>
      <p:ext uri="{BB962C8B-B14F-4D97-AF65-F5344CB8AC3E}">
        <p14:creationId xmlns:p14="http://schemas.microsoft.com/office/powerpoint/2010/main" val="1902343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75C-AEE8-BF69-FB4C-19F484FD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E12-FD1A-6242-D201-45501F2B9F29}"/>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706455DC-3FB6-4E28-117C-514CAF6FD444}"/>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highlight>
                  <a:srgbClr val="FF00FF"/>
                </a:highlight>
                <a:latin typeface="Consolas"/>
              </a:rPr>
              <a:t>git commit -m "Add Unity .</a:t>
            </a:r>
            <a:r>
              <a:rPr sz="1400" err="1">
                <a:solidFill>
                  <a:schemeClr val="bg1"/>
                </a:solidFill>
                <a:highlight>
                  <a:srgbClr val="FF00FF"/>
                </a:highlight>
                <a:latin typeface="Consolas"/>
              </a:rPr>
              <a:t>gitignore</a:t>
            </a:r>
            <a:r>
              <a:rPr sz="1400">
                <a:solidFill>
                  <a:schemeClr val="bg1"/>
                </a:solidFill>
                <a:highlight>
                  <a:srgbClr val="FF00FF"/>
                </a:highlight>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06367BD9-BCD6-152A-5E39-924F107EFE8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F0F3163-2799-92DE-EBA4-69EB314D3AF7}"/>
              </a:ext>
            </a:extLst>
          </p:cNvPr>
          <p:cNvPicPr>
            <a:picLocks noChangeAspect="1"/>
          </p:cNvPicPr>
          <p:nvPr/>
        </p:nvPicPr>
        <p:blipFill>
          <a:blip r:embed="rId3"/>
          <a:stretch>
            <a:fillRect/>
          </a:stretch>
        </p:blipFill>
        <p:spPr>
          <a:xfrm>
            <a:off x="3119582" y="3841537"/>
            <a:ext cx="2655959" cy="2893099"/>
          </a:xfrm>
          <a:prstGeom prst="rect">
            <a:avLst/>
          </a:prstGeom>
        </p:spPr>
      </p:pic>
      <p:pic>
        <p:nvPicPr>
          <p:cNvPr id="10" name="Picture 9">
            <a:extLst>
              <a:ext uri="{FF2B5EF4-FFF2-40B4-BE49-F238E27FC236}">
                <a16:creationId xmlns:a16="http://schemas.microsoft.com/office/drawing/2014/main" id="{3D76329A-92E4-B500-FDC6-0AFF71C84C2A}"/>
              </a:ext>
            </a:extLst>
          </p:cNvPr>
          <p:cNvPicPr>
            <a:picLocks noChangeAspect="1"/>
          </p:cNvPicPr>
          <p:nvPr/>
        </p:nvPicPr>
        <p:blipFill>
          <a:blip r:embed="rId4"/>
          <a:stretch>
            <a:fillRect/>
          </a:stretch>
        </p:blipFill>
        <p:spPr>
          <a:xfrm>
            <a:off x="5959906" y="3841536"/>
            <a:ext cx="2909775" cy="2893100"/>
          </a:xfrm>
          <a:prstGeom prst="rect">
            <a:avLst/>
          </a:prstGeom>
        </p:spPr>
      </p:pic>
    </p:spTree>
    <p:extLst>
      <p:ext uri="{BB962C8B-B14F-4D97-AF65-F5344CB8AC3E}">
        <p14:creationId xmlns:p14="http://schemas.microsoft.com/office/powerpoint/2010/main" val="358013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3A3-4858-2260-0FD7-D5192548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6479-579C-9677-4E1A-29C356D6AF07}"/>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9631D39-28F1-A6E2-05AB-0D7A11C94C16}"/>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highlight>
                  <a:srgbClr val="FF00FF"/>
                </a:highlight>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84624F1-1767-622D-614C-83C99FE27A0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8F79DE88-7652-86BA-37A2-2CC847B538A5}"/>
              </a:ext>
            </a:extLst>
          </p:cNvPr>
          <p:cNvPicPr>
            <a:picLocks noChangeAspect="1"/>
          </p:cNvPicPr>
          <p:nvPr/>
        </p:nvPicPr>
        <p:blipFill>
          <a:blip r:embed="rId3"/>
          <a:stretch>
            <a:fillRect/>
          </a:stretch>
        </p:blipFill>
        <p:spPr>
          <a:xfrm>
            <a:off x="2684223" y="3922572"/>
            <a:ext cx="4401021" cy="2660790"/>
          </a:xfrm>
          <a:prstGeom prst="rect">
            <a:avLst/>
          </a:prstGeom>
        </p:spPr>
      </p:pic>
    </p:spTree>
    <p:extLst>
      <p:ext uri="{BB962C8B-B14F-4D97-AF65-F5344CB8AC3E}">
        <p14:creationId xmlns:p14="http://schemas.microsoft.com/office/powerpoint/2010/main" val="2697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3725-A662-63F8-6C75-345B35217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B1A9-A0C7-4EBB-2C45-EFFF16226238}"/>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2BAFE274-E99A-F87E-2830-28CE6EFFE0A9}"/>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highlight>
                  <a:srgbClr val="FF00FF"/>
                </a:highlight>
                <a:latin typeface="Consolas"/>
              </a:rPr>
              <a:t>git pull</a:t>
            </a:r>
          </a:p>
        </p:txBody>
      </p:sp>
      <p:sp>
        <p:nvSpPr>
          <p:cNvPr id="4" name="TextBox 3">
            <a:extLst>
              <a:ext uri="{FF2B5EF4-FFF2-40B4-BE49-F238E27FC236}">
                <a16:creationId xmlns:a16="http://schemas.microsoft.com/office/drawing/2014/main" id="{271DDD29-28FC-0FC0-B3D0-1638808CD83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EDC6E5D-0406-B93B-E028-030E13672AFF}"/>
              </a:ext>
            </a:extLst>
          </p:cNvPr>
          <p:cNvPicPr>
            <a:picLocks noChangeAspect="1"/>
          </p:cNvPicPr>
          <p:nvPr/>
        </p:nvPicPr>
        <p:blipFill>
          <a:blip r:embed="rId3"/>
          <a:stretch>
            <a:fillRect/>
          </a:stretch>
        </p:blipFill>
        <p:spPr>
          <a:xfrm>
            <a:off x="2286839" y="3859077"/>
            <a:ext cx="4753202" cy="2821345"/>
          </a:xfrm>
          <a:prstGeom prst="rect">
            <a:avLst/>
          </a:prstGeom>
        </p:spPr>
      </p:pic>
    </p:spTree>
    <p:extLst>
      <p:ext uri="{BB962C8B-B14F-4D97-AF65-F5344CB8AC3E}">
        <p14:creationId xmlns:p14="http://schemas.microsoft.com/office/powerpoint/2010/main" val="348467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Merge Conflicts on TEAM.md</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300">
                <a:solidFill>
                  <a:schemeClr val="bg1"/>
                </a:solidFill>
                <a:latin typeface="Consolas"/>
              </a:rPr>
              <a:t># In the PLATFORMER repo. One shared file: TEAM.md.</a:t>
            </a:r>
          </a:p>
          <a:p>
            <a:r>
              <a:rPr sz="1300">
                <a:solidFill>
                  <a:schemeClr val="bg1"/>
                </a:solidFill>
                <a:latin typeface="Consolas"/>
              </a:rPr>
              <a:t># Go ONE PERSON AT A TIME so everyone hits a real conflict.</a:t>
            </a:r>
          </a:p>
          <a:p>
            <a:r>
              <a:rPr sz="1300">
                <a:solidFill>
                  <a:schemeClr val="bg1"/>
                </a:solidFill>
                <a:latin typeface="Consolas"/>
              </a:rPr>
              <a:t>git pull                      # get the latest first</a:t>
            </a:r>
          </a:p>
          <a:p>
            <a:r>
              <a:rPr sz="1300">
                <a:solidFill>
                  <a:schemeClr val="bg1"/>
                </a:solidFill>
                <a:latin typeface="Consolas"/>
              </a:rPr>
              <a:t>#   ...edit the SAME line(s) of TEAM.md...</a:t>
            </a:r>
          </a:p>
          <a:p>
            <a:r>
              <a:rPr sz="1300">
                <a:solidFill>
                  <a:schemeClr val="bg1"/>
                </a:solidFill>
                <a:latin typeface="Consolas"/>
              </a:rPr>
              <a:t>git add TEAM.md</a:t>
            </a:r>
          </a:p>
          <a:p>
            <a:r>
              <a:rPr sz="1300">
                <a:solidFill>
                  <a:schemeClr val="bg1"/>
                </a:solidFill>
                <a:latin typeface="Consolas"/>
              </a:rPr>
              <a:t>git commit -m "Add &lt;name&gt; to TEAM.md"</a:t>
            </a:r>
          </a:p>
          <a:p>
            <a:r>
              <a:rPr sz="1300">
                <a:solidFill>
                  <a:schemeClr val="bg1"/>
                </a:solidFill>
                <a:latin typeface="Consolas"/>
              </a:rPr>
              <a:t>git push                      # 1st person succeeds</a:t>
            </a:r>
          </a:p>
          <a:p>
            <a:r>
              <a:rPr sz="1300">
                <a:solidFill>
                  <a:schemeClr val="bg1"/>
                </a:solidFill>
                <a:latin typeface="Consolas"/>
              </a:rPr>
              <a:t># next person:</a:t>
            </a:r>
          </a:p>
          <a:p>
            <a:r>
              <a:rPr sz="1300">
                <a:solidFill>
                  <a:schemeClr val="bg1"/>
                </a:solidFill>
                <a:latin typeface="Consolas"/>
              </a:rPr>
              <a:t>git push                      # REJECTED - remote moved</a:t>
            </a:r>
          </a:p>
          <a:p>
            <a:r>
              <a:rPr sz="1300">
                <a:solidFill>
                  <a:schemeClr val="bg1"/>
                </a:solidFill>
                <a:latin typeface="Consolas"/>
              </a:rPr>
              <a:t>git pull                      # now you get the CONFLICT</a:t>
            </a:r>
          </a:p>
          <a:p>
            <a:r>
              <a:rPr sz="1300">
                <a:solidFill>
                  <a:schemeClr val="bg1"/>
                </a:solidFill>
                <a:latin typeface="Consolas"/>
              </a:rPr>
              <a:t>#   ...open TEAM.md, resolve &lt;&lt;&lt;&lt;&lt;&lt;&lt; ======= &gt;&gt;&gt;&gt;&gt;&gt;&gt; markers...</a:t>
            </a:r>
          </a:p>
          <a:p>
            <a:r>
              <a:rPr sz="1300">
                <a:solidFill>
                  <a:schemeClr val="bg1"/>
                </a:solidFill>
                <a:latin typeface="Consolas"/>
              </a:rPr>
              <a:t>git add TEAM.md</a:t>
            </a:r>
          </a:p>
          <a:p>
            <a:r>
              <a:rPr sz="1300">
                <a:solidFill>
                  <a:schemeClr val="bg1"/>
                </a:solidFill>
                <a:latin typeface="Consolas"/>
              </a:rPr>
              <a:t>git commit -m "Resolve TEAM.md conflict"</a:t>
            </a:r>
          </a:p>
          <a:p>
            <a:r>
              <a:rPr sz="1300">
                <a:solidFill>
                  <a:schemeClr val="bg1"/>
                </a:solidFill>
                <a:latin typeface="Consolas"/>
              </a:rPr>
              <a:t>git push</a:t>
            </a:r>
          </a:p>
        </p:txBody>
      </p:sp>
      <p:sp>
        <p:nvSpPr>
          <p:cNvPr id="4" name="TextBox 3">
            <a:extLst>
              <a:ext uri="{FF2B5EF4-FFF2-40B4-BE49-F238E27FC236}">
                <a16:creationId xmlns:a16="http://schemas.microsoft.com/office/drawing/2014/main" id="{2BEB27C1-C207-B77D-3DFB-C55E340B8A2A}"/>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ea typeface="Calibri"/>
                <a:cs typeface="Calibri"/>
              </a:rPr>
              <a:t>Dawson</a:t>
            </a:r>
          </a:p>
        </p:txBody>
      </p:sp>
      <p:pic>
        <p:nvPicPr>
          <p:cNvPr id="7" name="Picture 6" descr="Screenshot that shows how to resolve a merge conflict in Visual Studio.">
            <a:extLst>
              <a:ext uri="{FF2B5EF4-FFF2-40B4-BE49-F238E27FC236}">
                <a16:creationId xmlns:a16="http://schemas.microsoft.com/office/drawing/2014/main" id="{6240DAE3-24C3-62A6-FB49-A563EACD1580}"/>
              </a:ext>
            </a:extLst>
          </p:cNvPr>
          <p:cNvPicPr>
            <a:picLocks noChangeAspect="1"/>
          </p:cNvPicPr>
          <p:nvPr/>
        </p:nvPicPr>
        <p:blipFill>
          <a:blip r:embed="rId3"/>
          <a:stretch>
            <a:fillRect/>
          </a:stretch>
        </p:blipFill>
        <p:spPr>
          <a:xfrm>
            <a:off x="4988009" y="3975100"/>
            <a:ext cx="2901958" cy="2608262"/>
          </a:xfrm>
          <a:prstGeom prst="rect">
            <a:avLst/>
          </a:prstGeom>
        </p:spPr>
      </p:pic>
    </p:spTree>
    <p:extLst>
      <p:ext uri="{BB962C8B-B14F-4D97-AF65-F5344CB8AC3E}">
        <p14:creationId xmlns:p14="http://schemas.microsoft.com/office/powerpoint/2010/main" val="157008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3 — Prove You Can Reach the Project Repo</a:t>
            </a:r>
          </a:p>
        </p:txBody>
      </p:sp>
      <p:sp>
        <p:nvSpPr>
          <p:cNvPr id="3" name="TextBox 2"/>
          <p:cNvSpPr txBox="1"/>
          <p:nvPr/>
        </p:nvSpPr>
        <p:spPr>
          <a:xfrm>
            <a:off x="548640" y="1554480"/>
            <a:ext cx="8229600" cy="1815882"/>
          </a:xfrm>
          <a:prstGeom prst="rect">
            <a:avLst/>
          </a:prstGeom>
          <a:solidFill>
            <a:schemeClr val="tx1"/>
          </a:solidFill>
        </p:spPr>
        <p:txBody>
          <a:bodyPr wrap="square">
            <a:spAutoFit/>
          </a:bodyPr>
          <a:lstStyle/>
          <a:p>
            <a:r>
              <a:rPr sz="1400">
                <a:solidFill>
                  <a:schemeClr val="bg1"/>
                </a:solidFill>
                <a:latin typeface="Consolas"/>
              </a:rPr>
              <a:t># In the MAIN PROJECT repo (the LOCKED one).</a:t>
            </a:r>
          </a:p>
          <a:p>
            <a:r>
              <a:rPr sz="1400">
                <a:solidFill>
                  <a:schemeClr val="bg1"/>
                </a:solidFill>
                <a:latin typeface="Consolas"/>
              </a:rPr>
              <a:t># You edit ONLY your own README - nothing else.</a:t>
            </a:r>
          </a:p>
          <a:p>
            <a:r>
              <a:rPr sz="1400">
                <a:solidFill>
                  <a:schemeClr val="bg1"/>
                </a:solidFill>
                <a:latin typeface="Consolas"/>
              </a:rPr>
              <a:t>git clone </a:t>
            </a:r>
            <a:r>
              <a:rPr lang="en-US" sz="1400">
                <a:solidFill>
                  <a:schemeClr val="bg1"/>
                </a:solidFill>
                <a:highlight>
                  <a:srgbClr val="FF00FF"/>
                </a:highlight>
                <a:latin typeface="Consolas"/>
              </a:rPr>
              <a:t>&lt;project-repo-</a:t>
            </a:r>
            <a:r>
              <a:rPr lang="en-US" sz="1400" err="1">
                <a:solidFill>
                  <a:schemeClr val="bg1"/>
                </a:solidFill>
                <a:highlight>
                  <a:srgbClr val="FF00FF"/>
                </a:highlight>
                <a:latin typeface="Consolas"/>
              </a:rPr>
              <a:t>url</a:t>
            </a:r>
            <a:r>
              <a:rPr lang="en-US" sz="1400">
                <a:solidFill>
                  <a:schemeClr val="bg1"/>
                </a:solidFill>
                <a:highlight>
                  <a:srgbClr val="FF00FF"/>
                </a:highlight>
                <a:latin typeface="Consolas"/>
              </a:rPr>
              <a:t>&gt;</a:t>
            </a:r>
            <a:r>
              <a:rPr sz="1400">
                <a:solidFill>
                  <a:schemeClr val="bg1"/>
                </a:solidFill>
                <a:latin typeface="Consolas"/>
              </a:rPr>
              <a:t>   # if not already cloned</a:t>
            </a:r>
          </a:p>
          <a:p>
            <a:r>
              <a:rPr sz="1400">
                <a:solidFill>
                  <a:schemeClr val="bg1"/>
                </a:solidFill>
                <a:latin typeface="Consolas"/>
              </a:rPr>
              <a:t>#   ...open YOUR directory's README, add a line...</a:t>
            </a:r>
          </a:p>
          <a:p>
            <a:r>
              <a:rPr sz="1400">
                <a:solidFill>
                  <a:schemeClr val="bg1"/>
                </a:solidFill>
                <a:latin typeface="Consolas"/>
              </a:rPr>
              <a:t>git add &lt;your-</a:t>
            </a:r>
            <a:r>
              <a:rPr sz="1400" err="1">
                <a:solidFill>
                  <a:schemeClr val="bg1"/>
                </a:solidFill>
                <a:latin typeface="Consolas"/>
              </a:rPr>
              <a:t>dir</a:t>
            </a:r>
            <a:r>
              <a:rPr sz="1400">
                <a:solidFill>
                  <a:schemeClr val="bg1"/>
                </a:solidFill>
                <a:latin typeface="Consolas"/>
              </a:rPr>
              <a:t>&gt;/README.md</a:t>
            </a:r>
          </a:p>
          <a:p>
            <a:r>
              <a:rPr sz="1400">
                <a:solidFill>
                  <a:schemeClr val="bg1"/>
                </a:solidFill>
                <a:latin typeface="Consolas"/>
              </a:rPr>
              <a:t>git commit -m "Confirm access - &lt;name&gt;"</a:t>
            </a:r>
          </a:p>
          <a:p>
            <a:r>
              <a:rPr sz="1400">
                <a:solidFill>
                  <a:schemeClr val="bg1"/>
                </a:solidFill>
                <a:latin typeface="Consolas"/>
              </a:rPr>
              <a:t>git push</a:t>
            </a:r>
          </a:p>
          <a:p>
            <a:r>
              <a:rPr sz="1400">
                <a:solidFill>
                  <a:schemeClr val="bg1"/>
                </a:solidFill>
                <a:latin typeface="Consolas"/>
              </a:rPr>
              <a:t># That's it. No code here until System's Analysis passes.</a:t>
            </a:r>
          </a:p>
        </p:txBody>
      </p:sp>
      <p:sp>
        <p:nvSpPr>
          <p:cNvPr id="4" name="TextBox 3">
            <a:extLst>
              <a:ext uri="{FF2B5EF4-FFF2-40B4-BE49-F238E27FC236}">
                <a16:creationId xmlns:a16="http://schemas.microsoft.com/office/drawing/2014/main" id="{9094FD29-0063-8B83-E071-BD32EAFB89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215E-A4BC-3195-41CA-AF1B410DF1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160BD4-2B87-9BA1-098A-4EFF33CDC3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pic>
        <p:nvPicPr>
          <p:cNvPr id="8" name="Picture 7">
            <a:extLst>
              <a:ext uri="{FF2B5EF4-FFF2-40B4-BE49-F238E27FC236}">
                <a16:creationId xmlns:a16="http://schemas.microsoft.com/office/drawing/2014/main" id="{59122ADE-7C81-D869-E170-852F87B84E63}"/>
              </a:ext>
            </a:extLst>
          </p:cNvPr>
          <p:cNvPicPr>
            <a:picLocks noChangeAspect="1"/>
          </p:cNvPicPr>
          <p:nvPr/>
        </p:nvPicPr>
        <p:blipFill>
          <a:blip r:embed="rId3"/>
          <a:stretch>
            <a:fillRect/>
          </a:stretch>
        </p:blipFill>
        <p:spPr>
          <a:xfrm>
            <a:off x="0" y="1055516"/>
            <a:ext cx="9144000" cy="4746968"/>
          </a:xfrm>
          <a:prstGeom prst="rect">
            <a:avLst/>
          </a:prstGeom>
        </p:spPr>
      </p:pic>
      <p:sp>
        <p:nvSpPr>
          <p:cNvPr id="2" name="TextBox 1">
            <a:extLst>
              <a:ext uri="{FF2B5EF4-FFF2-40B4-BE49-F238E27FC236}">
                <a16:creationId xmlns:a16="http://schemas.microsoft.com/office/drawing/2014/main" id="{07535D80-5212-9376-A0B1-69F321D4E6C2}"/>
              </a:ext>
            </a:extLst>
          </p:cNvPr>
          <p:cNvSpPr txBox="1"/>
          <p:nvPr/>
        </p:nvSpPr>
        <p:spPr>
          <a:xfrm>
            <a:off x="3746500" y="3429000"/>
            <a:ext cx="3098800" cy="749300"/>
          </a:xfrm>
          <a:prstGeom prst="rect">
            <a:avLst/>
          </a:prstGeom>
          <a:noFill/>
          <a:ln w="5715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US"/>
          </a:p>
        </p:txBody>
      </p:sp>
    </p:spTree>
    <p:extLst>
      <p:ext uri="{BB962C8B-B14F-4D97-AF65-F5344CB8AC3E}">
        <p14:creationId xmlns:p14="http://schemas.microsoft.com/office/powerpoint/2010/main" val="368286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Loop</a:t>
            </a:r>
          </a:p>
        </p:txBody>
      </p:sp>
      <p:sp>
        <p:nvSpPr>
          <p:cNvPr id="3" name="Content Placeholder 2"/>
          <p:cNvSpPr>
            <a:spLocks noGrp="1"/>
          </p:cNvSpPr>
          <p:nvPr>
            <p:ph idx="1"/>
          </p:nvPr>
        </p:nvSpPr>
        <p:spPr/>
        <p:txBody>
          <a:bodyPr/>
          <a:lstStyle/>
          <a:p>
            <a:r>
              <a:t>The loop you repeat for every feature you add:</a:t>
            </a:r>
          </a:p>
          <a:p>
            <a:r>
              <a:t>1 — </a:t>
            </a:r>
            <a:r>
              <a:rPr u="sng"/>
              <a:t>Pull</a:t>
            </a:r>
            <a:r>
              <a:t> first, so you're on the latest team version.</a:t>
            </a:r>
          </a:p>
          <a:p>
            <a:r>
              <a:t>2 — Build your feature and TEST it.</a:t>
            </a:r>
          </a:p>
          <a:p>
            <a:r>
              <a:t>3 — Stage → commit (clear message) → push.</a:t>
            </a:r>
          </a:p>
          <a:p>
            <a:r>
              <a:t>4 — If a teammate pushed while you worked: pull, resolve, push. (You just practiced this.)</a:t>
            </a:r>
          </a:p>
        </p:txBody>
      </p:sp>
      <p:sp>
        <p:nvSpPr>
          <p:cNvPr id="4" name="TextBox 3">
            <a:extLst>
              <a:ext uri="{FF2B5EF4-FFF2-40B4-BE49-F238E27FC236}">
                <a16:creationId xmlns:a16="http://schemas.microsoft.com/office/drawing/2014/main" id="{5E05CD6F-FB99-1A6D-5847-024A29218E6B}"/>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to Hand In — From Now On</a:t>
            </a:r>
          </a:p>
        </p:txBody>
      </p:sp>
      <p:sp>
        <p:nvSpPr>
          <p:cNvPr id="3" name="Content Placeholder 2"/>
          <p:cNvSpPr>
            <a:spLocks noGrp="1"/>
          </p:cNvSpPr>
          <p:nvPr>
            <p:ph idx="1"/>
          </p:nvPr>
        </p:nvSpPr>
        <p:spPr/>
        <p:txBody>
          <a:bodyPr/>
          <a:lstStyle/>
          <a:p>
            <a:r>
              <a:t>From now on, all code you hand in is a LINK to a Git repository.</a:t>
            </a:r>
          </a:p>
          <a:p>
            <a:r>
              <a:t>Not a zip, not a file upload — a repo link.</a:t>
            </a:r>
          </a:p>
          <a:p>
            <a:r>
              <a:t>The commit history is part of the hand-in: it shows who did what, and when.</a:t>
            </a:r>
          </a:p>
          <a:p>
            <a:r>
              <a:t>This is the same rule TL2 states — one rule, both lectures.</a:t>
            </a:r>
          </a:p>
        </p:txBody>
      </p:sp>
      <p:sp>
        <p:nvSpPr>
          <p:cNvPr id="4" name="TextBox 3">
            <a:extLst>
              <a:ext uri="{FF2B5EF4-FFF2-40B4-BE49-F238E27FC236}">
                <a16:creationId xmlns:a16="http://schemas.microsoft.com/office/drawing/2014/main" id="{374E5817-8551-E43A-81F8-3D1AFE7D21A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15645" cy="1143000"/>
          </a:xfrm>
        </p:spPr>
        <p:txBody>
          <a:bodyPr>
            <a:normAutofit fontScale="90000"/>
          </a:bodyPr>
          <a:lstStyle/>
          <a:p>
            <a:r>
              <a:t>How This Runs During TL2 Lecture 2</a:t>
            </a:r>
          </a:p>
        </p:txBody>
      </p:sp>
      <p:sp>
        <p:nvSpPr>
          <p:cNvPr id="3" name="Content Placeholder 2"/>
          <p:cNvSpPr>
            <a:spLocks noGrp="1"/>
          </p:cNvSpPr>
          <p:nvPr>
            <p:ph idx="1"/>
          </p:nvPr>
        </p:nvSpPr>
        <p:spPr/>
        <p:txBody>
          <a:bodyPr>
            <a:normAutofit fontScale="85000" lnSpcReduction="10000"/>
          </a:bodyPr>
          <a:lstStyle/>
          <a:p>
            <a:r>
              <a:t>TL2 walks everyone through building each feature: enemies, coins, power-ups, animation, HUD, sound.</a:t>
            </a:r>
          </a:p>
          <a:p>
            <a:r>
              <a:t>At each feature: the chosen version's author PUSHES; everyone else PULLS. Make sure every person gets at least one push.</a:t>
            </a:r>
          </a:p>
          <a:p>
            <a:r>
              <a:t>If a team struggles to push, a circulating TL1 helps</a:t>
            </a:r>
            <a:r>
              <a:rPr lang="en-US"/>
              <a:t>, </a:t>
            </a:r>
            <a:r>
              <a:t>and earns a support credit (</a:t>
            </a:r>
            <a:r>
              <a:rPr>
                <a:solidFill>
                  <a:srgbClr val="FF0000"/>
                </a:solidFill>
              </a:rPr>
              <a:t>LEC</a:t>
            </a:r>
            <a:r>
              <a:t>) for it.</a:t>
            </a:r>
            <a:r>
              <a:rPr lang="en-US"/>
              <a:t> Don’t forget to do a </a:t>
            </a:r>
            <a:r>
              <a:rPr lang="en-US">
                <a:solidFill>
                  <a:srgbClr val="FF0000"/>
                </a:solidFill>
              </a:rPr>
              <a:t>REC-LEC</a:t>
            </a:r>
            <a:r>
              <a:rPr lang="en-US"/>
              <a:t>.</a:t>
            </a:r>
            <a:endParaRPr/>
          </a:p>
          <a:p>
            <a:r>
              <a:t>By the end: the platformer is a merge of everyone's work, with a clean history showing who did what.</a:t>
            </a:r>
          </a:p>
        </p:txBody>
      </p:sp>
      <p:sp>
        <p:nvSpPr>
          <p:cNvPr id="4" name="TextBox 3">
            <a:extLst>
              <a:ext uri="{FF2B5EF4-FFF2-40B4-BE49-F238E27FC236}">
                <a16:creationId xmlns:a16="http://schemas.microsoft.com/office/drawing/2014/main" id="{BA49BD22-11DE-4556-E9E4-720C59FC692D}"/>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23</Slides>
  <Notes>21</Notes>
  <HiddenSlides>1</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DECK MAP — HIDDEN (do not present)</vt:lpstr>
      <vt:lpstr>Sit with your TL# group</vt:lpstr>
      <vt:lpstr>Git for the Team Platformer</vt:lpstr>
      <vt:lpstr>Meet Your TL1 Team</vt:lpstr>
      <vt:lpstr>What We'll Do Today</vt:lpstr>
      <vt:lpstr>Why One Shared Repo</vt:lpstr>
      <vt:lpstr>Two Repos, Two Jobs</vt:lpstr>
      <vt:lpstr>Recap: What is GIT?</vt:lpstr>
      <vt:lpstr>Recap: Basic GIT commands</vt:lpstr>
      <vt:lpstr>Recap: Basic GIT commands</vt:lpstr>
      <vt:lpstr>The Everyday Commands</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2 — Merge Conflicts on TEAM.md</vt:lpstr>
      <vt:lpstr>Follow Along 3 — Prove You Can Reach the Project Repo</vt:lpstr>
      <vt:lpstr>PowerPoint Presentation</vt:lpstr>
      <vt:lpstr>The Everyday Loop</vt:lpstr>
      <vt:lpstr>What to Hand In — From Now On</vt:lpstr>
      <vt:lpstr>How This Runs During TL2 Lecture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DECK MAP — HIDDEN (do not present)</dc:title>
  <dc:subject/>
  <dc:creator>Dawson Crane</dc:creator>
  <cp:keywords/>
  <dc:description>generated using python-pptx</dc:description>
  <cp:revision>4</cp:revision>
  <dcterms:created xsi:type="dcterms:W3CDTF">2013-01-27T09:14:16Z</dcterms:created>
  <dcterms:modified xsi:type="dcterms:W3CDTF">2026-09-15T00:54:03Z</dcterms:modified>
  <cp:category/>
</cp:coreProperties>
</file>