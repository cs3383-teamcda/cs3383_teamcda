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2B_4DE24375.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306" r:id="rId6"/>
    <p:sldId id="307" r:id="rId7"/>
    <p:sldId id="308" r:id="rId8"/>
    <p:sldId id="312" r:id="rId9"/>
    <p:sldId id="310" r:id="rId10"/>
    <p:sldId id="303" r:id="rId11"/>
    <p:sldId id="304" r:id="rId12"/>
    <p:sldId id="313" r:id="rId13"/>
    <p:sldId id="297" r:id="rId14"/>
    <p:sldId id="296" r:id="rId15"/>
    <p:sldId id="295" r:id="rId16"/>
    <p:sldId id="293" r:id="rId17"/>
    <p:sldId id="301" r:id="rId18"/>
    <p:sldId id="302" r:id="rId19"/>
    <p:sldId id="299" r:id="rId20"/>
    <p:sldId id="300" r:id="rId21"/>
    <p:sldId id="269" r:id="rId22"/>
    <p:sldId id="264" r:id="rId23"/>
    <p:sldId id="263" r:id="rId24"/>
    <p:sldId id="265" r:id="rId25"/>
    <p:sldId id="266" r:id="rId26"/>
    <p:sldId id="267" r:id="rId27"/>
    <p:sldId id="270" r:id="rId28"/>
    <p:sldId id="298" r:id="rId29"/>
    <p:sldId id="271" r:id="rId30"/>
    <p:sldId id="272" r:id="rId31"/>
    <p:sldId id="273" r:id="rId32"/>
    <p:sldId id="274" r:id="rId33"/>
    <p:sldId id="275" r:id="rId34"/>
    <p:sldId id="277" r:id="rId35"/>
    <p:sldId id="262"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FBDB65F-44EF-258E-3D9B-EB11BD0316D6}" name="Wolff, Gavin (wolf6828@vandals.uidaho.edu)" initials="WG" userId="S::wolf6828@vandals.uidaho.edu::77884470-0677-4856-952c-7ca37fd265b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977F"/>
    <a:srgbClr val="A63D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76708-18F8-4751-8F56-8D6A7042B338}" v="5" dt="2026-10-21T02:48:41.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22819" autoAdjust="0"/>
  </p:normalViewPr>
  <p:slideViewPr>
    <p:cSldViewPr snapToGrid="0">
      <p:cViewPr varScale="1">
        <p:scale>
          <a:sx n="23" d="100"/>
          <a:sy n="23" d="100"/>
        </p:scale>
        <p:origin x="3600" y="20"/>
      </p:cViewPr>
      <p:guideLst>
        <p:guide orient="horz" pos="216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eo Coppola" userId="0b52813a7f590703" providerId="LiveId" clId="{9D362FE0-19BC-48A3-8D74-0C27BADE9A3E}"/>
    <pc:docChg chg="modSld modShowInfo">
      <pc:chgData name="Matteo Coppola" userId="0b52813a7f590703" providerId="LiveId" clId="{9D362FE0-19BC-48A3-8D74-0C27BADE9A3E}" dt="2026-10-21T02:48:41.914" v="37"/>
      <pc:docMkLst>
        <pc:docMk/>
      </pc:docMkLst>
      <pc:sldChg chg="addSp modSp modNotesTx">
        <pc:chgData name="Matteo Coppola" userId="0b52813a7f590703" providerId="LiveId" clId="{9D362FE0-19BC-48A3-8D74-0C27BADE9A3E}" dt="2026-10-21T02:44:21.447" v="33"/>
        <pc:sldMkLst>
          <pc:docMk/>
          <pc:sldMk cId="753483690" sldId="306"/>
        </pc:sldMkLst>
        <pc:picChg chg="add mod">
          <ac:chgData name="Matteo Coppola" userId="0b52813a7f590703" providerId="LiveId" clId="{9D362FE0-19BC-48A3-8D74-0C27BADE9A3E}" dt="2026-10-21T02:44:21.447" v="33"/>
          <ac:picMkLst>
            <pc:docMk/>
            <pc:sldMk cId="753483690" sldId="306"/>
            <ac:picMk id="15" creationId="{ACCEF02E-E89B-7105-37AC-17D461F9AD99}"/>
          </ac:picMkLst>
        </pc:picChg>
      </pc:sldChg>
      <pc:sldChg chg="addSp modSp">
        <pc:chgData name="Matteo Coppola" userId="0b52813a7f590703" providerId="LiveId" clId="{9D362FE0-19BC-48A3-8D74-0C27BADE9A3E}" dt="2026-10-21T02:45:25.526" v="34"/>
        <pc:sldMkLst>
          <pc:docMk/>
          <pc:sldMk cId="1776019508" sldId="307"/>
        </pc:sldMkLst>
        <pc:picChg chg="add mod">
          <ac:chgData name="Matteo Coppola" userId="0b52813a7f590703" providerId="LiveId" clId="{9D362FE0-19BC-48A3-8D74-0C27BADE9A3E}" dt="2026-10-21T02:45:25.526" v="34"/>
          <ac:picMkLst>
            <pc:docMk/>
            <pc:sldMk cId="1776019508" sldId="307"/>
            <ac:picMk id="28" creationId="{9A93DEEF-6AE4-0749-E2FD-F5687BF6A4C1}"/>
          </ac:picMkLst>
        </pc:picChg>
      </pc:sldChg>
      <pc:sldChg chg="addSp modSp">
        <pc:chgData name="Matteo Coppola" userId="0b52813a7f590703" providerId="LiveId" clId="{9D362FE0-19BC-48A3-8D74-0C27BADE9A3E}" dt="2026-10-21T02:46:19.929" v="35"/>
        <pc:sldMkLst>
          <pc:docMk/>
          <pc:sldMk cId="1067825259" sldId="308"/>
        </pc:sldMkLst>
        <pc:picChg chg="add mod">
          <ac:chgData name="Matteo Coppola" userId="0b52813a7f590703" providerId="LiveId" clId="{9D362FE0-19BC-48A3-8D74-0C27BADE9A3E}" dt="2026-10-21T02:46:19.929" v="35"/>
          <ac:picMkLst>
            <pc:docMk/>
            <pc:sldMk cId="1067825259" sldId="308"/>
            <ac:picMk id="15" creationId="{0EBEC0F4-37B8-8775-341F-3A1D40D46848}"/>
          </ac:picMkLst>
        </pc:picChg>
      </pc:sldChg>
      <pc:sldChg chg="addSp modSp">
        <pc:chgData name="Matteo Coppola" userId="0b52813a7f590703" providerId="LiveId" clId="{9D362FE0-19BC-48A3-8D74-0C27BADE9A3E}" dt="2026-10-21T02:48:41.914" v="37"/>
        <pc:sldMkLst>
          <pc:docMk/>
          <pc:sldMk cId="1034355941" sldId="310"/>
        </pc:sldMkLst>
        <pc:picChg chg="add mod">
          <ac:chgData name="Matteo Coppola" userId="0b52813a7f590703" providerId="LiveId" clId="{9D362FE0-19BC-48A3-8D74-0C27BADE9A3E}" dt="2026-10-21T02:48:41.914" v="37"/>
          <ac:picMkLst>
            <pc:docMk/>
            <pc:sldMk cId="1034355941" sldId="310"/>
            <ac:picMk id="38" creationId="{2C483BD3-EE61-EC65-AD21-4A2345A3F127}"/>
          </ac:picMkLst>
        </pc:picChg>
      </pc:sldChg>
      <pc:sldChg chg="addSp modSp modNotesTx">
        <pc:chgData name="Matteo Coppola" userId="0b52813a7f590703" providerId="LiveId" clId="{9D362FE0-19BC-48A3-8D74-0C27BADE9A3E}" dt="2026-10-21T02:47:25.148" v="36"/>
        <pc:sldMkLst>
          <pc:docMk/>
          <pc:sldMk cId="1807117229" sldId="312"/>
        </pc:sldMkLst>
        <pc:picChg chg="add mod">
          <ac:chgData name="Matteo Coppola" userId="0b52813a7f590703" providerId="LiveId" clId="{9D362FE0-19BC-48A3-8D74-0C27BADE9A3E}" dt="2026-10-21T02:47:25.148" v="36"/>
          <ac:picMkLst>
            <pc:docMk/>
            <pc:sldMk cId="1807117229" sldId="312"/>
            <ac:picMk id="28" creationId="{07E23C0B-FC75-16A2-4F31-A640A256EB1C}"/>
          </ac:picMkLst>
        </pc:picChg>
      </pc:sldChg>
    </pc:docChg>
  </pc:docChgLst>
</pc:chgInfo>
</file>

<file path=ppt/comments/modernComment_12B_4DE24375.xml><?xml version="1.0" encoding="utf-8"?>
<p188:cmLst xmlns:a="http://schemas.openxmlformats.org/drawingml/2006/main" xmlns:r="http://schemas.openxmlformats.org/officeDocument/2006/relationships" xmlns:p188="http://schemas.microsoft.com/office/powerpoint/2018/8/main">
  <p188:cm id="{E67749BC-58BE-472F-960F-B15C4F15A9A3}" authorId="{4FBDB65F-44EF-258E-3D9B-EB11BD0316D6}" created="2026-10-08T01:37:05.880">
    <pc:sldMkLst xmlns:pc="http://schemas.microsoft.com/office/powerpoint/2013/main/command">
      <pc:docMk/>
      <pc:sldMk cId="1306674037" sldId="299"/>
    </pc:sldMkLst>
    <p188:txBody>
      <a:bodyPr/>
      <a:lstStyle/>
      <a:p>
        <a:r>
          <a:rPr lang="en-US"/>
          <a:t>is she on zoom [@Patel, Nishant (pate6960@vandals.uidaho.edu)]</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623A8A-B071-4BE6-9E20-E3E3CFCD6A9A}"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EA681F89-49B2-44F0-AE67-2EA04EBA2449}">
      <dgm:prSet/>
      <dgm:spPr/>
      <dgm:t>
        <a:bodyPr/>
        <a:lstStyle/>
        <a:p>
          <a:pPr>
            <a:lnSpc>
              <a:spcPct val="100000"/>
            </a:lnSpc>
          </a:pPr>
          <a:r>
            <a:rPr lang="en-US"/>
            <a:t>Why we're doing it this way</a:t>
          </a:r>
        </a:p>
      </dgm:t>
    </dgm:pt>
    <dgm:pt modelId="{0B42522F-6A39-4629-82F3-144CD9279F23}" type="parTrans" cxnId="{6E4B053A-D6A9-48A7-B490-506E0A3A892B}">
      <dgm:prSet/>
      <dgm:spPr/>
      <dgm:t>
        <a:bodyPr/>
        <a:lstStyle/>
        <a:p>
          <a:endParaRPr lang="en-US"/>
        </a:p>
      </dgm:t>
    </dgm:pt>
    <dgm:pt modelId="{BB32911A-40F1-4142-9CEA-50ABFDA6A81D}" type="sibTrans" cxnId="{6E4B053A-D6A9-48A7-B490-506E0A3A892B}">
      <dgm:prSet/>
      <dgm:spPr/>
      <dgm:t>
        <a:bodyPr/>
        <a:lstStyle/>
        <a:p>
          <a:pPr>
            <a:lnSpc>
              <a:spcPct val="100000"/>
            </a:lnSpc>
          </a:pPr>
          <a:endParaRPr lang="en-US"/>
        </a:p>
      </dgm:t>
    </dgm:pt>
    <dgm:pt modelId="{84D89D2E-56E1-4EAA-8029-1AB22C770C29}">
      <dgm:prSet/>
      <dgm:spPr/>
      <dgm:t>
        <a:bodyPr/>
        <a:lstStyle/>
        <a:p>
          <a:pPr>
            <a:lnSpc>
              <a:spcPct val="100000"/>
            </a:lnSpc>
          </a:pPr>
          <a:r>
            <a:rPr lang="en-US" b="1"/>
            <a:t>No install:</a:t>
          </a:r>
          <a:r>
            <a:rPr lang="en-US"/>
            <a:t> people scan a QR code or tap a link and play within seconds.</a:t>
          </a:r>
        </a:p>
      </dgm:t>
    </dgm:pt>
    <dgm:pt modelId="{818EA938-BF3E-45A4-B6F3-412D7398A9F7}" type="parTrans" cxnId="{04A0839C-A33F-4BA1-A598-C10845E522FC}">
      <dgm:prSet/>
      <dgm:spPr/>
      <dgm:t>
        <a:bodyPr/>
        <a:lstStyle/>
        <a:p>
          <a:endParaRPr lang="en-US"/>
        </a:p>
      </dgm:t>
    </dgm:pt>
    <dgm:pt modelId="{8ABEA128-9C4E-4264-BCCE-4C41B504923D}" type="sibTrans" cxnId="{04A0839C-A33F-4BA1-A598-C10845E522FC}">
      <dgm:prSet/>
      <dgm:spPr/>
      <dgm:t>
        <a:bodyPr/>
        <a:lstStyle/>
        <a:p>
          <a:pPr>
            <a:lnSpc>
              <a:spcPct val="100000"/>
            </a:lnSpc>
          </a:pPr>
          <a:endParaRPr lang="en-US"/>
        </a:p>
      </dgm:t>
    </dgm:pt>
    <dgm:pt modelId="{C1729B39-0775-41B1-B6AF-14E5B337321F}">
      <dgm:prSet/>
      <dgm:spPr/>
      <dgm:t>
        <a:bodyPr/>
        <a:lstStyle/>
        <a:p>
          <a:pPr>
            <a:lnSpc>
              <a:spcPct val="100000"/>
            </a:lnSpc>
          </a:pPr>
          <a:r>
            <a:rPr lang="en-US" b="1"/>
            <a:t>One build, many devices:</a:t>
          </a:r>
          <a:r>
            <a:rPr lang="en-US"/>
            <a:t> the same build works on laptops and phones, so there's no separate Android and iPhone build.</a:t>
          </a:r>
        </a:p>
      </dgm:t>
    </dgm:pt>
    <dgm:pt modelId="{E05B9C42-1B1F-47D4-87AE-5C39F47CADE6}" type="parTrans" cxnId="{CA8AEFC5-C1CD-4EDF-9557-B2134B6B0C86}">
      <dgm:prSet/>
      <dgm:spPr/>
      <dgm:t>
        <a:bodyPr/>
        <a:lstStyle/>
        <a:p>
          <a:endParaRPr lang="en-US"/>
        </a:p>
      </dgm:t>
    </dgm:pt>
    <dgm:pt modelId="{24E346C3-7BB5-4531-B56A-85027448933D}" type="sibTrans" cxnId="{CA8AEFC5-C1CD-4EDF-9557-B2134B6B0C86}">
      <dgm:prSet/>
      <dgm:spPr/>
      <dgm:t>
        <a:bodyPr/>
        <a:lstStyle/>
        <a:p>
          <a:pPr>
            <a:lnSpc>
              <a:spcPct val="100000"/>
            </a:lnSpc>
          </a:pPr>
          <a:endParaRPr lang="en-US"/>
        </a:p>
      </dgm:t>
    </dgm:pt>
    <dgm:pt modelId="{394D9BD5-FD95-4A43-90E3-2E40ED7C2F63}">
      <dgm:prSet/>
      <dgm:spPr/>
      <dgm:t>
        <a:bodyPr/>
        <a:lstStyle/>
        <a:p>
          <a:pPr>
            <a:lnSpc>
              <a:spcPct val="100000"/>
            </a:lnSpc>
          </a:pPr>
          <a:r>
            <a:rPr lang="en-US" b="1"/>
            <a:t>Easy to demo:</a:t>
          </a:r>
          <a:r>
            <a:rPr lang="en-US"/>
            <a:t> the QR code on your poster points straight at the game.</a:t>
          </a:r>
        </a:p>
      </dgm:t>
    </dgm:pt>
    <dgm:pt modelId="{E5D3E5C7-3B2D-4A16-8B77-E2A87B3EFB6F}" type="parTrans" cxnId="{9C587A5C-40BA-4B4E-94C8-3ADA5DEF54F8}">
      <dgm:prSet/>
      <dgm:spPr/>
      <dgm:t>
        <a:bodyPr/>
        <a:lstStyle/>
        <a:p>
          <a:endParaRPr lang="en-US"/>
        </a:p>
      </dgm:t>
    </dgm:pt>
    <dgm:pt modelId="{2FFA1B6E-86AF-4A54-A0B5-5A98DF017130}" type="sibTrans" cxnId="{9C587A5C-40BA-4B4E-94C8-3ADA5DEF54F8}">
      <dgm:prSet/>
      <dgm:spPr/>
      <dgm:t>
        <a:bodyPr/>
        <a:lstStyle/>
        <a:p>
          <a:pPr>
            <a:lnSpc>
              <a:spcPct val="100000"/>
            </a:lnSpc>
          </a:pPr>
          <a:endParaRPr lang="en-US"/>
        </a:p>
      </dgm:t>
    </dgm:pt>
    <dgm:pt modelId="{827FC15C-A2AE-4CAB-A536-BD6606CEBFA0}">
      <dgm:prSet/>
      <dgm:spPr/>
      <dgm:t>
        <a:bodyPr/>
        <a:lstStyle/>
        <a:p>
          <a:pPr>
            <a:lnSpc>
              <a:spcPct val="100000"/>
            </a:lnSpc>
          </a:pPr>
          <a:r>
            <a:rPr lang="en-US" b="1"/>
            <a:t>Easy to update:</a:t>
          </a:r>
          <a:r>
            <a:rPr lang="en-US"/>
            <a:t> push a new build to the same link, and everyone gets the latest version.</a:t>
          </a:r>
          <a:br>
            <a:rPr lang="en-US"/>
          </a:br>
          <a:br>
            <a:rPr lang="en-US"/>
          </a:br>
          <a:r>
            <a:rPr lang="en-US"/>
            <a:t>Every team will be needing this for their final demo.</a:t>
          </a:r>
        </a:p>
      </dgm:t>
    </dgm:pt>
    <dgm:pt modelId="{B8AEB407-9EC7-49F3-A41C-58A7AB9E0511}" type="parTrans" cxnId="{40A0BDDD-D1BD-4CB6-BA1C-A81FED90596D}">
      <dgm:prSet/>
      <dgm:spPr/>
      <dgm:t>
        <a:bodyPr/>
        <a:lstStyle/>
        <a:p>
          <a:endParaRPr lang="en-US"/>
        </a:p>
      </dgm:t>
    </dgm:pt>
    <dgm:pt modelId="{5472D6E8-E8BC-447B-B015-A746DAB13F2B}" type="sibTrans" cxnId="{40A0BDDD-D1BD-4CB6-BA1C-A81FED90596D}">
      <dgm:prSet/>
      <dgm:spPr/>
      <dgm:t>
        <a:bodyPr/>
        <a:lstStyle/>
        <a:p>
          <a:endParaRPr lang="en-US"/>
        </a:p>
      </dgm:t>
    </dgm:pt>
    <dgm:pt modelId="{F0FC1B94-DD4A-42C1-AFCB-8272C2E35229}" type="pres">
      <dgm:prSet presAssocID="{BF623A8A-B071-4BE6-9E20-E3E3CFCD6A9A}" presName="root" presStyleCnt="0">
        <dgm:presLayoutVars>
          <dgm:dir/>
          <dgm:resizeHandles val="exact"/>
        </dgm:presLayoutVars>
      </dgm:prSet>
      <dgm:spPr/>
    </dgm:pt>
    <dgm:pt modelId="{34863728-B89E-4F66-8E17-9B1BF96DCB49}" type="pres">
      <dgm:prSet presAssocID="{BF623A8A-B071-4BE6-9E20-E3E3CFCD6A9A}" presName="container" presStyleCnt="0">
        <dgm:presLayoutVars>
          <dgm:dir/>
          <dgm:resizeHandles val="exact"/>
        </dgm:presLayoutVars>
      </dgm:prSet>
      <dgm:spPr/>
    </dgm:pt>
    <dgm:pt modelId="{77E2BF46-2E3C-4F7F-9721-787CDDDBAFCA}" type="pres">
      <dgm:prSet presAssocID="{EA681F89-49B2-44F0-AE67-2EA04EBA2449}" presName="compNode" presStyleCnt="0"/>
      <dgm:spPr/>
    </dgm:pt>
    <dgm:pt modelId="{CF4163A2-AD23-42DE-A86A-3B4282F8FBDA}" type="pres">
      <dgm:prSet presAssocID="{EA681F89-49B2-44F0-AE67-2EA04EBA2449}" presName="iconBgRect" presStyleLbl="bgShp" presStyleIdx="0" presStyleCnt="5"/>
      <dgm:spPr/>
    </dgm:pt>
    <dgm:pt modelId="{492205F2-706F-42FF-8E7A-FA0DE0E32205}" type="pres">
      <dgm:prSet presAssocID="{EA681F89-49B2-44F0-AE67-2EA04EBA2449}"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F2A0A6B7-D0DA-490B-BA1B-4D9FE09195DA}" type="pres">
      <dgm:prSet presAssocID="{EA681F89-49B2-44F0-AE67-2EA04EBA2449}" presName="spaceRect" presStyleCnt="0"/>
      <dgm:spPr/>
    </dgm:pt>
    <dgm:pt modelId="{C97CCD7D-4D85-4883-871B-5B8CC4C0B9F1}" type="pres">
      <dgm:prSet presAssocID="{EA681F89-49B2-44F0-AE67-2EA04EBA2449}" presName="textRect" presStyleLbl="revTx" presStyleIdx="0" presStyleCnt="5">
        <dgm:presLayoutVars>
          <dgm:chMax val="1"/>
          <dgm:chPref val="1"/>
        </dgm:presLayoutVars>
      </dgm:prSet>
      <dgm:spPr/>
    </dgm:pt>
    <dgm:pt modelId="{6147B1C4-B881-4243-BD3D-1210F27E97B0}" type="pres">
      <dgm:prSet presAssocID="{BB32911A-40F1-4142-9CEA-50ABFDA6A81D}" presName="sibTrans" presStyleLbl="sibTrans2D1" presStyleIdx="0" presStyleCnt="0"/>
      <dgm:spPr/>
    </dgm:pt>
    <dgm:pt modelId="{961ADF87-931D-4BB5-8BB4-CAE38B05BB0D}" type="pres">
      <dgm:prSet presAssocID="{84D89D2E-56E1-4EAA-8029-1AB22C770C29}" presName="compNode" presStyleCnt="0"/>
      <dgm:spPr/>
    </dgm:pt>
    <dgm:pt modelId="{12FC6ABB-5E04-4001-89A5-FAAACFA03EAD}" type="pres">
      <dgm:prSet presAssocID="{84D89D2E-56E1-4EAA-8029-1AB22C770C29}" presName="iconBgRect" presStyleLbl="bgShp" presStyleIdx="1" presStyleCnt="5"/>
      <dgm:spPr/>
    </dgm:pt>
    <dgm:pt modelId="{0DD008A9-A067-43ED-9453-9345D465295B}" type="pres">
      <dgm:prSet presAssocID="{84D89D2E-56E1-4EAA-8029-1AB22C770C29}"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F340FEFB-E283-4436-9384-C243D3F40A37}" type="pres">
      <dgm:prSet presAssocID="{84D89D2E-56E1-4EAA-8029-1AB22C770C29}" presName="spaceRect" presStyleCnt="0"/>
      <dgm:spPr/>
    </dgm:pt>
    <dgm:pt modelId="{C883503E-7CC4-4A42-9709-20700F849D0F}" type="pres">
      <dgm:prSet presAssocID="{84D89D2E-56E1-4EAA-8029-1AB22C770C29}" presName="textRect" presStyleLbl="revTx" presStyleIdx="1" presStyleCnt="5">
        <dgm:presLayoutVars>
          <dgm:chMax val="1"/>
          <dgm:chPref val="1"/>
        </dgm:presLayoutVars>
      </dgm:prSet>
      <dgm:spPr/>
    </dgm:pt>
    <dgm:pt modelId="{80E30988-C26D-4A8D-BECF-99645772D6A7}" type="pres">
      <dgm:prSet presAssocID="{8ABEA128-9C4E-4264-BCCE-4C41B504923D}" presName="sibTrans" presStyleLbl="sibTrans2D1" presStyleIdx="0" presStyleCnt="0"/>
      <dgm:spPr/>
    </dgm:pt>
    <dgm:pt modelId="{68CD458F-75AE-4E5A-9355-F845548AB277}" type="pres">
      <dgm:prSet presAssocID="{C1729B39-0775-41B1-B6AF-14E5B337321F}" presName="compNode" presStyleCnt="0"/>
      <dgm:spPr/>
    </dgm:pt>
    <dgm:pt modelId="{71C61558-EF46-4046-BB4C-563F812CB75D}" type="pres">
      <dgm:prSet presAssocID="{C1729B39-0775-41B1-B6AF-14E5B337321F}" presName="iconBgRect" presStyleLbl="bgShp" presStyleIdx="2" presStyleCnt="5"/>
      <dgm:spPr/>
    </dgm:pt>
    <dgm:pt modelId="{2163CA14-EBFD-451F-ACE2-006431D46BEE}" type="pres">
      <dgm:prSet presAssocID="{C1729B39-0775-41B1-B6AF-14E5B337321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B"/>
        </a:ext>
      </dgm:extLst>
    </dgm:pt>
    <dgm:pt modelId="{2EDC8229-F523-425A-B0EE-CF4C1568DAB1}" type="pres">
      <dgm:prSet presAssocID="{C1729B39-0775-41B1-B6AF-14E5B337321F}" presName="spaceRect" presStyleCnt="0"/>
      <dgm:spPr/>
    </dgm:pt>
    <dgm:pt modelId="{21DD00A7-89FC-46D2-B947-A8308E80C87B}" type="pres">
      <dgm:prSet presAssocID="{C1729B39-0775-41B1-B6AF-14E5B337321F}" presName="textRect" presStyleLbl="revTx" presStyleIdx="2" presStyleCnt="5">
        <dgm:presLayoutVars>
          <dgm:chMax val="1"/>
          <dgm:chPref val="1"/>
        </dgm:presLayoutVars>
      </dgm:prSet>
      <dgm:spPr/>
    </dgm:pt>
    <dgm:pt modelId="{1ED528AA-211B-4C21-89DE-1F68EF2ED3E3}" type="pres">
      <dgm:prSet presAssocID="{24E346C3-7BB5-4531-B56A-85027448933D}" presName="sibTrans" presStyleLbl="sibTrans2D1" presStyleIdx="0" presStyleCnt="0"/>
      <dgm:spPr/>
    </dgm:pt>
    <dgm:pt modelId="{C2F3C226-30B7-44C6-BF9E-200781D2AEC4}" type="pres">
      <dgm:prSet presAssocID="{394D9BD5-FD95-4A43-90E3-2E40ED7C2F63}" presName="compNode" presStyleCnt="0"/>
      <dgm:spPr/>
    </dgm:pt>
    <dgm:pt modelId="{EBB5547E-4153-4B94-9DDC-E09EA2F63666}" type="pres">
      <dgm:prSet presAssocID="{394D9BD5-FD95-4A43-90E3-2E40ED7C2F63}" presName="iconBgRect" presStyleLbl="bgShp" presStyleIdx="3" presStyleCnt="5"/>
      <dgm:spPr/>
    </dgm:pt>
    <dgm:pt modelId="{D02B6B65-C0B8-4EB5-9FD4-58525F340EC5}" type="pres">
      <dgm:prSet presAssocID="{394D9BD5-FD95-4A43-90E3-2E40ED7C2F6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D7D0E6F8-37B2-4A4E-AF5C-AD5883AFB228}" type="pres">
      <dgm:prSet presAssocID="{394D9BD5-FD95-4A43-90E3-2E40ED7C2F63}" presName="spaceRect" presStyleCnt="0"/>
      <dgm:spPr/>
    </dgm:pt>
    <dgm:pt modelId="{9EFFCF7A-CDE7-48E7-87F8-CF441D7873E8}" type="pres">
      <dgm:prSet presAssocID="{394D9BD5-FD95-4A43-90E3-2E40ED7C2F63}" presName="textRect" presStyleLbl="revTx" presStyleIdx="3" presStyleCnt="5">
        <dgm:presLayoutVars>
          <dgm:chMax val="1"/>
          <dgm:chPref val="1"/>
        </dgm:presLayoutVars>
      </dgm:prSet>
      <dgm:spPr/>
    </dgm:pt>
    <dgm:pt modelId="{1A61492C-AC3F-4B9B-9C58-728D7DFB0F6D}" type="pres">
      <dgm:prSet presAssocID="{2FFA1B6E-86AF-4A54-A0B5-5A98DF017130}" presName="sibTrans" presStyleLbl="sibTrans2D1" presStyleIdx="0" presStyleCnt="0"/>
      <dgm:spPr/>
    </dgm:pt>
    <dgm:pt modelId="{7F8D646E-468E-47E6-9239-092154CF6ACE}" type="pres">
      <dgm:prSet presAssocID="{827FC15C-A2AE-4CAB-A536-BD6606CEBFA0}" presName="compNode" presStyleCnt="0"/>
      <dgm:spPr/>
    </dgm:pt>
    <dgm:pt modelId="{874B8BF9-2557-42E6-8FA1-DD10E885F1EA}" type="pres">
      <dgm:prSet presAssocID="{827FC15C-A2AE-4CAB-A536-BD6606CEBFA0}" presName="iconBgRect" presStyleLbl="bgShp" presStyleIdx="4" presStyleCnt="5"/>
      <dgm:spPr/>
    </dgm:pt>
    <dgm:pt modelId="{66B78472-6C3C-4708-BA07-8CFB859AFBA5}" type="pres">
      <dgm:prSet presAssocID="{827FC15C-A2AE-4CAB-A536-BD6606CEBFA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Link"/>
        </a:ext>
      </dgm:extLst>
    </dgm:pt>
    <dgm:pt modelId="{60FE06F0-CFAB-44CA-8137-F16FEFD8BC63}" type="pres">
      <dgm:prSet presAssocID="{827FC15C-A2AE-4CAB-A536-BD6606CEBFA0}" presName="spaceRect" presStyleCnt="0"/>
      <dgm:spPr/>
    </dgm:pt>
    <dgm:pt modelId="{79C79BF7-6539-496D-812C-7D03A14C5BDD}" type="pres">
      <dgm:prSet presAssocID="{827FC15C-A2AE-4CAB-A536-BD6606CEBFA0}" presName="textRect" presStyleLbl="revTx" presStyleIdx="4" presStyleCnt="5">
        <dgm:presLayoutVars>
          <dgm:chMax val="1"/>
          <dgm:chPref val="1"/>
        </dgm:presLayoutVars>
      </dgm:prSet>
      <dgm:spPr/>
    </dgm:pt>
  </dgm:ptLst>
  <dgm:cxnLst>
    <dgm:cxn modelId="{4D5CA11E-B811-43BB-B968-B8638BCD981F}" type="presOf" srcId="{84D89D2E-56E1-4EAA-8029-1AB22C770C29}" destId="{C883503E-7CC4-4A42-9709-20700F849D0F}" srcOrd="0" destOrd="0" presId="urn:microsoft.com/office/officeart/2018/2/layout/IconCircleList"/>
    <dgm:cxn modelId="{2F338936-1F79-44FE-88F7-A04F262546B0}" type="presOf" srcId="{2FFA1B6E-86AF-4A54-A0B5-5A98DF017130}" destId="{1A61492C-AC3F-4B9B-9C58-728D7DFB0F6D}" srcOrd="0" destOrd="0" presId="urn:microsoft.com/office/officeart/2018/2/layout/IconCircleList"/>
    <dgm:cxn modelId="{6E4B053A-D6A9-48A7-B490-506E0A3A892B}" srcId="{BF623A8A-B071-4BE6-9E20-E3E3CFCD6A9A}" destId="{EA681F89-49B2-44F0-AE67-2EA04EBA2449}" srcOrd="0" destOrd="0" parTransId="{0B42522F-6A39-4629-82F3-144CD9279F23}" sibTransId="{BB32911A-40F1-4142-9CEA-50ABFDA6A81D}"/>
    <dgm:cxn modelId="{9C587A5C-40BA-4B4E-94C8-3ADA5DEF54F8}" srcId="{BF623A8A-B071-4BE6-9E20-E3E3CFCD6A9A}" destId="{394D9BD5-FD95-4A43-90E3-2E40ED7C2F63}" srcOrd="3" destOrd="0" parTransId="{E5D3E5C7-3B2D-4A16-8B77-E2A87B3EFB6F}" sibTransId="{2FFA1B6E-86AF-4A54-A0B5-5A98DF017130}"/>
    <dgm:cxn modelId="{3608275F-F9DD-49FA-9BF2-A92DA8DD4D6E}" type="presOf" srcId="{BB32911A-40F1-4142-9CEA-50ABFDA6A81D}" destId="{6147B1C4-B881-4243-BD3D-1210F27E97B0}" srcOrd="0" destOrd="0" presId="urn:microsoft.com/office/officeart/2018/2/layout/IconCircleList"/>
    <dgm:cxn modelId="{29A64B62-90F7-433F-ACA5-F5AF1034EDC9}" type="presOf" srcId="{BF623A8A-B071-4BE6-9E20-E3E3CFCD6A9A}" destId="{F0FC1B94-DD4A-42C1-AFCB-8272C2E35229}" srcOrd="0" destOrd="0" presId="urn:microsoft.com/office/officeart/2018/2/layout/IconCircleList"/>
    <dgm:cxn modelId="{02905644-C49F-4015-96A0-F978E2EEC601}" type="presOf" srcId="{827FC15C-A2AE-4CAB-A536-BD6606CEBFA0}" destId="{79C79BF7-6539-496D-812C-7D03A14C5BDD}" srcOrd="0" destOrd="0" presId="urn:microsoft.com/office/officeart/2018/2/layout/IconCircleList"/>
    <dgm:cxn modelId="{A9962E75-97F6-4585-8D15-7070606A8F16}" type="presOf" srcId="{24E346C3-7BB5-4531-B56A-85027448933D}" destId="{1ED528AA-211B-4C21-89DE-1F68EF2ED3E3}" srcOrd="0" destOrd="0" presId="urn:microsoft.com/office/officeart/2018/2/layout/IconCircleList"/>
    <dgm:cxn modelId="{04A0839C-A33F-4BA1-A598-C10845E522FC}" srcId="{BF623A8A-B071-4BE6-9E20-E3E3CFCD6A9A}" destId="{84D89D2E-56E1-4EAA-8029-1AB22C770C29}" srcOrd="1" destOrd="0" parTransId="{818EA938-BF3E-45A4-B6F3-412D7398A9F7}" sibTransId="{8ABEA128-9C4E-4264-BCCE-4C41B504923D}"/>
    <dgm:cxn modelId="{317A7AA9-FF7F-460D-96FA-4C36EECEDE14}" type="presOf" srcId="{EA681F89-49B2-44F0-AE67-2EA04EBA2449}" destId="{C97CCD7D-4D85-4883-871B-5B8CC4C0B9F1}" srcOrd="0" destOrd="0" presId="urn:microsoft.com/office/officeart/2018/2/layout/IconCircleList"/>
    <dgm:cxn modelId="{CA8AEFC5-C1CD-4EDF-9557-B2134B6B0C86}" srcId="{BF623A8A-B071-4BE6-9E20-E3E3CFCD6A9A}" destId="{C1729B39-0775-41B1-B6AF-14E5B337321F}" srcOrd="2" destOrd="0" parTransId="{E05B9C42-1B1F-47D4-87AE-5C39F47CADE6}" sibTransId="{24E346C3-7BB5-4531-B56A-85027448933D}"/>
    <dgm:cxn modelId="{183A0DDD-E599-4D7F-BBB1-504FDA6A7D6A}" type="presOf" srcId="{394D9BD5-FD95-4A43-90E3-2E40ED7C2F63}" destId="{9EFFCF7A-CDE7-48E7-87F8-CF441D7873E8}" srcOrd="0" destOrd="0" presId="urn:microsoft.com/office/officeart/2018/2/layout/IconCircleList"/>
    <dgm:cxn modelId="{40A0BDDD-D1BD-4CB6-BA1C-A81FED90596D}" srcId="{BF623A8A-B071-4BE6-9E20-E3E3CFCD6A9A}" destId="{827FC15C-A2AE-4CAB-A536-BD6606CEBFA0}" srcOrd="4" destOrd="0" parTransId="{B8AEB407-9EC7-49F3-A41C-58A7AB9E0511}" sibTransId="{5472D6E8-E8BC-447B-B015-A746DAB13F2B}"/>
    <dgm:cxn modelId="{C61D25EA-5442-4668-A4D8-52053ACF8967}" type="presOf" srcId="{C1729B39-0775-41B1-B6AF-14E5B337321F}" destId="{21DD00A7-89FC-46D2-B947-A8308E80C87B}" srcOrd="0" destOrd="0" presId="urn:microsoft.com/office/officeart/2018/2/layout/IconCircleList"/>
    <dgm:cxn modelId="{F7BE09F9-5D2D-44D4-B77E-2927622E0A22}" type="presOf" srcId="{8ABEA128-9C4E-4264-BCCE-4C41B504923D}" destId="{80E30988-C26D-4A8D-BECF-99645772D6A7}" srcOrd="0" destOrd="0" presId="urn:microsoft.com/office/officeart/2018/2/layout/IconCircleList"/>
    <dgm:cxn modelId="{6EE87BC2-998F-4FE2-9108-1B0B284F5653}" type="presParOf" srcId="{F0FC1B94-DD4A-42C1-AFCB-8272C2E35229}" destId="{34863728-B89E-4F66-8E17-9B1BF96DCB49}" srcOrd="0" destOrd="0" presId="urn:microsoft.com/office/officeart/2018/2/layout/IconCircleList"/>
    <dgm:cxn modelId="{D0A83BDD-9AF2-414E-AE59-1DC50A645B4B}" type="presParOf" srcId="{34863728-B89E-4F66-8E17-9B1BF96DCB49}" destId="{77E2BF46-2E3C-4F7F-9721-787CDDDBAFCA}" srcOrd="0" destOrd="0" presId="urn:microsoft.com/office/officeart/2018/2/layout/IconCircleList"/>
    <dgm:cxn modelId="{BC00BBC7-8486-4FE6-A041-1F3D857FF4EA}" type="presParOf" srcId="{77E2BF46-2E3C-4F7F-9721-787CDDDBAFCA}" destId="{CF4163A2-AD23-42DE-A86A-3B4282F8FBDA}" srcOrd="0" destOrd="0" presId="urn:microsoft.com/office/officeart/2018/2/layout/IconCircleList"/>
    <dgm:cxn modelId="{EC8266BC-4760-4AD4-A558-682FAF55DF43}" type="presParOf" srcId="{77E2BF46-2E3C-4F7F-9721-787CDDDBAFCA}" destId="{492205F2-706F-42FF-8E7A-FA0DE0E32205}" srcOrd="1" destOrd="0" presId="urn:microsoft.com/office/officeart/2018/2/layout/IconCircleList"/>
    <dgm:cxn modelId="{D4BAED2C-B68D-4C95-8531-17AF13B0A5C7}" type="presParOf" srcId="{77E2BF46-2E3C-4F7F-9721-787CDDDBAFCA}" destId="{F2A0A6B7-D0DA-490B-BA1B-4D9FE09195DA}" srcOrd="2" destOrd="0" presId="urn:microsoft.com/office/officeart/2018/2/layout/IconCircleList"/>
    <dgm:cxn modelId="{33059A28-CBBC-4A4C-9ABC-98191C6E78C8}" type="presParOf" srcId="{77E2BF46-2E3C-4F7F-9721-787CDDDBAFCA}" destId="{C97CCD7D-4D85-4883-871B-5B8CC4C0B9F1}" srcOrd="3" destOrd="0" presId="urn:microsoft.com/office/officeart/2018/2/layout/IconCircleList"/>
    <dgm:cxn modelId="{92B8A8AD-4F7C-45EB-A5C7-8340323FAA91}" type="presParOf" srcId="{34863728-B89E-4F66-8E17-9B1BF96DCB49}" destId="{6147B1C4-B881-4243-BD3D-1210F27E97B0}" srcOrd="1" destOrd="0" presId="urn:microsoft.com/office/officeart/2018/2/layout/IconCircleList"/>
    <dgm:cxn modelId="{42F584E8-B260-41D1-BCC3-9C7857CFC3E0}" type="presParOf" srcId="{34863728-B89E-4F66-8E17-9B1BF96DCB49}" destId="{961ADF87-931D-4BB5-8BB4-CAE38B05BB0D}" srcOrd="2" destOrd="0" presId="urn:microsoft.com/office/officeart/2018/2/layout/IconCircleList"/>
    <dgm:cxn modelId="{4CF523FC-210C-409F-897C-4785664D91A1}" type="presParOf" srcId="{961ADF87-931D-4BB5-8BB4-CAE38B05BB0D}" destId="{12FC6ABB-5E04-4001-89A5-FAAACFA03EAD}" srcOrd="0" destOrd="0" presId="urn:microsoft.com/office/officeart/2018/2/layout/IconCircleList"/>
    <dgm:cxn modelId="{9BBB349C-71A5-4605-96F8-D7F4D9AC71B4}" type="presParOf" srcId="{961ADF87-931D-4BB5-8BB4-CAE38B05BB0D}" destId="{0DD008A9-A067-43ED-9453-9345D465295B}" srcOrd="1" destOrd="0" presId="urn:microsoft.com/office/officeart/2018/2/layout/IconCircleList"/>
    <dgm:cxn modelId="{527874C8-2F03-4AED-A736-B5942E010E89}" type="presParOf" srcId="{961ADF87-931D-4BB5-8BB4-CAE38B05BB0D}" destId="{F340FEFB-E283-4436-9384-C243D3F40A37}" srcOrd="2" destOrd="0" presId="urn:microsoft.com/office/officeart/2018/2/layout/IconCircleList"/>
    <dgm:cxn modelId="{AD4FAC3B-C2CE-4977-8D1F-9D92FDD2D99D}" type="presParOf" srcId="{961ADF87-931D-4BB5-8BB4-CAE38B05BB0D}" destId="{C883503E-7CC4-4A42-9709-20700F849D0F}" srcOrd="3" destOrd="0" presId="urn:microsoft.com/office/officeart/2018/2/layout/IconCircleList"/>
    <dgm:cxn modelId="{18B062B5-6462-4AD8-898F-CB2AFE6B72D0}" type="presParOf" srcId="{34863728-B89E-4F66-8E17-9B1BF96DCB49}" destId="{80E30988-C26D-4A8D-BECF-99645772D6A7}" srcOrd="3" destOrd="0" presId="urn:microsoft.com/office/officeart/2018/2/layout/IconCircleList"/>
    <dgm:cxn modelId="{A2F04163-5A8E-4298-853B-D3F25E523269}" type="presParOf" srcId="{34863728-B89E-4F66-8E17-9B1BF96DCB49}" destId="{68CD458F-75AE-4E5A-9355-F845548AB277}" srcOrd="4" destOrd="0" presId="urn:microsoft.com/office/officeart/2018/2/layout/IconCircleList"/>
    <dgm:cxn modelId="{8424CFF5-88BC-472C-A3ED-EA2D2C845682}" type="presParOf" srcId="{68CD458F-75AE-4E5A-9355-F845548AB277}" destId="{71C61558-EF46-4046-BB4C-563F812CB75D}" srcOrd="0" destOrd="0" presId="urn:microsoft.com/office/officeart/2018/2/layout/IconCircleList"/>
    <dgm:cxn modelId="{59606030-87D1-4CFC-A449-94DC2EFF5EC5}" type="presParOf" srcId="{68CD458F-75AE-4E5A-9355-F845548AB277}" destId="{2163CA14-EBFD-451F-ACE2-006431D46BEE}" srcOrd="1" destOrd="0" presId="urn:microsoft.com/office/officeart/2018/2/layout/IconCircleList"/>
    <dgm:cxn modelId="{2977B9A6-E00C-432D-A19C-B30D4BBD36EF}" type="presParOf" srcId="{68CD458F-75AE-4E5A-9355-F845548AB277}" destId="{2EDC8229-F523-425A-B0EE-CF4C1568DAB1}" srcOrd="2" destOrd="0" presId="urn:microsoft.com/office/officeart/2018/2/layout/IconCircleList"/>
    <dgm:cxn modelId="{553CBA15-14A4-4715-8085-D013E379FC22}" type="presParOf" srcId="{68CD458F-75AE-4E5A-9355-F845548AB277}" destId="{21DD00A7-89FC-46D2-B947-A8308E80C87B}" srcOrd="3" destOrd="0" presId="urn:microsoft.com/office/officeart/2018/2/layout/IconCircleList"/>
    <dgm:cxn modelId="{3B556362-DE25-46AB-8B52-9524402DF97A}" type="presParOf" srcId="{34863728-B89E-4F66-8E17-9B1BF96DCB49}" destId="{1ED528AA-211B-4C21-89DE-1F68EF2ED3E3}" srcOrd="5" destOrd="0" presId="urn:microsoft.com/office/officeart/2018/2/layout/IconCircleList"/>
    <dgm:cxn modelId="{C7321ADE-47B9-4386-A26A-1C5E5F5603AB}" type="presParOf" srcId="{34863728-B89E-4F66-8E17-9B1BF96DCB49}" destId="{C2F3C226-30B7-44C6-BF9E-200781D2AEC4}" srcOrd="6" destOrd="0" presId="urn:microsoft.com/office/officeart/2018/2/layout/IconCircleList"/>
    <dgm:cxn modelId="{7D1DED9E-167F-44F4-8B6A-F59A4D131C66}" type="presParOf" srcId="{C2F3C226-30B7-44C6-BF9E-200781D2AEC4}" destId="{EBB5547E-4153-4B94-9DDC-E09EA2F63666}" srcOrd="0" destOrd="0" presId="urn:microsoft.com/office/officeart/2018/2/layout/IconCircleList"/>
    <dgm:cxn modelId="{F1ADE7A4-3CFA-4364-B6D1-77ABBF2DF9F5}" type="presParOf" srcId="{C2F3C226-30B7-44C6-BF9E-200781D2AEC4}" destId="{D02B6B65-C0B8-4EB5-9FD4-58525F340EC5}" srcOrd="1" destOrd="0" presId="urn:microsoft.com/office/officeart/2018/2/layout/IconCircleList"/>
    <dgm:cxn modelId="{16E15E53-4992-41AF-9987-65D5166DB3AB}" type="presParOf" srcId="{C2F3C226-30B7-44C6-BF9E-200781D2AEC4}" destId="{D7D0E6F8-37B2-4A4E-AF5C-AD5883AFB228}" srcOrd="2" destOrd="0" presId="urn:microsoft.com/office/officeart/2018/2/layout/IconCircleList"/>
    <dgm:cxn modelId="{329F8C81-5042-42C7-B8B3-441FEAE9B00F}" type="presParOf" srcId="{C2F3C226-30B7-44C6-BF9E-200781D2AEC4}" destId="{9EFFCF7A-CDE7-48E7-87F8-CF441D7873E8}" srcOrd="3" destOrd="0" presId="urn:microsoft.com/office/officeart/2018/2/layout/IconCircleList"/>
    <dgm:cxn modelId="{386AF2CA-9369-4F06-8B50-13FE6F053DE4}" type="presParOf" srcId="{34863728-B89E-4F66-8E17-9B1BF96DCB49}" destId="{1A61492C-AC3F-4B9B-9C58-728D7DFB0F6D}" srcOrd="7" destOrd="0" presId="urn:microsoft.com/office/officeart/2018/2/layout/IconCircleList"/>
    <dgm:cxn modelId="{312DBA99-EBFE-4F11-90B4-F0C6E9CC8F64}" type="presParOf" srcId="{34863728-B89E-4F66-8E17-9B1BF96DCB49}" destId="{7F8D646E-468E-47E6-9239-092154CF6ACE}" srcOrd="8" destOrd="0" presId="urn:microsoft.com/office/officeart/2018/2/layout/IconCircleList"/>
    <dgm:cxn modelId="{EA0F4576-CB5A-45C1-AB8C-D1CD968435DB}" type="presParOf" srcId="{7F8D646E-468E-47E6-9239-092154CF6ACE}" destId="{874B8BF9-2557-42E6-8FA1-DD10E885F1EA}" srcOrd="0" destOrd="0" presId="urn:microsoft.com/office/officeart/2018/2/layout/IconCircleList"/>
    <dgm:cxn modelId="{E789C620-9634-4122-A1A9-C550CADA7986}" type="presParOf" srcId="{7F8D646E-468E-47E6-9239-092154CF6ACE}" destId="{66B78472-6C3C-4708-BA07-8CFB859AFBA5}" srcOrd="1" destOrd="0" presId="urn:microsoft.com/office/officeart/2018/2/layout/IconCircleList"/>
    <dgm:cxn modelId="{F63FB949-80D4-4BD5-A00C-7A042547C2F8}" type="presParOf" srcId="{7F8D646E-468E-47E6-9239-092154CF6ACE}" destId="{60FE06F0-CFAB-44CA-8137-F16FEFD8BC63}" srcOrd="2" destOrd="0" presId="urn:microsoft.com/office/officeart/2018/2/layout/IconCircleList"/>
    <dgm:cxn modelId="{B45CC528-40DD-4B78-A1D2-4F713DAEE088}" type="presParOf" srcId="{7F8D646E-468E-47E6-9239-092154CF6ACE}" destId="{79C79BF7-6539-496D-812C-7D03A14C5BD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4163A2-AD23-42DE-A86A-3B4282F8FBDA}">
      <dsp:nvSpPr>
        <dsp:cNvPr id="0" name=""/>
        <dsp:cNvSpPr/>
      </dsp:nvSpPr>
      <dsp:spPr>
        <a:xfrm>
          <a:off x="669474" y="76405"/>
          <a:ext cx="1031947" cy="103194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2205F2-706F-42FF-8E7A-FA0DE0E32205}">
      <dsp:nvSpPr>
        <dsp:cNvPr id="0" name=""/>
        <dsp:cNvSpPr/>
      </dsp:nvSpPr>
      <dsp:spPr>
        <a:xfrm>
          <a:off x="886183" y="293114"/>
          <a:ext cx="598529" cy="5985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7CCD7D-4D85-4883-871B-5B8CC4C0B9F1}">
      <dsp:nvSpPr>
        <dsp:cNvPr id="0" name=""/>
        <dsp:cNvSpPr/>
      </dsp:nvSpPr>
      <dsp:spPr>
        <a:xfrm>
          <a:off x="1922554" y="76405"/>
          <a:ext cx="2432448" cy="1031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Why we're doing it this way</a:t>
          </a:r>
        </a:p>
      </dsp:txBody>
      <dsp:txXfrm>
        <a:off x="1922554" y="76405"/>
        <a:ext cx="2432448" cy="1031947"/>
      </dsp:txXfrm>
    </dsp:sp>
    <dsp:sp modelId="{12FC6ABB-5E04-4001-89A5-FAAACFA03EAD}">
      <dsp:nvSpPr>
        <dsp:cNvPr id="0" name=""/>
        <dsp:cNvSpPr/>
      </dsp:nvSpPr>
      <dsp:spPr>
        <a:xfrm>
          <a:off x="4778837" y="76405"/>
          <a:ext cx="1031947" cy="103194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D008A9-A067-43ED-9453-9345D465295B}">
      <dsp:nvSpPr>
        <dsp:cNvPr id="0" name=""/>
        <dsp:cNvSpPr/>
      </dsp:nvSpPr>
      <dsp:spPr>
        <a:xfrm>
          <a:off x="4995546" y="293114"/>
          <a:ext cx="598529" cy="5985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83503E-7CC4-4A42-9709-20700F849D0F}">
      <dsp:nvSpPr>
        <dsp:cNvPr id="0" name=""/>
        <dsp:cNvSpPr/>
      </dsp:nvSpPr>
      <dsp:spPr>
        <a:xfrm>
          <a:off x="6031917" y="76405"/>
          <a:ext cx="2432448" cy="1031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No install:</a:t>
          </a:r>
          <a:r>
            <a:rPr lang="en-US" sz="1100" kern="1200"/>
            <a:t> people scan a QR code or tap a link and play within seconds.</a:t>
          </a:r>
        </a:p>
      </dsp:txBody>
      <dsp:txXfrm>
        <a:off x="6031917" y="76405"/>
        <a:ext cx="2432448" cy="1031947"/>
      </dsp:txXfrm>
    </dsp:sp>
    <dsp:sp modelId="{71C61558-EF46-4046-BB4C-563F812CB75D}">
      <dsp:nvSpPr>
        <dsp:cNvPr id="0" name=""/>
        <dsp:cNvSpPr/>
      </dsp:nvSpPr>
      <dsp:spPr>
        <a:xfrm>
          <a:off x="669474" y="1945127"/>
          <a:ext cx="1031947" cy="103194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63CA14-EBFD-451F-ACE2-006431D46BEE}">
      <dsp:nvSpPr>
        <dsp:cNvPr id="0" name=""/>
        <dsp:cNvSpPr/>
      </dsp:nvSpPr>
      <dsp:spPr>
        <a:xfrm>
          <a:off x="886183" y="2161836"/>
          <a:ext cx="598529" cy="5985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DD00A7-89FC-46D2-B947-A8308E80C87B}">
      <dsp:nvSpPr>
        <dsp:cNvPr id="0" name=""/>
        <dsp:cNvSpPr/>
      </dsp:nvSpPr>
      <dsp:spPr>
        <a:xfrm>
          <a:off x="1922554" y="1945127"/>
          <a:ext cx="2432448" cy="1031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One build, many devices:</a:t>
          </a:r>
          <a:r>
            <a:rPr lang="en-US" sz="1100" kern="1200"/>
            <a:t> the same build works on laptops and phones, so there's no separate Android and iPhone build.</a:t>
          </a:r>
        </a:p>
      </dsp:txBody>
      <dsp:txXfrm>
        <a:off x="1922554" y="1945127"/>
        <a:ext cx="2432448" cy="1031947"/>
      </dsp:txXfrm>
    </dsp:sp>
    <dsp:sp modelId="{EBB5547E-4153-4B94-9DDC-E09EA2F63666}">
      <dsp:nvSpPr>
        <dsp:cNvPr id="0" name=""/>
        <dsp:cNvSpPr/>
      </dsp:nvSpPr>
      <dsp:spPr>
        <a:xfrm>
          <a:off x="4778837" y="1945127"/>
          <a:ext cx="1031947" cy="103194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B6B65-C0B8-4EB5-9FD4-58525F340EC5}">
      <dsp:nvSpPr>
        <dsp:cNvPr id="0" name=""/>
        <dsp:cNvSpPr/>
      </dsp:nvSpPr>
      <dsp:spPr>
        <a:xfrm>
          <a:off x="4995546" y="2161836"/>
          <a:ext cx="598529" cy="5985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FFCF7A-CDE7-48E7-87F8-CF441D7873E8}">
      <dsp:nvSpPr>
        <dsp:cNvPr id="0" name=""/>
        <dsp:cNvSpPr/>
      </dsp:nvSpPr>
      <dsp:spPr>
        <a:xfrm>
          <a:off x="6031917" y="1945127"/>
          <a:ext cx="2432448" cy="1031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Easy to demo:</a:t>
          </a:r>
          <a:r>
            <a:rPr lang="en-US" sz="1100" kern="1200"/>
            <a:t> the QR code on your poster points straight at the game.</a:t>
          </a:r>
        </a:p>
      </dsp:txBody>
      <dsp:txXfrm>
        <a:off x="6031917" y="1945127"/>
        <a:ext cx="2432448" cy="1031947"/>
      </dsp:txXfrm>
    </dsp:sp>
    <dsp:sp modelId="{874B8BF9-2557-42E6-8FA1-DD10E885F1EA}">
      <dsp:nvSpPr>
        <dsp:cNvPr id="0" name=""/>
        <dsp:cNvSpPr/>
      </dsp:nvSpPr>
      <dsp:spPr>
        <a:xfrm>
          <a:off x="669474" y="3813849"/>
          <a:ext cx="1031947" cy="103194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B78472-6C3C-4708-BA07-8CFB859AFBA5}">
      <dsp:nvSpPr>
        <dsp:cNvPr id="0" name=""/>
        <dsp:cNvSpPr/>
      </dsp:nvSpPr>
      <dsp:spPr>
        <a:xfrm>
          <a:off x="886183" y="4030558"/>
          <a:ext cx="598529" cy="5985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9C79BF7-6539-496D-812C-7D03A14C5BDD}">
      <dsp:nvSpPr>
        <dsp:cNvPr id="0" name=""/>
        <dsp:cNvSpPr/>
      </dsp:nvSpPr>
      <dsp:spPr>
        <a:xfrm>
          <a:off x="1922554" y="3813849"/>
          <a:ext cx="2432448" cy="1031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Easy to update:</a:t>
          </a:r>
          <a:r>
            <a:rPr lang="en-US" sz="1100" kern="1200"/>
            <a:t> push a new build to the same link, and everyone gets the latest version.</a:t>
          </a:r>
          <a:br>
            <a:rPr lang="en-US" sz="1100" kern="1200"/>
          </a:br>
          <a:br>
            <a:rPr lang="en-US" sz="1100" kern="1200"/>
          </a:br>
          <a:r>
            <a:rPr lang="en-US" sz="1100" kern="1200"/>
            <a:t>Every team will be needing this for their final demo.</a:t>
          </a:r>
        </a:p>
      </dsp:txBody>
      <dsp:txXfrm>
        <a:off x="1922554" y="3813849"/>
        <a:ext cx="2432448" cy="103194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434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"Welcome to TL6's first lecture. Here's how to think about our whole role on the team: TL6 owns everything that happens when your work stops being a comfortable thing on your own machine and has to survive out in the real world - a real build, a real device, a real audience. We're the leaves-the-nest role.</a:t>
            </a:r>
          </a:p>
          <a:p>
            <a:endParaRPr/>
          </a:p>
          <a:p>
            <a:r>
              <a:t>That's two lectures. Today, L1, we get your work READY to leave the nest: we measure whether it can survive a phone, and we harden it so a demo can't humiliate you. In L2, a few weeks from now, it actually leaves - we deploy to the phone with real controls, and you show it off. Today is measure and harden."</a:t>
            </a:r>
          </a:p>
          <a:p>
            <a:endParaRPr/>
          </a:p>
          <a:p>
            <a:r>
              <a:t>[Then a short intro.]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TL6 cohort up front; names.]</a:t>
            </a:r>
          </a:p>
          <a:p>
            <a:endParaRPr/>
          </a:p>
          <a:p>
            <a:r>
              <a:t>"Quick introductions - and TL6 is a role you'll be leaning on in two different ways this semester, so it's worth knowing us.</a:t>
            </a:r>
          </a:p>
          <a:p>
            <a:endParaRPr/>
          </a:p>
          <a:p>
            <a:r>
              <a:t>[Each TL6 says name + team.]</a:t>
            </a:r>
          </a:p>
          <a:p>
            <a:endParaRPr/>
          </a:p>
          <a:p>
            <a:r>
              <a:t>"First, like every TL group, we're circulating to help during today's hands-on parts - reading a confusing profiler, diagnosing why a build failed, getting your game onto a phone. Grab us; helping you earns us support credit. Second - and this is unique to us - we're the ones who run tech support during the live demos later in the term. When something breaks mid-presentation, a TL6 is the calm person who fixes it. So we're the deployment-and-disaster crew. Today's the deployment half."]</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hour. First, a bit about how deployment breaks and how to read a failure - because a build fails differently than code fails. Then the hands-on core: you'll profile your own feature and find out whether it could survive a phone, using the stress scene you built for TL3. I'll show you, live, how a build actually gets onto a phone. Then you'll break into your teams and do it for real - get one breaking point off an actual phone. And we'll finish by hardening your feature so it can't embarrass you in a demo.</a:t>
            </a:r>
          </a:p>
          <a:p>
            <a:endParaRPr/>
          </a:p>
          <a:p>
            <a:r>
              <a:t>Two things to know up front. One: CI - the automated testing on every commit - that's TL1's, and it's already running; we're not touching it. We own the OTHER half, CD: turning a green build into something a human can actually run. Two: your game isn't playable on a phone yet - no touch controls - but that's fine, because everything today either runs on your own machine or runs a self-driving test that needs no controls."]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Matteo Starting:</a:t>
            </a:r>
          </a:p>
          <a:p>
            <a:endParaRPr lang="en-US" dirty="0"/>
          </a:p>
          <a:p>
            <a:r>
              <a:rPr dirty="0"/>
              <a:t>Continuous Delivery means keeping software in a condition where the team can release it reliably when needed. In our class, TL1 already handles the CI </a:t>
            </a:r>
            <a:r>
              <a:rPr lang="en-US" dirty="0"/>
              <a:t>(continuous integration) process</a:t>
            </a:r>
            <a:r>
              <a:rPr dirty="0"/>
              <a:t>. Their checks tell us whether the code builds and whether the configured automated tests pass.</a:t>
            </a:r>
            <a:endParaRPr lang="en-US" dirty="0"/>
          </a:p>
          <a:p>
            <a:endParaRPr dirty="0"/>
          </a:p>
          <a:p>
            <a:r>
              <a:rPr dirty="0"/>
              <a:t>TL6 focuses on what happens to that passing code. We need a runnable build, evidence that it works on the device we plan to use, and a stable version for our demonstration. A green CI result is useful evidence, but it only covers the checks that the pipeline actually contains. Tests can miss a bug, and an Editor test might never exercise phone input or a hosted Web build.</a:t>
            </a:r>
          </a:p>
          <a:p>
            <a:endParaRPr dirty="0"/>
          </a:p>
          <a:p>
            <a:r>
              <a:rPr lang="en-US" dirty="0"/>
              <a:t>In team CDA's game Escape the 90s, for example, the</a:t>
            </a:r>
            <a:r>
              <a:rPr dirty="0"/>
              <a:t> movement code might pass its tests on a laptop. We still need to export the game and make sure another person can launch it and play it. That is the delivery problem we are discussing.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 simplified CD workflow after CI has passed. First, package the game for a specific target. The output is the actual build that someone will run. Next, deploy that build to a test environment. For us, that could mean a teammate's computer</a:t>
            </a:r>
            <a:r>
              <a:rPr lang="en-US"/>
              <a:t> or phone.</a:t>
            </a:r>
          </a:p>
          <a:p>
            <a:endParaRPr/>
          </a:p>
          <a:p>
            <a:r>
              <a:t>Then validate that exact build. Can it load the required scenes? Do the controls work? Does representative gameplay perform well on the target hardware? Some checks can run automatically, while human playtesting still adds useful evidence. If a check fails, we fix the problem and repeat the workflow.</a:t>
            </a:r>
          </a:p>
          <a:p>
            <a:endParaRPr/>
          </a:p>
          <a:p>
            <a:r>
              <a:t>Finally, keep the verified version available for release. The team can choose the release time instead of rebuilding in a panic immediately before a demonstration. A full CD pipeline automates the repeatable build and staging steps.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CD can stand for Continuous Delivery or Continuous Deployment, so it helps to distinguish them. Both can automate the work that prepares and tests an update. The difference is the final release gate.</a:t>
            </a:r>
          </a:p>
          <a:p>
            <a:endParaRPr/>
          </a:p>
          <a:p>
            <a:r>
              <a:t>With Continuous Delivery, the verified update is ready, but a person or team chooses when to make it available to users. With Continuous Deployment, every update that passes the required checks goes live automatically. There is no separate manual release approval.</a:t>
            </a:r>
          </a:p>
          <a:p>
            <a:endParaRPr/>
          </a:p>
          <a:p>
            <a:r>
              <a:t>For this class, a useful goal is having a verified playable build whenever we need to demonstrate the game. We can still choose which version to show and when to publish it. We do not have to release every passing change immediately to apply Continuous Delivery principles</a:t>
            </a:r>
            <a:r>
              <a:rPr lang="en-US"/>
              <a: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connect the idea to our Unity games. First, export a build for the target platform and include the scenes that the demonstration needs. Running the project in the Editor is a useful development check, but the exported game is the product that our audience will use.</a:t>
            </a:r>
          </a:p>
          <a:p>
            <a:endParaRPr dirty="0"/>
          </a:p>
          <a:p>
            <a:r>
              <a:rPr dirty="0"/>
              <a:t>Second, open that build outside the Editor. Try it on another computer or phone so that we can discover assumptions tied to our development machine.</a:t>
            </a:r>
            <a:endParaRPr lang="en-US" dirty="0"/>
          </a:p>
          <a:p>
            <a:endParaRPr dirty="0"/>
          </a:p>
          <a:p>
            <a:r>
              <a:rPr dirty="0"/>
              <a:t>Third, test the experience. Check movement and other core controls, scene loading, and performance during representative gameplay. Use frame time and profiling evidence from the target device when available. Phone input needs special attention because keyboard controls alone do not give a touchscreen player a way to move.</a:t>
            </a:r>
          </a:p>
          <a:p>
            <a:endParaRPr dirty="0"/>
          </a:p>
          <a:p>
            <a:r>
              <a:rPr dirty="0"/>
              <a:t>Finally, label the tested build and the commit it came from, and retain a verified backup. That gives us a specific version we can demonstrate and a way to recover if a newer build causes trouble.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proposed checklist </a:t>
            </a:r>
            <a:r>
              <a:rPr lang="en-US"/>
              <a:t>made specifically for our class. It</a:t>
            </a:r>
            <a:r>
              <a:t> makes release readiness something we can actually test. Start with launch: can a teammate open the exported build on the device we plan to use? Then try the core gameplay and the controls for that platform.</a:t>
            </a:r>
          </a:p>
          <a:p>
            <a:endParaRPr/>
          </a:p>
          <a:p>
            <a:r>
              <a:t>Next, visit the scenes needed for the demonstration and check that the expected assets load. Measure representative gameplay against a performance target that the team has chosen. We should set that target for our actual device and game instead of inventing one universal FPS number.</a:t>
            </a:r>
          </a:p>
          <a:p>
            <a:endParaRPr/>
          </a:p>
          <a:p>
            <a:r>
              <a:t>Also check the audience's access path. If we use a hosted link or a QR code, have another person open it and confirm that it reaches the correct version. Keep a verified backup build available so we can return to a working version if needed.</a:t>
            </a:r>
          </a:p>
          <a:p>
            <a:endParaRPr/>
          </a:p>
          <a:p>
            <a:r>
              <a:t>These are </a:t>
            </a:r>
            <a:r>
              <a:rPr lang="en-US"/>
              <a:t>just suggested</a:t>
            </a:r>
            <a:r>
              <a:t> acceptance criteria.</a:t>
            </a:r>
            <a:r>
              <a:rPr lang="en-US"/>
              <a:t> </a:t>
            </a:r>
            <a:r>
              <a:t>Once the team agrees on them, we have a clearer answer </a:t>
            </a:r>
            <a:r>
              <a:rPr lang="en-US"/>
              <a:t>as to</a:t>
            </a:r>
            <a:r>
              <a:t> whether the game is ready. </a:t>
            </a:r>
            <a:r>
              <a:rPr lang="en-US"/>
              <a:t>I will now be passing it off to </a:t>
            </a:r>
            <a:r>
              <a:rPr lang="en-US" err="1"/>
              <a:t>Rinab</a:t>
            </a:r>
            <a:r>
              <a:rPr lang="en-US"/>
              <a:t>, as the</a:t>
            </a:r>
            <a:r>
              <a:t> next section shows how to diagnose a build or deployment failure when one of these checks does not pass.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524000"/>
            <a:ext cx="5486400" cy="4114800"/>
          </a:xfrm>
        </p:spPr>
      </p:sp>
      <p:sp>
        <p:nvSpPr>
          <p:cNvPr id="3" name="Notes Placeholder 2"/>
          <p:cNvSpPr>
            <a:spLocks noGrp="1"/>
          </p:cNvSpPr>
          <p:nvPr>
            <p:ph type="body" idx="1"/>
          </p:nvPr>
        </p:nvSpPr>
        <p:spPr/>
        <p:txBody>
          <a:bodyPr/>
          <a:lstStyle/>
          <a:p>
            <a:r>
              <a:rPr lang="en-US"/>
              <a:t>Code fails one way: a test goes red. A BUILD fails differently, and the errors look scary until you know the handful of shapes they come in. Let me give you the map so you're not lost when it happens, and it will happen.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of the time Unity builds your game with no trouble. When it doesn't, it's almost always one of three things.
1. A missing reference or asset: something the editor had but the build couldn't find. The classic one is a scene that was never added to Build Profiles, or a file that never got committed to Git.
2. A compile error the editor was lenient about, like editor-only code that works when you press Play but not in a finished build.
3. Browser limits, which only apply to web builds. Some code that works on desktop, like multithreading or writing files, doesn't work in a browser.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skill is the same as reading a red test: don't panic, open the build log, and read from the TOP. The first error is usually the real one; everything after it is fallout. Match it to one of the three shapes, fix it, and rebuild.
One more thing for web builds: the Unity Console can show no errors and the game can still fail to load in the browser. Press F12 to open the browser's developer console and read the first red error there. A blank page often means index.html was opened straight from a folder, which browsers can block, so host it instead. If you get stuck, grab a TL6; that's exactly what we're for.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C74F8-58D8-F673-9CF5-6CD4A76CA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214F0-E8F6-587A-DD6B-5AD0989927E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E44095F-4825-7784-DA09-18456336915C}"/>
              </a:ext>
            </a:extLst>
          </p:cNvPr>
          <p:cNvSpPr>
            <a:spLocks noGrp="1"/>
          </p:cNvSpPr>
          <p:nvPr>
            <p:ph type="body" sz="quarter" idx="3"/>
          </p:nvPr>
        </p:nvSpPr>
        <p:spPr/>
        <p:txBody>
          <a:bodyPr/>
          <a:lstStyle/>
          <a:p>
            <a:r>
              <a:t>[SPOKEN — merges the original 'building for a phone' + 'APK not AAB' slides.]</a:t>
            </a:r>
          </a:p>
          <a:p>
            <a:endParaRPr/>
          </a:p>
          <a:p>
            <a:r>
              <a:t>"The mechanics. Unity builds to Android as a single installable file called an APK. You go to Build Profiles - older Unity calls it Build Settings - select Android, and Switch Platform. Set your Player Settings: company name, product name, version. Then Build, and Unity produces the .apk. That file IS your phone game.</a:t>
            </a:r>
          </a:p>
          <a:p>
            <a:endParaRPr/>
          </a:p>
          <a:p>
            <a:r>
              <a:t>One note: Unity builds an APK by default, and that's exactly what we want - an APK can be downloaded and side-loaded straight onto a phone. The Google Play store wants a different format called AAB, but we're not publishing to a store, just sharing a download link. Android 6 and up runs an APK, which covers essentially every phone in the room."]</a:t>
            </a:r>
          </a:p>
        </p:txBody>
      </p:sp>
      <p:sp>
        <p:nvSpPr>
          <p:cNvPr id="4" name="Slide Number Placeholder 3">
            <a:extLst>
              <a:ext uri="{FF2B5EF4-FFF2-40B4-BE49-F238E27FC236}">
                <a16:creationId xmlns:a16="http://schemas.microsoft.com/office/drawing/2014/main" id="{88A1090C-1468-FE91-E3F5-CC1A1ECF0D12}"/>
              </a:ext>
            </a:extLst>
          </p:cNvPr>
          <p:cNvSpPr>
            <a:spLocks noGrp="1"/>
          </p:cNvSpPr>
          <p:nvPr>
            <p:ph type="sldNum" sz="quarter" idx="5"/>
          </p:nvPr>
        </p:nvSpPr>
        <p:spPr/>
      </p:sp>
    </p:spTree>
    <p:extLst>
      <p:ext uri="{BB962C8B-B14F-4D97-AF65-F5344CB8AC3E}">
        <p14:creationId xmlns:p14="http://schemas.microsoft.com/office/powerpoint/2010/main" val="1977884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3F62D-92DC-77FB-A5F1-90F05F4E9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316F5-A1C5-FBB4-9CB9-AA39328B09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E1ED42C-13F0-E27A-3296-CE8083442BCE}"/>
              </a:ext>
            </a:extLst>
          </p:cNvPr>
          <p:cNvSpPr>
            <a:spLocks noGrp="1"/>
          </p:cNvSpPr>
          <p:nvPr>
            <p:ph type="body" sz="quarter" idx="3"/>
          </p:nvPr>
        </p:nvSpPr>
        <p:spPr/>
        <p:txBody>
          <a:bodyPr/>
          <a:lstStyle/>
          <a:p>
            <a:r>
              <a:t>[SPOKEN]</a:t>
            </a:r>
          </a:p>
          <a:p>
            <a:endParaRPr/>
          </a:p>
          <a:p>
            <a:r>
              <a:t>"Here's the honest reason some phone builds won't be ready, and why Leaves the Nest deliberately did NOT run the game on a phone yet. Your laptop game uses the keyboard - WASD, space, arrows. A phone has no keyboard. A touchscreen needs on-screen controls: buttons, a joystick, gestures. That's real extra work. If you don't add touch input, the APK installs and launches - but nobody can move. So plan for it early; it's the single thing most likely to leave a team's game un-playable at the demo."]</a:t>
            </a:r>
          </a:p>
        </p:txBody>
      </p:sp>
      <p:sp>
        <p:nvSpPr>
          <p:cNvPr id="4" name="Slide Number Placeholder 3">
            <a:extLst>
              <a:ext uri="{FF2B5EF4-FFF2-40B4-BE49-F238E27FC236}">
                <a16:creationId xmlns:a16="http://schemas.microsoft.com/office/drawing/2014/main" id="{E37B7667-FCCD-E8F9-324D-1FD396C89205}"/>
              </a:ext>
            </a:extLst>
          </p:cNvPr>
          <p:cNvSpPr>
            <a:spLocks noGrp="1"/>
          </p:cNvSpPr>
          <p:nvPr>
            <p:ph type="sldNum" sz="quarter" idx="5"/>
          </p:nvPr>
        </p:nvSpPr>
        <p:spPr/>
      </p:sp>
    </p:spTree>
    <p:extLst>
      <p:ext uri="{BB962C8B-B14F-4D97-AF65-F5344CB8AC3E}">
        <p14:creationId xmlns:p14="http://schemas.microsoft.com/office/powerpoint/2010/main" val="2208152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4BC51-F4EC-C82F-B5C5-9A1D0066F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BDA59-66B0-1F99-F7D9-F857A5CAE3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C878652-61BE-9329-FC75-1E098BF138A2}"/>
              </a:ext>
            </a:extLst>
          </p:cNvPr>
          <p:cNvSpPr>
            <a:spLocks noGrp="1"/>
          </p:cNvSpPr>
          <p:nvPr>
            <p:ph type="body" sz="quarter" idx="3"/>
          </p:nvPr>
        </p:nvSpPr>
        <p:spPr/>
        <p:txBody>
          <a:bodyPr/>
          <a:lstStyle/>
          <a:p>
            <a:r>
              <a:t>[SPOKEN — the touch-input pattern, kept from the original.]</a:t>
            </a:r>
          </a:p>
          <a:p>
            <a:endParaRPr/>
          </a:p>
          <a:p>
            <a:r>
              <a:t>"The clean way to add touch without rewriting your game: route both the keyboard and the on-screen buttons into the SAME movement method. Here, both call MoveLeft. Unity's UI Button has OnPointerDown and OnPointerUp events - press to start moving, release to stop - and you point those at the exact same methods your keyboard already calls. Write the game logic once; let two input sources call it. Touch becomes a thin layer on top, not a second copy of your game. Teams that skip this end up maintaining two control schemes and regretting it." </a:t>
            </a:r>
          </a:p>
        </p:txBody>
      </p:sp>
      <p:sp>
        <p:nvSpPr>
          <p:cNvPr id="4" name="Slide Number Placeholder 3">
            <a:extLst>
              <a:ext uri="{FF2B5EF4-FFF2-40B4-BE49-F238E27FC236}">
                <a16:creationId xmlns:a16="http://schemas.microsoft.com/office/drawing/2014/main" id="{09BCD475-A44F-F413-CDED-9BD2CC2D9FA5}"/>
              </a:ext>
            </a:extLst>
          </p:cNvPr>
          <p:cNvSpPr>
            <a:spLocks noGrp="1"/>
          </p:cNvSpPr>
          <p:nvPr>
            <p:ph type="sldNum" sz="quarter" idx="5"/>
          </p:nvPr>
        </p:nvSpPr>
        <p:spPr/>
      </p:sp>
    </p:spTree>
    <p:extLst>
      <p:ext uri="{BB962C8B-B14F-4D97-AF65-F5344CB8AC3E}">
        <p14:creationId xmlns:p14="http://schemas.microsoft.com/office/powerpoint/2010/main" val="711246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D192D-C2C0-6E27-AC4D-E396AF524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6F033-895F-E623-3E51-89FADDB2E60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81306E6-E575-FC67-F398-F0E26CF8340B}"/>
              </a:ext>
            </a:extLst>
          </p:cNvPr>
          <p:cNvSpPr>
            <a:spLocks noGrp="1"/>
          </p:cNvSpPr>
          <p:nvPr>
            <p:ph type="body" sz="quarter" idx="3"/>
          </p:nvPr>
        </p:nvSpPr>
        <p:spPr/>
        <p:txBody>
          <a:bodyPr/>
          <a:lstStyle/>
          <a:p>
            <a:r>
              <a:t>[SPOKEN — arcade demo mode, kept.]</a:t>
            </a:r>
          </a:p>
          <a:p>
            <a:endParaRPr/>
          </a:p>
          <a:p>
            <a:r>
              <a:t>"One touch that makes the showcase feel alive. At the final demo, machines sit idle between players, and an empty screen is a dead booth. Arcade demo mode: after no input for a couple of minutes, the game auto-plays a recording of itself. The room looks alive - every screen running a game whether or not someone's at it, just like a real arcade. The shape is simple: track time since the last input; if it passes your idle limit, roll the demo reel - a captured video, or replayed recorded inputs. You pick the idle time; a couple of minutes is typical. It's a small thing that makes the whole room feel like an arcade instead of a computer lab." </a:t>
            </a:r>
          </a:p>
        </p:txBody>
      </p:sp>
      <p:sp>
        <p:nvSpPr>
          <p:cNvPr id="4" name="Slide Number Placeholder 3">
            <a:extLst>
              <a:ext uri="{FF2B5EF4-FFF2-40B4-BE49-F238E27FC236}">
                <a16:creationId xmlns:a16="http://schemas.microsoft.com/office/drawing/2014/main" id="{74D89C42-39A2-FD3E-C199-5EF2BBAE4257}"/>
              </a:ext>
            </a:extLst>
          </p:cNvPr>
          <p:cNvSpPr>
            <a:spLocks noGrp="1"/>
          </p:cNvSpPr>
          <p:nvPr>
            <p:ph type="sldNum" sz="quarter" idx="5"/>
          </p:nvPr>
        </p:nvSpPr>
        <p:spPr/>
      </p:sp>
    </p:spTree>
    <p:extLst>
      <p:ext uri="{BB962C8B-B14F-4D97-AF65-F5344CB8AC3E}">
        <p14:creationId xmlns:p14="http://schemas.microsoft.com/office/powerpoint/2010/main" val="1538680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the handoff to the dispersed phase. The podium goes deliberately empty; every TL6 is now with their own team. A visible countdown IS the podium while no one is at it.]</a:t>
            </a:r>
          </a:p>
          <a:p>
            <a:endParaRPr/>
          </a:p>
          <a:p>
            <a:r>
              <a:t>"Now it gets hands-on and I'm going to step back. Each team's TL6, take over - you're going to walk your team through exactly what I just showed, on one of your phones.</a:t>
            </a:r>
          </a:p>
          <a:p>
            <a:endParaRPr/>
          </a:p>
          <a:p>
            <a:r>
              <a:t>Here's the target, and it's deliberately small so you're not stuck forever: get ONE breaking point off a real phone. One team member with an Android phone runs the stress scene on it; the whole team watches and reads the number off the phone screen. If your team only has iPhones or no usable phone, run it as a development build on a laptop instead and read the number there - you still get a real breaking point, just not on phone silicon.</a:t>
            </a:r>
          </a:p>
          <a:p>
            <a:endParaRPr/>
          </a:p>
          <a:p>
            <a:r>
              <a:t>You've got twelve minutes - the timer's on the screen. When it hits zero, one number written down, we come back together. TL6s - go."</a:t>
            </a:r>
          </a:p>
          <a:p>
            <a:endParaRPr/>
          </a:p>
          <a:p>
            <a:r>
              <a:t>[BC: start a visible 12-min countdown on the projector. The podium is empty ON PURPOSE - the timer + the one-number target hold the room. One TL6 returns to the podium when time's up to run the reconvene. iOS/no-phone teams use a laptop dev build.]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projected demo by the presenting TL6, done ONCE for the whole class before they disperse into teams. Show it on your own Android phone, projected.]</a:t>
            </a:r>
          </a:p>
          <a:p>
            <a:endParaRPr/>
          </a:p>
          <a:p>
            <a:r>
              <a:t>"Before you break into teams, watch me do this once, so you've seen the whole path before you try it. I'm going to take a stress scene and get it running on this actual phone.</a:t>
            </a:r>
          </a:p>
          <a:p>
            <a:endParaRPr/>
          </a:p>
          <a:p>
            <a:r>
              <a:t>[Do it live, projected. Narrate each step:]</a:t>
            </a:r>
          </a:p>
          <a:p>
            <a:r>
              <a:t>- Switch the build target to Android in Build Settings.</a:t>
            </a:r>
          </a:p>
          <a:p>
            <a:r>
              <a:t>- Add the stress scene to the build.</a:t>
            </a:r>
          </a:p>
          <a:p>
            <a:r>
              <a:t>- Connect the phone by USB, with developer mode and USB debugging on.</a:t>
            </a:r>
          </a:p>
          <a:p>
            <a:r>
              <a:t>- Build and Run - Unity compiles it, installs it, and launches it on the phone.</a:t>
            </a:r>
          </a:p>
          <a:p>
            <a:r>
              <a:t>- The scene runs itself - it escalates the load and reports its breaking point right there on the phone screen. No controls needed; it self-drives.</a:t>
            </a:r>
          </a:p>
          <a:p>
            <a:endParaRPr/>
          </a:p>
          <a:p>
            <a:r>
              <a:t>[Then:] That's the whole path. In a second, each team's TL6 is going to walk you through doing exactly this on one of your phones. Watch for the two common snags: the phone not showing up - that's usually USB debugging off - and the build target still set to PC. Both are quick fixes, and your TL6 knows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 DISPERSED, per team, ~12 min, empty podium + visible timer. Each team's TL6 leads. This is where TL6s earn LECs (leading their team through a real device deploy).]</a:t>
            </a:r>
          </a:p>
          <a:p>
            <a:endParaRPr/>
          </a:p>
          <a:p>
            <a:r>
              <a:t>YOU MUST ACCOMPLISH:</a:t>
            </a:r>
          </a:p>
          <a:p>
            <a:r>
              <a:t>- The team gets the stress scene running on ONE real Android phone (or, fallback, a laptop dev build for iOS/no-phone teams).</a:t>
            </a:r>
          </a:p>
          <a:p>
            <a:r>
              <a:t>- The team reads at least ONE breaking point off the device: the FPS break (load at which the phone's FPS hit half its own starting FPS), and the physics-violation break if reached.</a:t>
            </a:r>
          </a:p>
          <a:p>
            <a:r>
              <a:t>- Write it down WITH the device (phone model, or 'laptop dev build') - the number is meaningless without the hardware, especially the FPS one.</a:t>
            </a:r>
          </a:p>
          <a:p>
            <a:r>
              <a:t>- Everyone on the team has SEEN a real on-device breaking point, not just a laptop prediction.</a:t>
            </a:r>
          </a:p>
          <a:p>
            <a:endParaRPr/>
          </a:p>
          <a:p>
            <a:r>
              <a:t>TIMING (the empty-podium mechanic):</a:t>
            </a:r>
          </a:p>
          <a:p>
            <a:r>
              <a:t>- A visible 12-min countdown on the projector runs the room while BC/podium is empty.</a:t>
            </a:r>
          </a:p>
          <a:p>
            <a:r>
              <a:t>- The completion target is deliberately ONE number, so teams know exactly when they're done and don't sprawl.</a:t>
            </a:r>
          </a:p>
          <a:p>
            <a:r>
              <a:t>- When the timer ends, one TL6 returns to the podium to reconvene.</a:t>
            </a:r>
          </a:p>
          <a:p>
            <a:endParaRPr/>
          </a:p>
          <a:p>
            <a:r>
              <a:t>IF YOU DON'T ALREADY KNOW HOW (TL6 leads; this is LEC territory):</a:t>
            </a:r>
          </a:p>
          <a:p>
            <a:r>
              <a:t>- Android deploy: search "Unity Build and Run Android USB" and "enable USB debugging Android developer options".</a:t>
            </a:r>
          </a:p>
          <a:p>
            <a:r>
              <a:t>- Phone not detected: USB debugging off, or a data-only cable issue, or the target still set to PC.</a:t>
            </a:r>
          </a:p>
          <a:p>
            <a:r>
              <a:t>- iOS is impractical in class (needs a Mac + Apple signing) - iPhone teams use the laptop dev-build fallback, no exceptions needed.</a:t>
            </a:r>
          </a:p>
          <a:p>
            <a:r>
              <a:t>- TL6s: leading your team through this hands-on, on a real device, is exactly the one-on-one help that earns a LEC. This is your block.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reconvene at the podium (~5 min in), then lead into the last hands-on: demo-safe hardening.]</a:t>
            </a:r>
          </a:p>
          <a:p>
            <a:endParaRPr/>
          </a:p>
          <a:p>
            <a:r>
              <a:t>"Come on back. Quick share - what breaking points did teams see on a real phone? [Take a few numbers.] Good - hold onto those; TL6 uses everyone's numbers to set the platform limits for the final build, and in L2 we put these on the actual phone with real controls.</a:t>
            </a:r>
          </a:p>
          <a:p>
            <a:endParaRPr/>
          </a:p>
          <a:p>
            <a:r>
              <a:t>Last thing today, and it's the OTHER half of TL6's job - the demo. You've all seen the DemoDemons lecture on recovering when a live demo breaks. This is the preventive side: build your feature so it's LESS LIKELY to break in front of an audience in the first place. A demo-safe build has no debug console spam cluttering the screen, it fails GRACEFULLY if an asset is missing instead of crashing, and it has a known-good state you can always fall back to. Let's spend the last few minutes hardening your own feature that way."]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 demo-safe hardening. Preventive complement to DemoDemons (TL6 L2 territory is the reactive side).]</a:t>
            </a:r>
          </a:p>
          <a:p>
            <a:endParaRPr/>
          </a:p>
          <a:p>
            <a:r>
              <a:t>YOU MUST ACCOMPLISH:</a:t>
            </a:r>
          </a:p>
          <a:p>
            <a:r>
              <a:t>- Your feature produces no flood of debug/console errors or warnings in a build.</a:t>
            </a:r>
          </a:p>
          <a:p>
            <a:r>
              <a:t>- Your feature fails GRACEFULLY: a missing asset, null reference, or unexpected state shows a fallback or a caught, handled message - it does NOT crash the app.</a:t>
            </a:r>
          </a:p>
          <a:p>
            <a:r>
              <a:t>- Your feature has a known-good state you can reliably return to (so if a demo goes sideways, you can reset to something that works).</a:t>
            </a:r>
          </a:p>
          <a:p>
            <a:r>
              <a:t>- You can name, for your feature, the single most likely thing to break in a demo and what you did about it.</a:t>
            </a:r>
          </a:p>
          <a:p>
            <a:endParaRPr/>
          </a:p>
          <a:p>
            <a:r>
              <a:t>IF YOU DON'T ALREADY KNOW HOW:</a:t>
            </a:r>
          </a:p>
          <a:p>
            <a:r>
              <a:t>- Silencing/handling errors: wrap risky calls (asset loads, external refs) in try/catch or null checks with a sensible fallback. Search "Unity handle missing asset gracefully" / "C# try catch Unity".</a:t>
            </a:r>
          </a:p>
          <a:p>
            <a:r>
              <a:t>- Debug spam: strip or gate Debug.Log behind a flag for builds. Search "Unity disable Debug.Log in build".</a:t>
            </a:r>
          </a:p>
          <a:p>
            <a:r>
              <a:t>- Known-good state: a reset method / reload of a clean scene. Search "Unity reset scene to initial state".</a:t>
            </a:r>
          </a:p>
          <a:p>
            <a:r>
              <a:t>- This connects forward to DemoDemons: today you make it LESS likely to break; that lecture teaches the team to RECOVER calmly when something breaks anyway.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"Welcome to TL6's second and final lecture. Last time - Leaves the Nest - you measured whether your feature could survive a phone and you hardened it so a demo can't humiliate you. Today it actually leaves the nest: we get your game onto a phone, put it behind a QR code, and turn the room into an arcade. And because we're near the finish line, we also cover the two things that get you across it: pair programming to close the last gaps, and how to prepare for your oral exam.</a:t>
            </a:r>
          </a:p>
          <a:p>
            <a:endParaRPr/>
          </a:p>
          <a:p>
            <a:r>
              <a:t>So today has two halves - shipping, and wrapping up. Both are about getting to done."</a:t>
            </a:r>
          </a:p>
          <a:p>
            <a:endParaRPr/>
          </a:p>
          <a:p>
            <a:r>
              <a:t>[Then a short intro.]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brief; cohort met in L1.]</a:t>
            </a:r>
          </a:p>
          <a:p>
            <a:endParaRPr/>
          </a:p>
          <a:p>
            <a:r>
              <a:t>"Same TL6 crew. We're circulating today as always, but this lecture is a bit different - it's less a new skill to drill and more the logistics of finishing: getting onto a phone, forming pairs, prepping for orals. Grab us for the phone-build part especially; that's where hands get stuck. And remember our other role - we run tech support during the demos, so at the final showcase, we're the ones keeping the arcade alive."]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hour, in two halves. First, shipping: your game runs on your laptop - that's platform one - and today we get it onto a phone, platform two, behind a QR code, so anyone can install and play it. That's the arcade. Second, wrapping up: pair programming, which is how you close the last unfinished gaps in the next few days, and then how to prepare for your oral exam. Two deadlines this week drive the pairing, so we'll be specific about those.</a:t>
            </a:r>
          </a:p>
          <a:p>
            <a:endParaRPr/>
          </a:p>
          <a:p>
            <a:r>
              <a:t>Both halves are about the same thing: getting to done, and being ready to defend what you built."]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section divider]</a:t>
            </a:r>
          </a:p>
          <a:p>
            <a:endParaRPr/>
          </a:p>
          <a:p>
            <a:r>
              <a:t>"First half: shipping. In Leaves the Nest you profiled and hardened your feature. Now we deliver it - turn a build into something a stranger can install and play on their own phone. That's Continuous Delivery, the CD half, and it's TL6's job. TL1 already owns CI - the automated testing on every commit - so we're not touching that. We pick up where a green build leaves off."]</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the original L1 framing, pointed at the new L1 + TL1's CI.]</a:t>
            </a:r>
          </a:p>
          <a:p>
            <a:endParaRPr/>
          </a:p>
          <a:p>
            <a:r>
              <a:t>"Quick orientation. TL1 wired up Continuous Integration weeks ago - every commit built and tested automatically. That's the CI in CI/CD, and it's theirs. Today is the CD - Continuous Delivery - taking a build that passed CI and turning it into something people can actually play. For us, that means a second platform: your game runs on your laptop, and now on a phone. In Leaves the Nest you measured whether it COULD survive a phone; today you actually put it there."]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merges the original 'building for a phone' + 'APK not AAB' slides.]</a:t>
            </a:r>
          </a:p>
          <a:p>
            <a:endParaRPr/>
          </a:p>
          <a:p>
            <a:r>
              <a:t>"The mechanics. Unity builds to Android as a single installable file called an APK. You go to Build Profiles - older Unity calls it Build Settings - select Android, and Switch Platform. Set your Player Settings: company name, product name, version. Then Build, and Unity produces the .apk. That file IS your phone game.</a:t>
            </a:r>
          </a:p>
          <a:p>
            <a:endParaRPr/>
          </a:p>
          <a:p>
            <a:r>
              <a:t>One note: Unity builds an APK by default, and that's exactly what we want - an APK can be downloaded and side-loaded straight onto a phone. The Google Play store wants a different format called AAB, but we're not publishing to a store, just sharing a download link. Android 6 and up runs an APK, which covers essentially every phone in the room."]</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 whole class, own machine. Profile the feature against a phone frame budget. Uses the TL3 stress scene. No phone needed for THIS block (that's the next, dispersed block).]</a:t>
            </a:r>
          </a:p>
          <a:p>
            <a:endParaRPr/>
          </a:p>
          <a:p>
            <a:r>
              <a:t>YOU MUST ACCOMPLISH (how you know you're done):</a:t>
            </a:r>
          </a:p>
          <a:p>
            <a:r>
              <a:t>- Open your TL3 stress scene and the Unity Profiler on your own machine.</a:t>
            </a:r>
          </a:p>
          <a:p>
            <a:r>
              <a:t>- Read your feature's per-frame cost: frame time (ms), draw calls, and GC allocations (garbage per frame).</a:t>
            </a:r>
          </a:p>
          <a:p>
            <a:r>
              <a:t>- State your feature against the frame budget: 60 FPS = 16.7 ms/frame, 30 FPS = 33 ms/frame. A phone has far less headroom than a laptop, so the same load costs proportionally more there.</a:t>
            </a:r>
          </a:p>
          <a:p>
            <a:r>
              <a:t>- Recall/record your FPS break from the stress scene - the load at which FPS dropped to HALF your starting FPS. That rule is device-fair: on a phone you'd sample the phone's own starting FPS and halve THAT.</a:t>
            </a:r>
          </a:p>
          <a:p>
            <a:r>
              <a:t>- Answer: how close is your feature to a phone's budget already? Where's your biggest per-frame cost?</a:t>
            </a:r>
          </a:p>
          <a:p>
            <a:endParaRPr/>
          </a:p>
          <a:p>
            <a:r>
              <a:t>WHY THIS (no phone needed here): you can predict phone-readiness on your own machine - the Profiler tells you frame time, draw calls, and allocations regardless of device. The actual on-phone run is the NEXT block, per team. This block is universal and needs no hardware.</a:t>
            </a:r>
          </a:p>
          <a:p>
            <a:endParaRPr/>
          </a:p>
          <a:p>
            <a:r>
              <a:t>IF YOU DON'T ALREADY KNOW HOW:</a:t>
            </a:r>
          </a:p>
          <a:p>
            <a:r>
              <a:t>- Profiler: search "Unity Profiler tutorial" and "Unity Profiler CPU frame time". Window -&gt; Analysis -&gt; Profiler.</a:t>
            </a:r>
          </a:p>
          <a:p>
            <a:r>
              <a:t>- Frame budget: 1000 ms / target FPS = ms per frame you can afford (16.7 at 60, 33 at 30).</a:t>
            </a:r>
          </a:p>
          <a:p>
            <a:r>
              <a:t>- GC allocations matter on mobile (GC spikes = stutter): search "Unity reduce GC allocations per frame".</a:t>
            </a:r>
          </a:p>
          <a:p>
            <a:r>
              <a:t>- TL6s circulate: reading a profiler is confusing the first time - this is prime help/LEC territory. Help people find their single most expensive line.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honest reason some phone builds won't be ready, and why Leaves the Nest deliberately did NOT run the game on a phone yet. Your laptop game uses the keyboard - WASD, space, arrows. A phone has no keyboard. A touchscreen needs on-screen controls: buttons, a joystick, gestures. That's real extra work. If you don't add touch input, the APK installs and launches - but nobody can move. So plan for it early; it's the single thing most likely to leave a team's game un-playable at the demo."]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the touch-input pattern, kept from the original.]</a:t>
            </a:r>
          </a:p>
          <a:p>
            <a:endParaRPr/>
          </a:p>
          <a:p>
            <a:r>
              <a:t>"The clean way to add touch without rewriting your game: route both the keyboard and the on-screen buttons into the SAME movement method. Here, both call MoveLeft. Unity's UI Button has OnPointerDown and OnPointerUp events - press to start moving, release to stop - and you point those at the exact same methods your keyboard already calls. Write the game logic once; let two input sources call it. Touch becomes a thin layer on top, not a second copy of your game. Teams that skip this end up maintaining two control schemes and regretting it." </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merges QR/poster + 'preview of final demo'.]</a:t>
            </a:r>
          </a:p>
          <a:p>
            <a:endParaRPr/>
          </a:p>
          <a:p>
            <a:r>
              <a:t>"Once you've got an APK, host it somewhere with a public link - that's the TL6 behind-the-scenes job, how-to provided - and generate a QR code pointing at that download. At the final demo, your team's POSTER carries two things: your game's controls, and that QR code. Someone scans it, installs the APK, and plays your game on their own phone. That's the goal.</a:t>
            </a:r>
          </a:p>
          <a:p>
            <a:endParaRPr/>
          </a:p>
          <a:p>
            <a:r>
              <a:t>And what you see today is a preview of demo day: every game that's ready has a poster with controls and a QR code. All teams must be present at the final demo - ready or not, you're part of the arcade. The QR download is what turns 'come watch my game' into 'install my game and play it yourself.'"]</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arcade demo mode, kept.]</a:t>
            </a:r>
          </a:p>
          <a:p>
            <a:endParaRPr/>
          </a:p>
          <a:p>
            <a:r>
              <a:t>"One touch that makes the showcase feel alive. At the final demo, machines sit idle between players, and an empty screen is a dead booth. Arcade demo mode: after no input for a couple of minutes, the game auto-plays a recording of itself. The room looks alive - every screen running a game whether or not someone's at it, just like a real arcade. The shape is simple: track time since the last input; if it passes your idle limit, roll the demo reel - a captured video, or replayed recorded inputs. You pick the idle time; a couple of minutes is typical. It's a small thing that makes the whole room feel like an arcade instead of a computer lab." </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section divider / pivot to the wrap-up half.]</a:t>
            </a:r>
          </a:p>
          <a:p>
            <a:endParaRPr/>
          </a:p>
          <a:p>
            <a:r>
              <a:t>"Second half: getting the project to done. All term you've worked traditional, waterfall-style. In these last days we pivot to the way industry actually builds - pair programming - and we use it to close the last unfinished gaps in your games. There are two deadlines this week that drive how pairs form, so let's be precise about them first."]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"Two deadlines this week, and they matter. Today, Tuesday, this lecture: you leave knowing how pairing works and what your deliverable is. Between now and Thursday, your one job is to tell your TL6 any pair-programming possibilities - meaning any code you did NOT finish: a half-built feature, a rough edge, anything someone could pair with you on. Your TL6 uses those to recommend logical pairings. Then Thursday, at the status update, two things happen at once: the code FREEZES - no more changes until after the oral exams - and the pairs get assigned. So don't wait: get your unfinished pieces to your TL6 before Thursday."]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COMPRESSED from the original's 3 theory slides (why Agile / what it is / isn't it half as fast). Keep it brisk.]</a:t>
            </a:r>
          </a:p>
          <a:p>
            <a:endParaRPr/>
          </a:p>
          <a:p>
            <a:r>
              <a:t>"Quick why, then we get practical. All term we've done waterfall - plan, document, build, test - on purpose, because it produces the clear artifacts ABET accreditation wants. But industry mostly runs Agile: short cycles, constant collaboration, less paperwork. Pair programming is a core Agile practice from Extreme Programming, and it's part of ABET too - so today is your bridge from how school tracks software to how the working world builds it.</a:t>
            </a:r>
          </a:p>
          <a:p>
            <a:endParaRPr/>
          </a:p>
          <a:p>
            <a:r>
              <a:t>What is it? Two programmers, one computer, writing code together, with rotating partners so everyone works with everyone. It builds collective ownership - the code belongs to the team, not one author - so bugs get fixed, not blamed. Why it works: every line is reviewed as it's written, it encourages refactoring, and it spreads knowledge so there's no single point of failure. And the obvious objection - isn't that half as fast? The honest answer: the research is mixed, but pairs have fewer false starts and catch bugs early, and even when it's a little slower the knowledge-sharing is often worth it. It's not the waste it looks like."]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the core mechanic.]</a:t>
            </a:r>
          </a:p>
          <a:p>
            <a:endParaRPr/>
          </a:p>
          <a:p>
            <a:r>
              <a:t>"The core mechanic - two roles, learn them. The DRIVER has the keyboard and writes the code, focused on the line in front of them. The NAVIGATOR watches every line as it's typed, thinking a step ahead - spotting errors, questioning the approach, holding the big picture. And the key rule: switch roles often. Every twenty or thirty minutes, or after each small task. If the same person drives all day, you don't have a pair - you have an audience."]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"Pairs don't fail loudly - they fail quietly, so watch for three things. Disengagement: one person drifts, checks their phone, tunes out. The 'watch the master' trap: if one is far more experienced, the junior defers and stops contributing - which defeats the point. And silence: if a pair goes quiet, collaboration has stopped, because here, talking IS the work. The fix for all three is the same: when in doubt, put the LESS experienced person in the driver's seat more often. It forces the conversation and keeps both people engaged."]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"Your actual deliverable. Find a partner and pick an unfinished piece in SOMEONE ELSE'S code - not your own. The ideal pairing is one person from the team that owns the code, but not the owner, plus one person from outside who's done something similar - inside context meets outside perspective. Put in about three hours of genuine pair work. Then run the auto-tester to prove you didn't break anything. And the hard rule: do NOT modify anyone else's code before the oral exams. One of you writes it up and submits to Canvas - and the write-up is not what you'd expect, which is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"This is the part people over-do, so listen closely. The write-up has a max of 300 words - but I'm honestly expecting twenty to fifty. It is NOT an essay about pair programming. It's a locator note: who was in the pair, what you changed, and WHERE to find it in the game. Here's why that's all it needs to be: at the final demo, Dr. BC walks game to game with a printout of every write-up, hunting down each pair's contribution to mark it. So at least one person from your pair stays near the game you updated until it's marked. The note exists purely so your update gets found and marked fast. Short and specific beats long and vague, every time."]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"How pairs actually form. As your TL6, part of my job is recommending the logical pairings for our team - who should work with whom, on what unfinished piece - and I bring those recommendations to Thursday's status update. Dr. BC assigns the official pairs there, using my recommendations as the starting point, and once pairs are set, the code freezes. So before Thursday: know what's unfinished in our team and who'd fit each piece, and get that to me. The pairing follows naturally from what you've told me."]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the capstone. Ties back to TL4 (Gantt) and TL3 (running tests) - the whole course converges here.]</a:t>
            </a:r>
          </a:p>
          <a:p>
            <a:endParaRPr/>
          </a:p>
          <a:p>
            <a:r>
              <a:t>"Last thing, and it's the one that pulls the whole course together - how to prepare for your oral exam. First, it's individual: you personally defend YOUR contribution, live. So be ready to run your game and point to exactly where your code executes - walk the examiner through your methods, step by step, from your entry point. Don't just describe it; show it running. Second, know your own commit history - open your repo beforehand so you can show what you built and when. Third, bring your Gantt and your time estimates, because you'll compare what you estimated against what it actually took, and reflect honestly on yourself as an estimator - that's the tracking you set up with TL4 coming home to roost. And remember the code's been frozen since Thursday, so there are no last-minute edits: what you defend is what's in the repo. Prepare to talk about it, not change it. Run a passing test live, know your commits, own your estimates - that's the exam."]</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closer / the arcade payoff.]</a:t>
            </a:r>
          </a:p>
          <a:p>
            <a:endParaRPr/>
          </a:p>
          <a:p>
            <a:r>
              <a:t>"That's TL6, and that's the finish line in sight. For every game that's ready today - put your QR code up, and we'll scan and play right now. This is the arcade moment, the whole point of the second-platform build. If your game's not ready, that's your signal: touch controls and the build pipeline are what stand between you and demo day, and you've got just days left.</a:t>
            </a:r>
          </a:p>
          <a:p>
            <a:endParaRPr/>
          </a:p>
          <a:p>
            <a:r>
              <a:t>So: ship it to a phone, pair up to close the gaps, prep to defend your work - and let's play some games."]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E0977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A63D20"/>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A63D20"/>
                </a:solidFill>
              </a:defRPr>
            </a:lvl1pPr>
            <a:lvl2pPr>
              <a:defRPr>
                <a:solidFill>
                  <a:srgbClr val="A63D20"/>
                </a:solidFill>
              </a:defRPr>
            </a:lvl2pPr>
            <a:lvl3pPr>
              <a:defRPr>
                <a:solidFill>
                  <a:srgbClr val="A63D20"/>
                </a:solidFill>
              </a:defRPr>
            </a:lvl3pPr>
            <a:lvl4pPr>
              <a:defRPr>
                <a:solidFill>
                  <a:srgbClr val="A63D20"/>
                </a:solidFill>
              </a:defRPr>
            </a:lvl4pPr>
            <a:lvl5pPr>
              <a:defRPr>
                <a:solidFill>
                  <a:srgbClr val="A63D2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9684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E0977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249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D section">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8844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63D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114032"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Name">
            <a:extLst>
              <a:ext uri="{FF2B5EF4-FFF2-40B4-BE49-F238E27FC236}">
                <a16:creationId xmlns:a16="http://schemas.microsoft.com/office/drawing/2014/main" id="{13BBB2B9-D490-E127-6176-7B2AA7B3AABC}"/>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TL6: Presenter Name</a:t>
            </a:r>
          </a:p>
        </p:txBody>
      </p:sp>
      <p:sp>
        <p:nvSpPr>
          <p:cNvPr id="8" name="FooterPage">
            <a:extLst>
              <a:ext uri="{FF2B5EF4-FFF2-40B4-BE49-F238E27FC236}">
                <a16:creationId xmlns:a16="http://schemas.microsoft.com/office/drawing/2014/main" id="{CB3EF72C-E38D-CED2-F049-42EB66F0BB61}"/>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9" name="FooterName2">
            <a:extLst>
              <a:ext uri="{FF2B5EF4-FFF2-40B4-BE49-F238E27FC236}">
                <a16:creationId xmlns:a16="http://schemas.microsoft.com/office/drawing/2014/main" id="{808E9DD4-65B6-DFBD-51E4-F7473EB0FD46}"/>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0" name="Rectangle 9">
            <a:extLst>
              <a:ext uri="{FF2B5EF4-FFF2-40B4-BE49-F238E27FC236}">
                <a16:creationId xmlns:a16="http://schemas.microsoft.com/office/drawing/2014/main" id="{4CBBDAD6-BD7E-0C8A-3006-40FF971CDB0C}"/>
              </a:ext>
            </a:extLst>
          </p:cNvPr>
          <p:cNvSpPr/>
          <p:nvPr userDrawn="1"/>
        </p:nvSpPr>
        <p:spPr>
          <a:xfrm>
            <a:off x="35496" y="128016"/>
            <a:ext cx="9001000" cy="6729984"/>
          </a:xfrm>
          <a:prstGeom prst="rect">
            <a:avLst/>
          </a:prstGeom>
          <a:noFill/>
          <a:ln w="381000" cmpd="sng">
            <a:solidFill>
              <a:srgbClr val="A63D2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5FCC78B-BF3F-B84A-D136-B84408ED1C23}"/>
              </a:ext>
            </a:extLst>
          </p:cNvPr>
          <p:cNvPicPr>
            <a:picLocks noChangeAspect="1"/>
          </p:cNvPicPr>
          <p:nvPr userDrawn="1"/>
        </p:nvPicPr>
        <p:blipFill>
          <a:blip r:embed="rId16"/>
          <a:stretch>
            <a:fillRect/>
          </a:stretch>
        </p:blipFill>
        <p:spPr>
          <a:xfrm>
            <a:off x="7662451" y="309722"/>
            <a:ext cx="1199197" cy="1199197"/>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2B_4DE2437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47500" lnSpcReduction="20000"/>
          </a:bodyPr>
          <a:lstStyle/>
          <a:p>
            <a:r>
              <a:t>TL6 L1 — Your Code Leaves the Nest. Blank Office Theme master (BC adds formatting). Just after the first TL1 status report.</a:t>
            </a:r>
          </a:p>
          <a:p>
            <a:r>
              <a:t>THEME: TL6 owns everything that happens when your work meets reality — a real build, a real device, a real audience. L1 = MEASURE + HARDEN. L2 = DEPLOY (2nd platform/phone) + DemoDemons + QR showcase.</a:t>
            </a:r>
          </a:p>
          <a:p>
            <a:r>
              <a:t>OWNERSHIP: CI is TL1's (already built). CD is TL6's. Do NOT re-teach CI.</a:t>
            </a:r>
          </a:p>
          <a:p>
            <a:r>
              <a:t>STRUCTURE: podium phase (~30) -&gt; deliberate EMPTY-PODIUM dispersed team phase w/ visible timer (~15) -&gt; reconvene (~5).</a:t>
            </a:r>
          </a:p>
          <a:p>
            <a:r>
              <a:t>BLOCKS: (lecture) reading a build/deploy failure log · (follow-along, whole class) profile vs a phone frame budget using your TL3 stress-scene FPS break · (projected demo) phone-deploy walkthrough · (dispersed, per team) deploy the stress SCENE to a volunteer's ANDROID phone, read the break on-device (laptop fallback for iOS/no-phone) · (follow-along) demo-safe build hardening.</a:t>
            </a:r>
          </a:p>
          <a:p>
            <a:r>
              <a:t>FPS BREAK RULE (matches TL3): sample starting FPS (feature present, before escalating), stop at HALF. Device-fair; phone gets its own baseline. Physics-violation break is the 4-pt tier / more hardware-independent.</a:t>
            </a:r>
          </a:p>
          <a:p>
            <a:r>
              <a:t>LEC source: profiler-reading + build-failure diagnosis + on-device deploy help (per team) — supplements TL6's DemoDemons-coordinator LECs. NOTE MODES: word-for-word spoken on teaching slides; must-do/how-to-research on follow-alongs.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Your Code Leaves the Nest</a:t>
            </a:r>
          </a:p>
        </p:txBody>
      </p:sp>
      <p:sp>
        <p:nvSpPr>
          <p:cNvPr id="3" name="Subtitle 2"/>
          <p:cNvSpPr>
            <a:spLocks noGrp="1"/>
          </p:cNvSpPr>
          <p:nvPr>
            <p:ph type="subTitle" idx="1"/>
          </p:nvPr>
        </p:nvSpPr>
        <p:spPr/>
        <p:txBody>
          <a:bodyPr/>
          <a:lstStyle/>
          <a:p>
            <a:r>
              <a:t>TL6 — Lecture 1 · Deployment &amp; CD · measure it, harden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Your TL6 Team</a:t>
            </a:r>
          </a:p>
        </p:txBody>
      </p:sp>
      <p:sp>
        <p:nvSpPr>
          <p:cNvPr id="3" name="Content Placeholder 2"/>
          <p:cNvSpPr>
            <a:spLocks noGrp="1"/>
          </p:cNvSpPr>
          <p:nvPr>
            <p:ph idx="1"/>
          </p:nvPr>
        </p:nvSpPr>
        <p:spPr/>
        <p:txBody>
          <a:bodyPr/>
          <a:lstStyle/>
          <a:p>
            <a:r>
              <a:t>We are your TL6 group — everyone across the class who shares TL number 6.</a:t>
            </a:r>
          </a:p>
          <a:p>
            <a:r>
              <a:t>Each of us will introduce ourselves by name.</a:t>
            </a:r>
          </a:p>
          <a:p>
            <a:r>
              <a:t>We help two ways: circulating during today's hands-on work, AND running tech support during the live demos later.</a:t>
            </a:r>
          </a:p>
          <a:p>
            <a:r>
              <a:t>Grab us for profiler, build, or phone-deploy trouble — helping you earns us support credit.</a:t>
            </a:r>
          </a:p>
        </p:txBody>
      </p:sp>
      <p:sp>
        <p:nvSpPr>
          <p:cNvPr id="5" name="TextBox 4">
            <a:extLst>
              <a:ext uri="{FF2B5EF4-FFF2-40B4-BE49-F238E27FC236}">
                <a16:creationId xmlns:a16="http://schemas.microsoft.com/office/drawing/2014/main" id="{4604EBE2-BE3D-1B07-A472-503E48E22609}"/>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Nishant</a:t>
            </a:r>
            <a:endParaRPr lang="en-US"/>
          </a:p>
        </p:txBody>
      </p:sp>
      <p:pic>
        <p:nvPicPr>
          <p:cNvPr id="6" name="Picture 5">
            <a:extLst>
              <a:ext uri="{FF2B5EF4-FFF2-40B4-BE49-F238E27FC236}">
                <a16:creationId xmlns:a16="http://schemas.microsoft.com/office/drawing/2014/main" id="{E0A4B949-4AC7-333A-7163-47990A492200}"/>
              </a:ext>
            </a:extLst>
          </p:cNvPr>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Today — Get Ready to Leave the Nest</a:t>
            </a:r>
          </a:p>
        </p:txBody>
      </p:sp>
      <p:sp>
        <p:nvSpPr>
          <p:cNvPr id="3" name="Content Placeholder 2"/>
          <p:cNvSpPr>
            <a:spLocks noGrp="1"/>
          </p:cNvSpPr>
          <p:nvPr>
            <p:ph idx="1"/>
          </p:nvPr>
        </p:nvSpPr>
        <p:spPr/>
        <p:txBody>
          <a:bodyPr vert="horz" lIns="91440" tIns="45720" rIns="91440" bIns="45720" rtlCol="0" anchor="t">
            <a:normAutofit/>
          </a:bodyPr>
          <a:lstStyle/>
          <a:p>
            <a:r>
              <a:rPr lang="en-US"/>
              <a:t>1 — What exactly is CD&gt;</a:t>
            </a:r>
            <a:endParaRPr lang="en-US">
              <a:ea typeface="Calibri"/>
              <a:cs typeface="Calibri"/>
            </a:endParaRPr>
          </a:p>
          <a:p>
            <a:r>
              <a:rPr lang="en-US">
                <a:ea typeface="Calibri"/>
                <a:cs typeface="Calibri"/>
              </a:rPr>
              <a:t>2 — How deployment breaks: reading a build/deploy failure.</a:t>
            </a:r>
          </a:p>
          <a:p>
            <a:r>
              <a:t>3 — Live: how a build gets onto a phone.</a:t>
            </a:r>
          </a:p>
          <a:p>
            <a:r>
              <a:rPr lang="en-US">
                <a:ea typeface="Calibri"/>
                <a:cs typeface="Calibri"/>
              </a:rPr>
              <a:t>4 — The Catch: Touch Controls</a:t>
            </a:r>
            <a:endParaRPr lang="en-US"/>
          </a:p>
          <a:p>
            <a:r>
              <a:t>CI is TL1's (already running). We own CD. Your game isn't phone-PLAYABLE yet (no touch controls) — today doesn't need it to be.</a:t>
            </a:r>
          </a:p>
        </p:txBody>
      </p:sp>
      <p:sp>
        <p:nvSpPr>
          <p:cNvPr id="4" name="TextBox 3">
            <a:extLst>
              <a:ext uri="{FF2B5EF4-FFF2-40B4-BE49-F238E27FC236}">
                <a16:creationId xmlns:a16="http://schemas.microsoft.com/office/drawing/2014/main" id="{576DE5D3-ED1E-CB4E-D5F4-409A455A723C}"/>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Nishant</a:t>
            </a:r>
            <a:endParaRPr lang="en-US"/>
          </a:p>
        </p:txBody>
      </p:sp>
      <p:pic>
        <p:nvPicPr>
          <p:cNvPr id="5" name="Picture 4">
            <a:extLst>
              <a:ext uri="{FF2B5EF4-FFF2-40B4-BE49-F238E27FC236}">
                <a16:creationId xmlns:a16="http://schemas.microsoft.com/office/drawing/2014/main" id="{423D4F47-27F1-F3E1-60E2-A1EDC52866BF}"/>
              </a:ext>
            </a:extLst>
          </p:cNvPr>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d_intro element 0"/>
          <p:cNvSpPr>
            <a:spLocks noGrp="1"/>
          </p:cNvSpPr>
          <p:nvPr/>
        </p:nvSpPr>
        <p:spPr>
          <a:xfrm>
            <a:off x="457200" y="466725"/>
            <a:ext cx="7048500" cy="933450"/>
          </a:xfrm>
          <a:prstGeom prst="rect">
            <a:avLst/>
          </a:prstGeom>
          <a:noFill/>
        </p:spPr>
        <p:txBody>
          <a:bodyPr wrap="square" lIns="0" tIns="0" rIns="0" bIns="0" anchor="ctr">
            <a:noAutofit/>
          </a:bodyPr>
          <a:lstStyle/>
          <a:p>
            <a:pPr marL="0" indent="0" algn="ctr">
              <a:spcBef>
                <a:spcPts val="0"/>
              </a:spcBef>
              <a:spcAft>
                <a:spcPts val="0"/>
              </a:spcAft>
              <a:buNone/>
              <a:defRPr sz="3300" b="0">
                <a:solidFill>
                  <a:srgbClr val="A63D20"/>
                </a:solidFill>
                <a:latin typeface="Calibri"/>
                <a:ea typeface="Calibri"/>
                <a:cs typeface="Calibri"/>
              </a:defRPr>
            </a:pPr>
            <a:r>
              <a:rPr sz="3300" b="0">
                <a:solidFill>
                  <a:srgbClr val="A63D20"/>
                </a:solidFill>
                <a:latin typeface="Calibri"/>
                <a:ea typeface="Calibri"/>
                <a:cs typeface="Calibri"/>
              </a:rPr>
              <a:t>CI Is TL1's. CD Is Ours</a:t>
            </a:r>
          </a:p>
        </p:txBody>
      </p:sp>
      <p:sp>
        <p:nvSpPr>
          <p:cNvPr id="3" name="cd_intro element 1"/>
          <p:cNvSpPr>
            <a:spLocks noGrp="1"/>
          </p:cNvSpPr>
          <p:nvPr/>
        </p:nvSpPr>
        <p:spPr>
          <a:xfrm>
            <a:off x="495300" y="1600200"/>
            <a:ext cx="8077200" cy="361950"/>
          </a:xfrm>
          <a:prstGeom prst="rect">
            <a:avLst/>
          </a:prstGeom>
          <a:noFill/>
        </p:spPr>
        <p:txBody>
          <a:bodyPr wrap="square" lIns="0" tIns="0" rIns="0" bIns="0" anchor="t">
            <a:noAutofit/>
          </a:bodyPr>
          <a:lstStyle/>
          <a:p>
            <a:pPr marL="0" indent="0" algn="l">
              <a:spcBef>
                <a:spcPts val="0"/>
              </a:spcBef>
              <a:spcAft>
                <a:spcPts val="0"/>
              </a:spcAft>
              <a:buNone/>
              <a:defRPr sz="1575" b="0">
                <a:solidFill>
                  <a:srgbClr val="A63D20"/>
                </a:solidFill>
                <a:latin typeface="Calibri"/>
                <a:ea typeface="Calibri"/>
                <a:cs typeface="Calibri"/>
              </a:defRPr>
            </a:pPr>
            <a:r>
              <a:rPr sz="1575" b="0">
                <a:solidFill>
                  <a:srgbClr val="A63D20"/>
                </a:solidFill>
                <a:latin typeface="Calibri"/>
                <a:ea typeface="Calibri"/>
                <a:cs typeface="Calibri"/>
              </a:rPr>
              <a:t>Continuous Delivery keeps a verified build ready for release.</a:t>
            </a:r>
          </a:p>
        </p:txBody>
      </p:sp>
      <p:sp>
        <p:nvSpPr>
          <p:cNvPr id="4" name="cd_intro element 2"/>
          <p:cNvSpPr>
            <a:spLocks noGrp="1"/>
          </p:cNvSpPr>
          <p:nvPr/>
        </p:nvSpPr>
        <p:spPr>
          <a:xfrm>
            <a:off x="457200" y="2133600"/>
            <a:ext cx="4000500" cy="3038475"/>
          </a:xfrm>
          <a:prstGeom prst="roundRect">
            <a:avLst>
              <a:gd name="adj" fmla="val 3762"/>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5" name="cd_intro element 3"/>
          <p:cNvSpPr>
            <a:spLocks noGrp="1"/>
          </p:cNvSpPr>
          <p:nvPr/>
        </p:nvSpPr>
        <p:spPr>
          <a:xfrm>
            <a:off x="723900" y="2371725"/>
            <a:ext cx="3476625" cy="476250"/>
          </a:xfrm>
          <a:prstGeom prst="rect">
            <a:avLst/>
          </a:prstGeom>
          <a:noFill/>
        </p:spPr>
        <p:txBody>
          <a:bodyPr wrap="square" lIns="0" tIns="0" rIns="0" bIns="0" anchor="t">
            <a:noAutofit/>
          </a:bodyPr>
          <a:lstStyle/>
          <a:p>
            <a:pPr marL="0" indent="0" algn="l">
              <a:spcBef>
                <a:spcPts val="0"/>
              </a:spcBef>
              <a:spcAft>
                <a:spcPts val="0"/>
              </a:spcAft>
              <a:buNone/>
              <a:defRPr sz="2250" b="1">
                <a:solidFill>
                  <a:srgbClr val="A63D20"/>
                </a:solidFill>
                <a:latin typeface="Calibri"/>
                <a:ea typeface="Calibri"/>
                <a:cs typeface="Calibri"/>
              </a:defRPr>
            </a:pPr>
            <a:r>
              <a:rPr sz="2250" b="1">
                <a:solidFill>
                  <a:srgbClr val="A63D20"/>
                </a:solidFill>
                <a:latin typeface="Calibri"/>
                <a:ea typeface="Calibri"/>
                <a:cs typeface="Calibri"/>
              </a:rPr>
              <a:t>CI (TL1)</a:t>
            </a:r>
          </a:p>
        </p:txBody>
      </p:sp>
      <p:sp>
        <p:nvSpPr>
          <p:cNvPr id="6" name="cd_intro element 4"/>
          <p:cNvSpPr>
            <a:spLocks noGrp="1"/>
          </p:cNvSpPr>
          <p:nvPr/>
        </p:nvSpPr>
        <p:spPr>
          <a:xfrm>
            <a:off x="723900" y="3019425"/>
            <a:ext cx="3409950" cy="1943100"/>
          </a:xfrm>
          <a:prstGeom prst="rect">
            <a:avLst/>
          </a:prstGeom>
          <a:noFill/>
        </p:spPr>
        <p:txBody>
          <a:bodyPr wrap="square" lIns="0" tIns="0" rIns="0" bIns="0" anchor="t">
            <a:noAutofit/>
          </a:bodyPr>
          <a:lstStyle/>
          <a:p>
            <a:pPr marL="0" indent="0" algn="l">
              <a:spcBef>
                <a:spcPts val="0"/>
              </a:spcBef>
              <a:spcAft>
                <a:spcPts val="850"/>
              </a:spcAft>
              <a:buNone/>
              <a:defRPr sz="1800" b="0">
                <a:solidFill>
                  <a:srgbClr val="A63D20"/>
                </a:solidFill>
                <a:latin typeface="Calibri"/>
                <a:ea typeface="Calibri"/>
                <a:cs typeface="Calibri"/>
              </a:defRPr>
            </a:pPr>
            <a:r>
              <a:rPr sz="1800" b="0">
                <a:solidFill>
                  <a:srgbClr val="A63D20"/>
                </a:solidFill>
                <a:latin typeface="Calibri"/>
                <a:ea typeface="Calibri"/>
                <a:cs typeface="Calibri"/>
              </a:rPr>
              <a:t>Checks each commit</a:t>
            </a:r>
          </a:p>
          <a:p>
            <a:pPr marL="0" indent="0" algn="l">
              <a:spcBef>
                <a:spcPts val="0"/>
              </a:spcBef>
              <a:spcAft>
                <a:spcPts val="850"/>
              </a:spcAft>
              <a:buNone/>
              <a:defRPr sz="1800" b="0">
                <a:solidFill>
                  <a:srgbClr val="A63D20"/>
                </a:solidFill>
                <a:latin typeface="Calibri"/>
                <a:ea typeface="Calibri"/>
                <a:cs typeface="Calibri"/>
              </a:defRPr>
            </a:pPr>
            <a:r>
              <a:rPr sz="1800" b="0">
                <a:solidFill>
                  <a:srgbClr val="A63D20"/>
                </a:solidFill>
                <a:latin typeface="Calibri"/>
                <a:ea typeface="Calibri"/>
                <a:cs typeface="Calibri"/>
              </a:rPr>
              <a:t>Confirms code builds</a:t>
            </a:r>
          </a:p>
          <a:p>
            <a:pPr marL="0" indent="0" algn="l">
              <a:spcBef>
                <a:spcPts val="0"/>
              </a:spcBef>
              <a:spcAft>
                <a:spcPts val="0"/>
              </a:spcAft>
              <a:buNone/>
              <a:defRPr sz="1800" b="0">
                <a:solidFill>
                  <a:srgbClr val="A63D20"/>
                </a:solidFill>
                <a:latin typeface="Calibri"/>
                <a:ea typeface="Calibri"/>
                <a:cs typeface="Calibri"/>
              </a:defRPr>
            </a:pPr>
            <a:r>
              <a:rPr sz="1800" b="0">
                <a:solidFill>
                  <a:srgbClr val="A63D20"/>
                </a:solidFill>
                <a:latin typeface="Calibri"/>
                <a:ea typeface="Calibri"/>
                <a:cs typeface="Calibri"/>
              </a:rPr>
              <a:t>Runs automated tests</a:t>
            </a:r>
          </a:p>
        </p:txBody>
      </p:sp>
      <p:sp>
        <p:nvSpPr>
          <p:cNvPr id="7" name="cd_intro element 5"/>
          <p:cNvSpPr>
            <a:spLocks noGrp="1"/>
          </p:cNvSpPr>
          <p:nvPr/>
        </p:nvSpPr>
        <p:spPr>
          <a:xfrm>
            <a:off x="4686300" y="2133600"/>
            <a:ext cx="4000500" cy="3038475"/>
          </a:xfrm>
          <a:prstGeom prst="roundRect">
            <a:avLst>
              <a:gd name="adj" fmla="val 3762"/>
            </a:avLst>
          </a:prstGeom>
          <a:solidFill>
            <a:srgbClr val="A63D20"/>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8" name="cd_intro element 6"/>
          <p:cNvSpPr>
            <a:spLocks noGrp="1"/>
          </p:cNvSpPr>
          <p:nvPr/>
        </p:nvSpPr>
        <p:spPr>
          <a:xfrm>
            <a:off x="4953000" y="2371725"/>
            <a:ext cx="3476625" cy="476250"/>
          </a:xfrm>
          <a:prstGeom prst="rect">
            <a:avLst/>
          </a:prstGeom>
          <a:noFill/>
        </p:spPr>
        <p:txBody>
          <a:bodyPr wrap="square" lIns="0" tIns="0" rIns="0" bIns="0" anchor="t">
            <a:noAutofit/>
          </a:bodyPr>
          <a:lstStyle/>
          <a:p>
            <a:pPr marL="0" indent="0" algn="l">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CD (TL6)</a:t>
            </a:r>
          </a:p>
        </p:txBody>
      </p:sp>
      <p:sp>
        <p:nvSpPr>
          <p:cNvPr id="9" name="cd_intro element 7"/>
          <p:cNvSpPr>
            <a:spLocks noGrp="1"/>
          </p:cNvSpPr>
          <p:nvPr/>
        </p:nvSpPr>
        <p:spPr>
          <a:xfrm>
            <a:off x="4953000" y="3019425"/>
            <a:ext cx="3419475" cy="1943100"/>
          </a:xfrm>
          <a:prstGeom prst="rect">
            <a:avLst/>
          </a:prstGeom>
          <a:noFill/>
        </p:spPr>
        <p:txBody>
          <a:bodyPr wrap="square" lIns="0" tIns="0" rIns="0" bIns="0" anchor="t">
            <a:noAutofit/>
          </a:bodyPr>
          <a:lstStyle/>
          <a:p>
            <a:pPr marL="0" indent="0" algn="l">
              <a:spcBef>
                <a:spcPts val="0"/>
              </a:spcBef>
              <a:spcAft>
                <a:spcPts val="85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Produces a runnable build</a:t>
            </a:r>
          </a:p>
          <a:p>
            <a:pPr marL="0" indent="0" algn="l">
              <a:spcBef>
                <a:spcPts val="0"/>
              </a:spcBef>
              <a:spcAft>
                <a:spcPts val="85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Validates it on real devices</a:t>
            </a:r>
          </a:p>
          <a:p>
            <a:pPr marL="0" indent="0" algn="l">
              <a:spcBef>
                <a:spcPts val="0"/>
              </a:spcBef>
              <a:spcAft>
                <a:spcPts val="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Keeps it ready for the demo</a:t>
            </a:r>
          </a:p>
        </p:txBody>
      </p:sp>
      <p:sp>
        <p:nvSpPr>
          <p:cNvPr id="11" name="cd_intro element 9"/>
          <p:cNvSpPr>
            <a:spLocks noGrp="1"/>
          </p:cNvSpPr>
          <p:nvPr/>
        </p:nvSpPr>
        <p:spPr>
          <a:xfrm>
            <a:off x="542925" y="6619875"/>
            <a:ext cx="2857500" cy="21907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FFFFFF"/>
                </a:solidFill>
                <a:latin typeface="Calibri"/>
                <a:ea typeface="Calibri"/>
                <a:cs typeface="Calibri"/>
              </a:defRPr>
            </a:pPr>
            <a:r>
              <a:rPr sz="1500" b="0">
                <a:solidFill>
                  <a:srgbClr val="FFFFFF"/>
                </a:solidFill>
                <a:latin typeface="Calibri"/>
                <a:ea typeface="Calibri"/>
                <a:cs typeface="Calibri"/>
              </a:rPr>
              <a:t>Matteo</a:t>
            </a:r>
          </a:p>
        </p:txBody>
      </p:sp>
      <p:sp>
        <p:nvSpPr>
          <p:cNvPr id="12" name="cd_intro element 10"/>
          <p:cNvSpPr>
            <a:spLocks noGrp="1"/>
          </p:cNvSpPr>
          <p:nvPr/>
        </p:nvSpPr>
        <p:spPr>
          <a:xfrm>
            <a:off x="457200" y="5553075"/>
            <a:ext cx="8229600" cy="704850"/>
          </a:xfrm>
          <a:prstGeom prst="roundRect">
            <a:avLst>
              <a:gd name="adj" fmla="val 16216"/>
            </a:avLst>
          </a:prstGeom>
          <a:solidFill>
            <a:srgbClr val="A63D20"/>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0" name="cd_intro element 8"/>
          <p:cNvSpPr>
            <a:spLocks noGrp="1"/>
          </p:cNvSpPr>
          <p:nvPr/>
        </p:nvSpPr>
        <p:spPr>
          <a:xfrm>
            <a:off x="685800" y="5629275"/>
            <a:ext cx="7772400" cy="552450"/>
          </a:xfrm>
          <a:prstGeom prst="rect">
            <a:avLst/>
          </a:prstGeom>
          <a:noFill/>
        </p:spPr>
        <p:txBody>
          <a:bodyPr wrap="square" lIns="0" tIns="0" rIns="0" bIns="0" anchor="ctr">
            <a:noAutofit/>
          </a:bodyPr>
          <a:lstStyle/>
          <a:p>
            <a:pPr marL="0" indent="0" algn="ctr">
              <a:spcBef>
                <a:spcPts val="0"/>
              </a:spcBef>
              <a:spcAft>
                <a:spcPts val="850"/>
              </a:spcAft>
              <a:buNone/>
              <a:defRPr sz="1650" b="1">
                <a:solidFill>
                  <a:srgbClr val="FFFFFF"/>
                </a:solidFill>
                <a:latin typeface="Calibri"/>
                <a:ea typeface="Calibri"/>
                <a:cs typeface="Calibri"/>
              </a:defRPr>
            </a:pPr>
            <a:r>
              <a:rPr sz="1650" b="1">
                <a:solidFill>
                  <a:srgbClr val="FFFFFF"/>
                </a:solidFill>
                <a:latin typeface="Calibri"/>
                <a:ea typeface="Calibri"/>
                <a:cs typeface="Calibri"/>
              </a:rPr>
              <a:t>Green CI means the configured checks passed.</a:t>
            </a:r>
          </a:p>
          <a:p>
            <a:pPr marL="0" indent="0" algn="ctr">
              <a:spcBef>
                <a:spcPts val="0"/>
              </a:spcBef>
              <a:spcAft>
                <a:spcPts val="0"/>
              </a:spcAft>
              <a:buNone/>
              <a:defRPr sz="1650" b="1">
                <a:solidFill>
                  <a:srgbClr val="FFFFFF"/>
                </a:solidFill>
                <a:latin typeface="Calibri"/>
                <a:ea typeface="Calibri"/>
                <a:cs typeface="Calibri"/>
              </a:defRPr>
            </a:pPr>
            <a:r>
              <a:rPr sz="1650" b="1">
                <a:solidFill>
                  <a:srgbClr val="FFFFFF"/>
                </a:solidFill>
                <a:latin typeface="Calibri"/>
                <a:ea typeface="Calibri"/>
                <a:cs typeface="Calibri"/>
              </a:rPr>
              <a:t>Device and demo checks still matter.</a:t>
            </a:r>
          </a:p>
        </p:txBody>
      </p:sp>
      <p:pic>
        <p:nvPicPr>
          <p:cNvPr id="15" name="Audio 14">
            <a:hlinkClick r:id="" action="ppaction://media"/>
            <a:extLst>
              <a:ext uri="{FF2B5EF4-FFF2-40B4-BE49-F238E27FC236}">
                <a16:creationId xmlns:a16="http://schemas.microsoft.com/office/drawing/2014/main" id="{ACCEF02E-E89B-7105-37AC-17D461F9AD9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7004304" y="4718304"/>
            <a:ext cx="2057400" cy="2057400"/>
          </a:xfrm>
          <a:prstGeom prst="ellipse">
            <a:avLst/>
          </a:prstGeom>
        </p:spPr>
      </p:pic>
    </p:spTree>
    <p:extLst>
      <p:ext uri="{BB962C8B-B14F-4D97-AF65-F5344CB8AC3E}">
        <p14:creationId xmlns:p14="http://schemas.microsoft.com/office/powerpoint/2010/main" val="753483690"/>
      </p:ext>
    </p:extLst>
  </p:cSld>
  <p:clrMapOvr>
    <a:masterClrMapping/>
  </p:clrMapOvr>
  <mc:AlternateContent xmlns:mc="http://schemas.openxmlformats.org/markup-compatibility/2006">
    <mc:Choice xmlns:p14="http://schemas.microsoft.com/office/powerpoint/2010/main" Requires="p14">
      <p:transition spd="slow" p14:dur="2000" advTm="71697"/>
    </mc:Choice>
    <mc:Fallback>
      <p:transition spd="slow" advTm="716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d_pipeline element 0"/>
          <p:cNvSpPr>
            <a:spLocks noGrp="1"/>
          </p:cNvSpPr>
          <p:nvPr/>
        </p:nvSpPr>
        <p:spPr>
          <a:xfrm>
            <a:off x="457200" y="466725"/>
            <a:ext cx="7048500" cy="933450"/>
          </a:xfrm>
          <a:prstGeom prst="rect">
            <a:avLst/>
          </a:prstGeom>
          <a:noFill/>
        </p:spPr>
        <p:txBody>
          <a:bodyPr wrap="square" lIns="0" tIns="0" rIns="0" bIns="0" anchor="ctr">
            <a:noAutofit/>
          </a:bodyPr>
          <a:lstStyle/>
          <a:p>
            <a:pPr marL="0" indent="0" algn="ctr">
              <a:spcBef>
                <a:spcPts val="0"/>
              </a:spcBef>
              <a:spcAft>
                <a:spcPts val="0"/>
              </a:spcAft>
              <a:buNone/>
              <a:defRPr sz="3300" b="0">
                <a:solidFill>
                  <a:srgbClr val="A63D20"/>
                </a:solidFill>
                <a:latin typeface="Calibri"/>
                <a:ea typeface="Calibri"/>
                <a:cs typeface="Calibri"/>
              </a:defRPr>
            </a:pPr>
            <a:r>
              <a:rPr sz="3300" b="0">
                <a:solidFill>
                  <a:srgbClr val="A63D20"/>
                </a:solidFill>
                <a:latin typeface="Calibri"/>
                <a:ea typeface="Calibri"/>
                <a:cs typeface="Calibri"/>
              </a:rPr>
              <a:t>How Continuous Delivery Works</a:t>
            </a:r>
          </a:p>
        </p:txBody>
      </p:sp>
      <p:sp>
        <p:nvSpPr>
          <p:cNvPr id="3" name="cd_pipeline element 1"/>
          <p:cNvSpPr>
            <a:spLocks noGrp="1"/>
          </p:cNvSpPr>
          <p:nvPr/>
        </p:nvSpPr>
        <p:spPr>
          <a:xfrm>
            <a:off x="457200" y="1809750"/>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4" name="cd_pipeline element 2"/>
          <p:cNvSpPr>
            <a:spLocks noGrp="1"/>
          </p:cNvSpPr>
          <p:nvPr/>
        </p:nvSpPr>
        <p:spPr>
          <a:xfrm>
            <a:off x="638175" y="1962150"/>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5" name="cd_pipeline element 3"/>
          <p:cNvSpPr>
            <a:spLocks noGrp="1"/>
          </p:cNvSpPr>
          <p:nvPr/>
        </p:nvSpPr>
        <p:spPr>
          <a:xfrm>
            <a:off x="638175" y="1962150"/>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1</a:t>
            </a:r>
          </a:p>
        </p:txBody>
      </p:sp>
      <p:sp>
        <p:nvSpPr>
          <p:cNvPr id="6" name="cd_pipeline element 4"/>
          <p:cNvSpPr>
            <a:spLocks noGrp="1"/>
          </p:cNvSpPr>
          <p:nvPr/>
        </p:nvSpPr>
        <p:spPr>
          <a:xfrm>
            <a:off x="1323975" y="1895475"/>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Package the game</a:t>
            </a:r>
          </a:p>
        </p:txBody>
      </p:sp>
      <p:sp>
        <p:nvSpPr>
          <p:cNvPr id="7" name="cd_pipeline element 5"/>
          <p:cNvSpPr>
            <a:spLocks noGrp="1"/>
          </p:cNvSpPr>
          <p:nvPr/>
        </p:nvSpPr>
        <p:spPr>
          <a:xfrm>
            <a:off x="1323975" y="2247900"/>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Create a runnable build for the selected platform.</a:t>
            </a:r>
          </a:p>
        </p:txBody>
      </p:sp>
      <p:sp>
        <p:nvSpPr>
          <p:cNvPr id="8" name="cd_pipeline element 6"/>
          <p:cNvSpPr>
            <a:spLocks noGrp="1"/>
          </p:cNvSpPr>
          <p:nvPr/>
        </p:nvSpPr>
        <p:spPr>
          <a:xfrm>
            <a:off x="457200" y="2752725"/>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9" name="cd_pipeline element 7"/>
          <p:cNvSpPr>
            <a:spLocks noGrp="1"/>
          </p:cNvSpPr>
          <p:nvPr/>
        </p:nvSpPr>
        <p:spPr>
          <a:xfrm>
            <a:off x="638175" y="2905125"/>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10" name="cd_pipeline element 8"/>
          <p:cNvSpPr>
            <a:spLocks noGrp="1"/>
          </p:cNvSpPr>
          <p:nvPr/>
        </p:nvSpPr>
        <p:spPr>
          <a:xfrm>
            <a:off x="638175" y="2905125"/>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2</a:t>
            </a:r>
          </a:p>
        </p:txBody>
      </p:sp>
      <p:sp>
        <p:nvSpPr>
          <p:cNvPr id="11" name="cd_pipeline element 9"/>
          <p:cNvSpPr>
            <a:spLocks noGrp="1"/>
          </p:cNvSpPr>
          <p:nvPr/>
        </p:nvSpPr>
        <p:spPr>
          <a:xfrm>
            <a:off x="1323975" y="2838450"/>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Deploy to a test environment</a:t>
            </a:r>
          </a:p>
        </p:txBody>
      </p:sp>
      <p:sp>
        <p:nvSpPr>
          <p:cNvPr id="12" name="cd_pipeline element 10"/>
          <p:cNvSpPr>
            <a:spLocks noGrp="1"/>
          </p:cNvSpPr>
          <p:nvPr/>
        </p:nvSpPr>
        <p:spPr>
          <a:xfrm>
            <a:off x="1323975" y="3190875"/>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Place the build on a test computer, phone, or server.</a:t>
            </a:r>
          </a:p>
        </p:txBody>
      </p:sp>
      <p:sp>
        <p:nvSpPr>
          <p:cNvPr id="13" name="cd_pipeline element 11"/>
          <p:cNvSpPr>
            <a:spLocks noGrp="1"/>
          </p:cNvSpPr>
          <p:nvPr/>
        </p:nvSpPr>
        <p:spPr>
          <a:xfrm>
            <a:off x="457200" y="3695700"/>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4" name="cd_pipeline element 12"/>
          <p:cNvSpPr>
            <a:spLocks noGrp="1"/>
          </p:cNvSpPr>
          <p:nvPr/>
        </p:nvSpPr>
        <p:spPr>
          <a:xfrm>
            <a:off x="638175" y="3848100"/>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15" name="cd_pipeline element 13"/>
          <p:cNvSpPr>
            <a:spLocks noGrp="1"/>
          </p:cNvSpPr>
          <p:nvPr/>
        </p:nvSpPr>
        <p:spPr>
          <a:xfrm>
            <a:off x="638175" y="3848100"/>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3</a:t>
            </a:r>
          </a:p>
        </p:txBody>
      </p:sp>
      <p:sp>
        <p:nvSpPr>
          <p:cNvPr id="16" name="cd_pipeline element 14"/>
          <p:cNvSpPr>
            <a:spLocks noGrp="1"/>
          </p:cNvSpPr>
          <p:nvPr/>
        </p:nvSpPr>
        <p:spPr>
          <a:xfrm>
            <a:off x="1323975" y="3781425"/>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Validate the build</a:t>
            </a:r>
          </a:p>
        </p:txBody>
      </p:sp>
      <p:sp>
        <p:nvSpPr>
          <p:cNvPr id="17" name="cd_pipeline element 15"/>
          <p:cNvSpPr>
            <a:spLocks noGrp="1"/>
          </p:cNvSpPr>
          <p:nvPr/>
        </p:nvSpPr>
        <p:spPr>
          <a:xfrm>
            <a:off x="1323975" y="4133850"/>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Check gameplay, required assets, and performance on the target device.</a:t>
            </a:r>
          </a:p>
        </p:txBody>
      </p:sp>
      <p:sp>
        <p:nvSpPr>
          <p:cNvPr id="18" name="cd_pipeline element 16"/>
          <p:cNvSpPr>
            <a:spLocks noGrp="1"/>
          </p:cNvSpPr>
          <p:nvPr/>
        </p:nvSpPr>
        <p:spPr>
          <a:xfrm>
            <a:off x="457200" y="4638675"/>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9" name="cd_pipeline element 17"/>
          <p:cNvSpPr>
            <a:spLocks noGrp="1"/>
          </p:cNvSpPr>
          <p:nvPr/>
        </p:nvSpPr>
        <p:spPr>
          <a:xfrm>
            <a:off x="638175" y="4791075"/>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20" name="cd_pipeline element 18"/>
          <p:cNvSpPr>
            <a:spLocks noGrp="1"/>
          </p:cNvSpPr>
          <p:nvPr/>
        </p:nvSpPr>
        <p:spPr>
          <a:xfrm>
            <a:off x="638175" y="4791075"/>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4</a:t>
            </a:r>
          </a:p>
        </p:txBody>
      </p:sp>
      <p:sp>
        <p:nvSpPr>
          <p:cNvPr id="21" name="cd_pipeline element 19"/>
          <p:cNvSpPr>
            <a:spLocks noGrp="1"/>
          </p:cNvSpPr>
          <p:nvPr/>
        </p:nvSpPr>
        <p:spPr>
          <a:xfrm>
            <a:off x="1323975" y="4724400"/>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Keep it ready for release</a:t>
            </a:r>
          </a:p>
        </p:txBody>
      </p:sp>
      <p:sp>
        <p:nvSpPr>
          <p:cNvPr id="22" name="cd_pipeline element 20"/>
          <p:cNvSpPr>
            <a:spLocks noGrp="1"/>
          </p:cNvSpPr>
          <p:nvPr/>
        </p:nvSpPr>
        <p:spPr>
          <a:xfrm>
            <a:off x="1323975" y="5076825"/>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Store the verified version. The team approves when to release it.</a:t>
            </a:r>
          </a:p>
        </p:txBody>
      </p:sp>
      <p:sp>
        <p:nvSpPr>
          <p:cNvPr id="23" name="cd_pipeline element 21"/>
          <p:cNvSpPr>
            <a:spLocks noGrp="1"/>
          </p:cNvSpPr>
          <p:nvPr/>
        </p:nvSpPr>
        <p:spPr>
          <a:xfrm>
            <a:off x="542925" y="6619875"/>
            <a:ext cx="2857500" cy="21907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FFFFFF"/>
                </a:solidFill>
                <a:latin typeface="Calibri"/>
                <a:ea typeface="Calibri"/>
                <a:cs typeface="Calibri"/>
              </a:defRPr>
            </a:pPr>
            <a:r>
              <a:rPr sz="1500" b="0">
                <a:solidFill>
                  <a:srgbClr val="FFFFFF"/>
                </a:solidFill>
                <a:latin typeface="Calibri"/>
                <a:ea typeface="Calibri"/>
                <a:cs typeface="Calibri"/>
              </a:rPr>
              <a:t>Matteo</a:t>
            </a:r>
          </a:p>
        </p:txBody>
      </p:sp>
      <p:sp>
        <p:nvSpPr>
          <p:cNvPr id="24" name="cd-pipeline summary 0"/>
          <p:cNvSpPr>
            <a:spLocks noGrp="1"/>
          </p:cNvSpPr>
          <p:nvPr/>
        </p:nvSpPr>
        <p:spPr>
          <a:xfrm>
            <a:off x="457200" y="5734050"/>
            <a:ext cx="8229600" cy="533400"/>
          </a:xfrm>
          <a:prstGeom prst="roundRect">
            <a:avLst>
              <a:gd name="adj" fmla="val 21429"/>
            </a:avLst>
          </a:prstGeom>
          <a:solidFill>
            <a:srgbClr val="A63D20"/>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25" name="cd-pipeline summary 1"/>
          <p:cNvSpPr>
            <a:spLocks noGrp="1"/>
          </p:cNvSpPr>
          <p:nvPr/>
        </p:nvSpPr>
        <p:spPr>
          <a:xfrm>
            <a:off x="619125" y="5781675"/>
            <a:ext cx="7905750" cy="438150"/>
          </a:xfrm>
          <a:prstGeom prst="rect">
            <a:avLst/>
          </a:prstGeom>
          <a:noFill/>
        </p:spPr>
        <p:txBody>
          <a:bodyPr wrap="square" lIns="0" tIns="0" rIns="0" bIns="0" anchor="ctr">
            <a:noAutofit/>
          </a:bodyPr>
          <a:lstStyle/>
          <a:p>
            <a:pPr marL="0" indent="0" algn="ctr">
              <a:spcBef>
                <a:spcPts val="0"/>
              </a:spcBef>
              <a:spcAft>
                <a:spcPts val="0"/>
              </a:spcAft>
              <a:buNone/>
              <a:defRPr sz="1650" b="1">
                <a:solidFill>
                  <a:srgbClr val="FFFFFF"/>
                </a:solidFill>
                <a:latin typeface="Calibri"/>
                <a:ea typeface="Calibri"/>
                <a:cs typeface="Calibri"/>
              </a:defRPr>
            </a:pPr>
            <a:r>
              <a:rPr sz="1650" b="1">
                <a:solidFill>
                  <a:srgbClr val="FFFFFF"/>
                </a:solidFill>
                <a:latin typeface="Calibri"/>
                <a:ea typeface="Calibri"/>
                <a:cs typeface="Calibri"/>
              </a:rPr>
              <a:t>Automation makes the workflow repeatable on each change.</a:t>
            </a:r>
          </a:p>
        </p:txBody>
      </p:sp>
      <p:pic>
        <p:nvPicPr>
          <p:cNvPr id="28" name="Audio 27">
            <a:hlinkClick r:id="" action="ppaction://media"/>
            <a:extLst>
              <a:ext uri="{FF2B5EF4-FFF2-40B4-BE49-F238E27FC236}">
                <a16:creationId xmlns:a16="http://schemas.microsoft.com/office/drawing/2014/main" id="{9A93DEEF-6AE4-0749-E2FD-F5687BF6A4C1}"/>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7004304" y="4718304"/>
            <a:ext cx="2057400" cy="2057400"/>
          </a:xfrm>
          <a:prstGeom prst="ellipse">
            <a:avLst/>
          </a:prstGeom>
        </p:spPr>
      </p:pic>
    </p:spTree>
    <p:extLst>
      <p:ext uri="{BB962C8B-B14F-4D97-AF65-F5344CB8AC3E}">
        <p14:creationId xmlns:p14="http://schemas.microsoft.com/office/powerpoint/2010/main" val="1776019508"/>
      </p:ext>
    </p:extLst>
  </p:cSld>
  <p:clrMapOvr>
    <a:masterClrMapping/>
  </p:clrMapOvr>
  <mc:AlternateContent xmlns:mc="http://schemas.openxmlformats.org/markup-compatibility/2006">
    <mc:Choice xmlns:p14="http://schemas.microsoft.com/office/powerpoint/2010/main" Requires="p14">
      <p:transition spd="slow" p14:dur="2000" advTm="54458"/>
    </mc:Choice>
    <mc:Fallback>
      <p:transition spd="slow" advTm="544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d_delivery_deployment element 0"/>
          <p:cNvSpPr>
            <a:spLocks noGrp="1"/>
          </p:cNvSpPr>
          <p:nvPr/>
        </p:nvSpPr>
        <p:spPr>
          <a:xfrm>
            <a:off x="457200" y="466725"/>
            <a:ext cx="7048500" cy="933450"/>
          </a:xfrm>
          <a:prstGeom prst="rect">
            <a:avLst/>
          </a:prstGeom>
          <a:noFill/>
        </p:spPr>
        <p:txBody>
          <a:bodyPr wrap="square" lIns="0" tIns="0" rIns="0" bIns="0" anchor="ctr">
            <a:noAutofit/>
          </a:bodyPr>
          <a:lstStyle/>
          <a:p>
            <a:pPr marL="0" indent="0" algn="ctr">
              <a:spcBef>
                <a:spcPts val="0"/>
              </a:spcBef>
              <a:spcAft>
                <a:spcPts val="0"/>
              </a:spcAft>
              <a:buNone/>
              <a:defRPr sz="3300" b="0">
                <a:solidFill>
                  <a:srgbClr val="A63D20"/>
                </a:solidFill>
                <a:latin typeface="Calibri"/>
                <a:ea typeface="Calibri"/>
                <a:cs typeface="Calibri"/>
              </a:defRPr>
            </a:pPr>
            <a:r>
              <a:rPr sz="3300" b="0">
                <a:solidFill>
                  <a:srgbClr val="A63D20"/>
                </a:solidFill>
                <a:latin typeface="Calibri"/>
                <a:ea typeface="Calibri"/>
                <a:cs typeface="Calibri"/>
              </a:rPr>
              <a:t>Delivery vs. Deployment</a:t>
            </a:r>
          </a:p>
        </p:txBody>
      </p:sp>
      <p:sp>
        <p:nvSpPr>
          <p:cNvPr id="3" name="cd_delivery_deployment element 1"/>
          <p:cNvSpPr>
            <a:spLocks noGrp="1"/>
          </p:cNvSpPr>
          <p:nvPr/>
        </p:nvSpPr>
        <p:spPr>
          <a:xfrm>
            <a:off x="495300" y="1600200"/>
            <a:ext cx="8077200" cy="361950"/>
          </a:xfrm>
          <a:prstGeom prst="rect">
            <a:avLst/>
          </a:prstGeom>
          <a:noFill/>
        </p:spPr>
        <p:txBody>
          <a:bodyPr wrap="square" lIns="0" tIns="0" rIns="0" bIns="0" anchor="t">
            <a:noAutofit/>
          </a:bodyPr>
          <a:lstStyle/>
          <a:p>
            <a:pPr marL="0" indent="0" algn="l">
              <a:spcBef>
                <a:spcPts val="0"/>
              </a:spcBef>
              <a:spcAft>
                <a:spcPts val="0"/>
              </a:spcAft>
              <a:buNone/>
              <a:defRPr sz="1575" b="0">
                <a:solidFill>
                  <a:srgbClr val="A63D20"/>
                </a:solidFill>
                <a:latin typeface="Calibri"/>
                <a:ea typeface="Calibri"/>
                <a:cs typeface="Calibri"/>
              </a:defRPr>
            </a:pPr>
            <a:r>
              <a:rPr sz="1575" b="0">
                <a:solidFill>
                  <a:srgbClr val="A63D20"/>
                </a:solidFill>
                <a:latin typeface="Calibri"/>
                <a:ea typeface="Calibri"/>
                <a:cs typeface="Calibri"/>
              </a:rPr>
              <a:t>Both prepare and test changes. The release decision differs.</a:t>
            </a:r>
          </a:p>
        </p:txBody>
      </p:sp>
      <p:sp>
        <p:nvSpPr>
          <p:cNvPr id="4" name="cd_delivery_deployment element 2"/>
          <p:cNvSpPr>
            <a:spLocks noGrp="1"/>
          </p:cNvSpPr>
          <p:nvPr/>
        </p:nvSpPr>
        <p:spPr>
          <a:xfrm>
            <a:off x="457200" y="2133600"/>
            <a:ext cx="4000500" cy="3038475"/>
          </a:xfrm>
          <a:prstGeom prst="roundRect">
            <a:avLst>
              <a:gd name="adj" fmla="val 3762"/>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5" name="cd_delivery_deployment element 3"/>
          <p:cNvSpPr>
            <a:spLocks noGrp="1"/>
          </p:cNvSpPr>
          <p:nvPr/>
        </p:nvSpPr>
        <p:spPr>
          <a:xfrm>
            <a:off x="723900" y="2371725"/>
            <a:ext cx="3476625" cy="476250"/>
          </a:xfrm>
          <a:prstGeom prst="rect">
            <a:avLst/>
          </a:prstGeom>
          <a:noFill/>
        </p:spPr>
        <p:txBody>
          <a:bodyPr wrap="square" lIns="0" tIns="0" rIns="0" bIns="0" anchor="t">
            <a:noAutofit/>
          </a:bodyPr>
          <a:lstStyle/>
          <a:p>
            <a:pPr marL="0" indent="0" algn="l">
              <a:spcBef>
                <a:spcPts val="0"/>
              </a:spcBef>
              <a:spcAft>
                <a:spcPts val="0"/>
              </a:spcAft>
              <a:buNone/>
              <a:defRPr sz="2250" b="1">
                <a:solidFill>
                  <a:srgbClr val="A63D20"/>
                </a:solidFill>
                <a:latin typeface="Calibri"/>
                <a:ea typeface="Calibri"/>
                <a:cs typeface="Calibri"/>
              </a:defRPr>
            </a:pPr>
            <a:r>
              <a:rPr sz="2250" b="1">
                <a:solidFill>
                  <a:srgbClr val="A63D20"/>
                </a:solidFill>
                <a:latin typeface="Calibri"/>
                <a:ea typeface="Calibri"/>
                <a:cs typeface="Calibri"/>
              </a:rPr>
              <a:t>Continuous Delivery</a:t>
            </a:r>
          </a:p>
        </p:txBody>
      </p:sp>
      <p:sp>
        <p:nvSpPr>
          <p:cNvPr id="6" name="cd_delivery_deployment element 4"/>
          <p:cNvSpPr>
            <a:spLocks noGrp="1"/>
          </p:cNvSpPr>
          <p:nvPr/>
        </p:nvSpPr>
        <p:spPr>
          <a:xfrm>
            <a:off x="723900" y="3019425"/>
            <a:ext cx="3409950" cy="1943100"/>
          </a:xfrm>
          <a:prstGeom prst="rect">
            <a:avLst/>
          </a:prstGeom>
          <a:noFill/>
        </p:spPr>
        <p:txBody>
          <a:bodyPr wrap="square" lIns="0" tIns="0" rIns="0" bIns="0" anchor="t">
            <a:noAutofit/>
          </a:bodyPr>
          <a:lstStyle/>
          <a:p>
            <a:pPr marL="0" indent="0" algn="l">
              <a:spcBef>
                <a:spcPts val="0"/>
              </a:spcBef>
              <a:spcAft>
                <a:spcPts val="850"/>
              </a:spcAft>
              <a:buNone/>
              <a:defRPr sz="1800" b="0">
                <a:solidFill>
                  <a:srgbClr val="A63D20"/>
                </a:solidFill>
                <a:latin typeface="Calibri"/>
                <a:ea typeface="Calibri"/>
                <a:cs typeface="Calibri"/>
              </a:defRPr>
            </a:pPr>
            <a:r>
              <a:rPr sz="1800" b="0">
                <a:solidFill>
                  <a:srgbClr val="A63D20"/>
                </a:solidFill>
                <a:latin typeface="Calibri"/>
                <a:ea typeface="Calibri"/>
                <a:cs typeface="Calibri"/>
              </a:rPr>
              <a:t>Build and test automatically</a:t>
            </a:r>
          </a:p>
          <a:p>
            <a:pPr marL="0" indent="0" algn="l">
              <a:spcBef>
                <a:spcPts val="0"/>
              </a:spcBef>
              <a:spcAft>
                <a:spcPts val="850"/>
              </a:spcAft>
              <a:buNone/>
              <a:defRPr sz="1800" b="0">
                <a:solidFill>
                  <a:srgbClr val="A63D20"/>
                </a:solidFill>
                <a:latin typeface="Calibri"/>
                <a:ea typeface="Calibri"/>
                <a:cs typeface="Calibri"/>
              </a:defRPr>
            </a:pPr>
            <a:r>
              <a:rPr sz="1800" b="0">
                <a:solidFill>
                  <a:srgbClr val="A63D20"/>
                </a:solidFill>
                <a:latin typeface="Calibri"/>
                <a:ea typeface="Calibri"/>
                <a:cs typeface="Calibri"/>
              </a:rPr>
              <a:t>Keep the update ready</a:t>
            </a:r>
          </a:p>
          <a:p>
            <a:pPr marL="0" indent="0" algn="l">
              <a:spcBef>
                <a:spcPts val="0"/>
              </a:spcBef>
              <a:spcAft>
                <a:spcPts val="0"/>
              </a:spcAft>
              <a:buNone/>
              <a:defRPr sz="1800" b="0">
                <a:solidFill>
                  <a:srgbClr val="A63D20"/>
                </a:solidFill>
                <a:latin typeface="Calibri"/>
                <a:ea typeface="Calibri"/>
                <a:cs typeface="Calibri"/>
              </a:defRPr>
            </a:pPr>
            <a:r>
              <a:rPr sz="1800" b="0">
                <a:solidFill>
                  <a:srgbClr val="A63D20"/>
                </a:solidFill>
                <a:latin typeface="Calibri"/>
                <a:ea typeface="Calibri"/>
                <a:cs typeface="Calibri"/>
              </a:rPr>
              <a:t>A person approves release</a:t>
            </a:r>
          </a:p>
        </p:txBody>
      </p:sp>
      <p:sp>
        <p:nvSpPr>
          <p:cNvPr id="7" name="cd_delivery_deployment element 5"/>
          <p:cNvSpPr>
            <a:spLocks noGrp="1"/>
          </p:cNvSpPr>
          <p:nvPr/>
        </p:nvSpPr>
        <p:spPr>
          <a:xfrm>
            <a:off x="4686300" y="2133600"/>
            <a:ext cx="4000500" cy="3038475"/>
          </a:xfrm>
          <a:prstGeom prst="roundRect">
            <a:avLst>
              <a:gd name="adj" fmla="val 3762"/>
            </a:avLst>
          </a:prstGeom>
          <a:solidFill>
            <a:srgbClr val="A63D20"/>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8" name="cd_delivery_deployment element 6"/>
          <p:cNvSpPr>
            <a:spLocks noGrp="1"/>
          </p:cNvSpPr>
          <p:nvPr/>
        </p:nvSpPr>
        <p:spPr>
          <a:xfrm>
            <a:off x="4953000" y="2371725"/>
            <a:ext cx="3476625" cy="476250"/>
          </a:xfrm>
          <a:prstGeom prst="rect">
            <a:avLst/>
          </a:prstGeom>
          <a:noFill/>
        </p:spPr>
        <p:txBody>
          <a:bodyPr wrap="square" lIns="0" tIns="0" rIns="0" bIns="0" anchor="t">
            <a:noAutofit/>
          </a:bodyPr>
          <a:lstStyle/>
          <a:p>
            <a:pPr marL="0" indent="0" algn="l">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Continuous Deployment</a:t>
            </a:r>
          </a:p>
        </p:txBody>
      </p:sp>
      <p:sp>
        <p:nvSpPr>
          <p:cNvPr id="9" name="cd_delivery_deployment element 7"/>
          <p:cNvSpPr>
            <a:spLocks noGrp="1"/>
          </p:cNvSpPr>
          <p:nvPr/>
        </p:nvSpPr>
        <p:spPr>
          <a:xfrm>
            <a:off x="4953000" y="3019425"/>
            <a:ext cx="3419475" cy="1943100"/>
          </a:xfrm>
          <a:prstGeom prst="rect">
            <a:avLst/>
          </a:prstGeom>
          <a:noFill/>
        </p:spPr>
        <p:txBody>
          <a:bodyPr wrap="square" lIns="0" tIns="0" rIns="0" bIns="0" anchor="t">
            <a:noAutofit/>
          </a:bodyPr>
          <a:lstStyle/>
          <a:p>
            <a:pPr marL="0" indent="0" algn="l">
              <a:spcBef>
                <a:spcPts val="0"/>
              </a:spcBef>
              <a:spcAft>
                <a:spcPts val="85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Build and test automatically</a:t>
            </a:r>
          </a:p>
          <a:p>
            <a:pPr marL="0" indent="0" algn="l">
              <a:spcBef>
                <a:spcPts val="0"/>
              </a:spcBef>
              <a:spcAft>
                <a:spcPts val="85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Release each passing update</a:t>
            </a:r>
          </a:p>
          <a:p>
            <a:pPr marL="0" indent="0" algn="l">
              <a:spcBef>
                <a:spcPts val="0"/>
              </a:spcBef>
              <a:spcAft>
                <a:spcPts val="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No manual release approval</a:t>
            </a:r>
          </a:p>
        </p:txBody>
      </p:sp>
      <p:sp>
        <p:nvSpPr>
          <p:cNvPr id="11" name="cd_delivery_deployment element 9"/>
          <p:cNvSpPr>
            <a:spLocks noGrp="1"/>
          </p:cNvSpPr>
          <p:nvPr/>
        </p:nvSpPr>
        <p:spPr>
          <a:xfrm>
            <a:off x="542925" y="6619875"/>
            <a:ext cx="2857500" cy="21907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FFFFFF"/>
                </a:solidFill>
                <a:latin typeface="Calibri"/>
                <a:ea typeface="Calibri"/>
                <a:cs typeface="Calibri"/>
              </a:defRPr>
            </a:pPr>
            <a:r>
              <a:rPr sz="1500" b="0">
                <a:solidFill>
                  <a:srgbClr val="FFFFFF"/>
                </a:solidFill>
                <a:latin typeface="Calibri"/>
                <a:ea typeface="Calibri"/>
                <a:cs typeface="Calibri"/>
              </a:rPr>
              <a:t>Matteo</a:t>
            </a:r>
          </a:p>
        </p:txBody>
      </p:sp>
      <p:sp>
        <p:nvSpPr>
          <p:cNvPr id="12" name="cd_delivery_deployment element 10"/>
          <p:cNvSpPr>
            <a:spLocks noGrp="1"/>
          </p:cNvSpPr>
          <p:nvPr/>
        </p:nvSpPr>
        <p:spPr>
          <a:xfrm>
            <a:off x="457200" y="5553075"/>
            <a:ext cx="8229600" cy="704850"/>
          </a:xfrm>
          <a:prstGeom prst="roundRect">
            <a:avLst>
              <a:gd name="adj" fmla="val 16216"/>
            </a:avLst>
          </a:prstGeom>
          <a:solidFill>
            <a:srgbClr val="A63D20"/>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0" name="cd_delivery_deployment element 8"/>
          <p:cNvSpPr>
            <a:spLocks noGrp="1"/>
          </p:cNvSpPr>
          <p:nvPr/>
        </p:nvSpPr>
        <p:spPr>
          <a:xfrm>
            <a:off x="685800" y="5629275"/>
            <a:ext cx="7772400" cy="552450"/>
          </a:xfrm>
          <a:prstGeom prst="rect">
            <a:avLst/>
          </a:prstGeom>
          <a:noFill/>
        </p:spPr>
        <p:txBody>
          <a:bodyPr wrap="square" lIns="0" tIns="0" rIns="0" bIns="0" anchor="ctr">
            <a:noAutofit/>
          </a:bodyPr>
          <a:lstStyle/>
          <a:p>
            <a:pPr marL="0" indent="0" algn="ctr">
              <a:spcBef>
                <a:spcPts val="0"/>
              </a:spcBef>
              <a:spcAft>
                <a:spcPts val="0"/>
              </a:spcAft>
              <a:buNone/>
              <a:defRPr sz="1650" b="1">
                <a:solidFill>
                  <a:srgbClr val="FFFFFF"/>
                </a:solidFill>
                <a:latin typeface="Calibri"/>
                <a:ea typeface="Calibri"/>
                <a:cs typeface="Calibri"/>
              </a:defRPr>
            </a:pPr>
            <a:r>
              <a:rPr sz="1650" b="1">
                <a:solidFill>
                  <a:srgbClr val="FFFFFF"/>
                </a:solidFill>
                <a:latin typeface="Calibri"/>
                <a:ea typeface="Calibri"/>
                <a:cs typeface="Calibri"/>
              </a:rPr>
              <a:t>For our class: keep a verified build ready for each demonstration.</a:t>
            </a:r>
          </a:p>
        </p:txBody>
      </p:sp>
      <p:pic>
        <p:nvPicPr>
          <p:cNvPr id="15" name="Audio 14">
            <a:hlinkClick r:id="" action="ppaction://media"/>
            <a:extLst>
              <a:ext uri="{FF2B5EF4-FFF2-40B4-BE49-F238E27FC236}">
                <a16:creationId xmlns:a16="http://schemas.microsoft.com/office/drawing/2014/main" id="{0EBEC0F4-37B8-8775-341F-3A1D40D4684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7004304" y="4718304"/>
            <a:ext cx="2057400" cy="2057400"/>
          </a:xfrm>
          <a:prstGeom prst="ellipse">
            <a:avLst/>
          </a:prstGeom>
        </p:spPr>
      </p:pic>
    </p:spTree>
    <p:extLst>
      <p:ext uri="{BB962C8B-B14F-4D97-AF65-F5344CB8AC3E}">
        <p14:creationId xmlns:p14="http://schemas.microsoft.com/office/powerpoint/2010/main" val="1067825259"/>
      </p:ext>
    </p:extLst>
  </p:cSld>
  <p:clrMapOvr>
    <a:masterClrMapping/>
  </p:clrMapOvr>
  <mc:AlternateContent xmlns:mc="http://schemas.openxmlformats.org/markup-compatibility/2006">
    <mc:Choice xmlns:p14="http://schemas.microsoft.com/office/powerpoint/2010/main" Requires="p14">
      <p:transition spd="slow" p14:dur="2000" advTm="47899"/>
    </mc:Choice>
    <mc:Fallback>
      <p:transition spd="slow" advTm="478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d_unity element 0"/>
          <p:cNvSpPr>
            <a:spLocks noGrp="1"/>
          </p:cNvSpPr>
          <p:nvPr/>
        </p:nvSpPr>
        <p:spPr>
          <a:xfrm>
            <a:off x="457200" y="466725"/>
            <a:ext cx="7048500" cy="933450"/>
          </a:xfrm>
          <a:prstGeom prst="rect">
            <a:avLst/>
          </a:prstGeom>
          <a:noFill/>
        </p:spPr>
        <p:txBody>
          <a:bodyPr wrap="square" lIns="0" tIns="0" rIns="0" bIns="0" anchor="ctr">
            <a:noAutofit/>
          </a:bodyPr>
          <a:lstStyle/>
          <a:p>
            <a:pPr marL="0" indent="0" algn="ctr">
              <a:spcBef>
                <a:spcPts val="0"/>
              </a:spcBef>
              <a:spcAft>
                <a:spcPts val="0"/>
              </a:spcAft>
              <a:buNone/>
              <a:defRPr sz="3300" b="0">
                <a:solidFill>
                  <a:srgbClr val="A63D20"/>
                </a:solidFill>
                <a:latin typeface="Calibri"/>
                <a:ea typeface="Calibri"/>
                <a:cs typeface="Calibri"/>
              </a:defRPr>
            </a:pPr>
            <a:r>
              <a:rPr sz="3300" b="0">
                <a:solidFill>
                  <a:srgbClr val="A63D20"/>
                </a:solidFill>
                <a:latin typeface="Calibri"/>
                <a:ea typeface="Calibri"/>
                <a:cs typeface="Calibri"/>
              </a:rPr>
              <a:t>CD in Our Unity Project</a:t>
            </a:r>
          </a:p>
        </p:txBody>
      </p:sp>
      <p:sp>
        <p:nvSpPr>
          <p:cNvPr id="3" name="cd_unity element 1"/>
          <p:cNvSpPr>
            <a:spLocks noGrp="1"/>
          </p:cNvSpPr>
          <p:nvPr/>
        </p:nvSpPr>
        <p:spPr>
          <a:xfrm>
            <a:off x="457200" y="1809750"/>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4" name="cd_unity element 2"/>
          <p:cNvSpPr>
            <a:spLocks noGrp="1"/>
          </p:cNvSpPr>
          <p:nvPr/>
        </p:nvSpPr>
        <p:spPr>
          <a:xfrm>
            <a:off x="638175" y="1962150"/>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5" name="cd_unity element 3"/>
          <p:cNvSpPr>
            <a:spLocks noGrp="1"/>
          </p:cNvSpPr>
          <p:nvPr/>
        </p:nvSpPr>
        <p:spPr>
          <a:xfrm>
            <a:off x="638175" y="1962150"/>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1</a:t>
            </a:r>
          </a:p>
        </p:txBody>
      </p:sp>
      <p:sp>
        <p:nvSpPr>
          <p:cNvPr id="6" name="cd_unity element 4"/>
          <p:cNvSpPr>
            <a:spLocks noGrp="1"/>
          </p:cNvSpPr>
          <p:nvPr/>
        </p:nvSpPr>
        <p:spPr>
          <a:xfrm>
            <a:off x="1323975" y="1895475"/>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Export a playable build</a:t>
            </a:r>
          </a:p>
        </p:txBody>
      </p:sp>
      <p:sp>
        <p:nvSpPr>
          <p:cNvPr id="7" name="cd_unity element 5"/>
          <p:cNvSpPr>
            <a:spLocks noGrp="1"/>
          </p:cNvSpPr>
          <p:nvPr/>
        </p:nvSpPr>
        <p:spPr>
          <a:xfrm>
            <a:off x="1323975" y="2247900"/>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Choose a target in Build Profiles and include the required scenes.</a:t>
            </a:r>
          </a:p>
        </p:txBody>
      </p:sp>
      <p:sp>
        <p:nvSpPr>
          <p:cNvPr id="8" name="cd_unity element 6"/>
          <p:cNvSpPr>
            <a:spLocks noGrp="1"/>
          </p:cNvSpPr>
          <p:nvPr/>
        </p:nvSpPr>
        <p:spPr>
          <a:xfrm>
            <a:off x="457200" y="2752725"/>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9" name="cd_unity element 7"/>
          <p:cNvSpPr>
            <a:spLocks noGrp="1"/>
          </p:cNvSpPr>
          <p:nvPr/>
        </p:nvSpPr>
        <p:spPr>
          <a:xfrm>
            <a:off x="638175" y="2905125"/>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10" name="cd_unity element 8"/>
          <p:cNvSpPr>
            <a:spLocks noGrp="1"/>
          </p:cNvSpPr>
          <p:nvPr/>
        </p:nvSpPr>
        <p:spPr>
          <a:xfrm>
            <a:off x="638175" y="2905125"/>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2</a:t>
            </a:r>
          </a:p>
        </p:txBody>
      </p:sp>
      <p:sp>
        <p:nvSpPr>
          <p:cNvPr id="11" name="cd_unity element 9"/>
          <p:cNvSpPr>
            <a:spLocks noGrp="1"/>
          </p:cNvSpPr>
          <p:nvPr/>
        </p:nvSpPr>
        <p:spPr>
          <a:xfrm>
            <a:off x="1323975" y="2838450"/>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Run it outside the Editor</a:t>
            </a:r>
          </a:p>
        </p:txBody>
      </p:sp>
      <p:sp>
        <p:nvSpPr>
          <p:cNvPr id="12" name="cd_unity element 10"/>
          <p:cNvSpPr>
            <a:spLocks noGrp="1"/>
          </p:cNvSpPr>
          <p:nvPr/>
        </p:nvSpPr>
        <p:spPr>
          <a:xfrm>
            <a:off x="1323975" y="3190875"/>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Try the exported game on another computer or the target phone.</a:t>
            </a:r>
          </a:p>
        </p:txBody>
      </p:sp>
      <p:sp>
        <p:nvSpPr>
          <p:cNvPr id="13" name="cd_unity element 11"/>
          <p:cNvSpPr>
            <a:spLocks noGrp="1"/>
          </p:cNvSpPr>
          <p:nvPr/>
        </p:nvSpPr>
        <p:spPr>
          <a:xfrm>
            <a:off x="457200" y="3695700"/>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4" name="cd_unity element 12"/>
          <p:cNvSpPr>
            <a:spLocks noGrp="1"/>
          </p:cNvSpPr>
          <p:nvPr/>
        </p:nvSpPr>
        <p:spPr>
          <a:xfrm>
            <a:off x="638175" y="3848100"/>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15" name="cd_unity element 13"/>
          <p:cNvSpPr>
            <a:spLocks noGrp="1"/>
          </p:cNvSpPr>
          <p:nvPr/>
        </p:nvSpPr>
        <p:spPr>
          <a:xfrm>
            <a:off x="638175" y="3848100"/>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3</a:t>
            </a:r>
          </a:p>
        </p:txBody>
      </p:sp>
      <p:sp>
        <p:nvSpPr>
          <p:cNvPr id="16" name="cd_unity element 14"/>
          <p:cNvSpPr>
            <a:spLocks noGrp="1"/>
          </p:cNvSpPr>
          <p:nvPr/>
        </p:nvSpPr>
        <p:spPr>
          <a:xfrm>
            <a:off x="1323975" y="3781425"/>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Test the experience</a:t>
            </a:r>
          </a:p>
        </p:txBody>
      </p:sp>
      <p:sp>
        <p:nvSpPr>
          <p:cNvPr id="17" name="cd_unity element 15"/>
          <p:cNvSpPr>
            <a:spLocks noGrp="1"/>
          </p:cNvSpPr>
          <p:nvPr/>
        </p:nvSpPr>
        <p:spPr>
          <a:xfrm>
            <a:off x="1323975" y="4133850"/>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Check controls, scene loading, and frame time during gameplay.</a:t>
            </a:r>
          </a:p>
        </p:txBody>
      </p:sp>
      <p:sp>
        <p:nvSpPr>
          <p:cNvPr id="18" name="cd_unity element 16"/>
          <p:cNvSpPr>
            <a:spLocks noGrp="1"/>
          </p:cNvSpPr>
          <p:nvPr/>
        </p:nvSpPr>
        <p:spPr>
          <a:xfrm>
            <a:off x="457200" y="4638675"/>
            <a:ext cx="8229600" cy="800100"/>
          </a:xfrm>
          <a:prstGeom prst="roundRect">
            <a:avLst>
              <a:gd name="adj" fmla="val 14286"/>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9" name="cd_unity element 17"/>
          <p:cNvSpPr>
            <a:spLocks noGrp="1"/>
          </p:cNvSpPr>
          <p:nvPr/>
        </p:nvSpPr>
        <p:spPr>
          <a:xfrm>
            <a:off x="638175" y="4791075"/>
            <a:ext cx="495300" cy="49530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20" name="cd_unity element 18"/>
          <p:cNvSpPr>
            <a:spLocks noGrp="1"/>
          </p:cNvSpPr>
          <p:nvPr/>
        </p:nvSpPr>
        <p:spPr>
          <a:xfrm>
            <a:off x="638175" y="4791075"/>
            <a:ext cx="495300" cy="495300"/>
          </a:xfrm>
          <a:prstGeom prst="rect">
            <a:avLst/>
          </a:prstGeom>
          <a:noFill/>
        </p:spPr>
        <p:txBody>
          <a:bodyPr wrap="square" lIns="0" tIns="0" rIns="0" bIns="0" anchor="ctr">
            <a:noAutofit/>
          </a:bodyPr>
          <a:lstStyle/>
          <a:p>
            <a:pPr marL="0" indent="0" algn="ct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4</a:t>
            </a:r>
          </a:p>
        </p:txBody>
      </p:sp>
      <p:sp>
        <p:nvSpPr>
          <p:cNvPr id="21" name="cd_unity element 19"/>
          <p:cNvSpPr>
            <a:spLocks noGrp="1"/>
          </p:cNvSpPr>
          <p:nvPr/>
        </p:nvSpPr>
        <p:spPr>
          <a:xfrm>
            <a:off x="1323975" y="4724400"/>
            <a:ext cx="7077075" cy="323850"/>
          </a:xfrm>
          <a:prstGeom prst="rect">
            <a:avLst/>
          </a:prstGeom>
          <a:noFill/>
        </p:spPr>
        <p:txBody>
          <a:bodyPr wrap="square" lIns="0" tIns="0" rIns="0" bIns="0" anchor="t">
            <a:noAutofit/>
          </a:bodyPr>
          <a:lstStyle/>
          <a:p>
            <a:pPr marL="0" indent="0" algn="l">
              <a:spcBef>
                <a:spcPts val="0"/>
              </a:spcBef>
              <a:spcAft>
                <a:spcPts val="0"/>
              </a:spcAft>
              <a:buNone/>
              <a:defRPr sz="2025" b="1">
                <a:solidFill>
                  <a:srgbClr val="A63D20"/>
                </a:solidFill>
                <a:latin typeface="Calibri"/>
                <a:ea typeface="Calibri"/>
                <a:cs typeface="Calibri"/>
              </a:defRPr>
            </a:pPr>
            <a:r>
              <a:rPr sz="2025" b="1">
                <a:solidFill>
                  <a:srgbClr val="A63D20"/>
                </a:solidFill>
                <a:latin typeface="Calibri"/>
                <a:ea typeface="Calibri"/>
                <a:cs typeface="Calibri"/>
              </a:rPr>
              <a:t>Keep a stable demo version</a:t>
            </a:r>
          </a:p>
        </p:txBody>
      </p:sp>
      <p:sp>
        <p:nvSpPr>
          <p:cNvPr id="22" name="cd_unity element 20"/>
          <p:cNvSpPr>
            <a:spLocks noGrp="1"/>
          </p:cNvSpPr>
          <p:nvPr/>
        </p:nvSpPr>
        <p:spPr>
          <a:xfrm>
            <a:off x="1323975" y="5076825"/>
            <a:ext cx="7077075" cy="27622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A63D20"/>
                </a:solidFill>
                <a:latin typeface="Calibri"/>
                <a:ea typeface="Calibri"/>
                <a:cs typeface="Calibri"/>
              </a:defRPr>
            </a:pPr>
            <a:r>
              <a:rPr sz="1500" b="0">
                <a:solidFill>
                  <a:srgbClr val="A63D20"/>
                </a:solidFill>
                <a:latin typeface="Calibri"/>
                <a:ea typeface="Calibri"/>
                <a:cs typeface="Calibri"/>
              </a:rPr>
              <a:t>Label the tested build and commit. Keep a working backup.</a:t>
            </a:r>
          </a:p>
        </p:txBody>
      </p:sp>
      <p:sp>
        <p:nvSpPr>
          <p:cNvPr id="23" name="cd_unity element 21"/>
          <p:cNvSpPr>
            <a:spLocks noGrp="1"/>
          </p:cNvSpPr>
          <p:nvPr/>
        </p:nvSpPr>
        <p:spPr>
          <a:xfrm>
            <a:off x="542925" y="6619875"/>
            <a:ext cx="2857500" cy="21907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FFFFFF"/>
                </a:solidFill>
                <a:latin typeface="Calibri"/>
                <a:ea typeface="Calibri"/>
                <a:cs typeface="Calibri"/>
              </a:defRPr>
            </a:pPr>
            <a:r>
              <a:rPr sz="1500" b="0">
                <a:solidFill>
                  <a:srgbClr val="FFFFFF"/>
                </a:solidFill>
                <a:latin typeface="Calibri"/>
                <a:ea typeface="Calibri"/>
                <a:cs typeface="Calibri"/>
              </a:rPr>
              <a:t>Matteo</a:t>
            </a:r>
          </a:p>
        </p:txBody>
      </p:sp>
      <p:sp>
        <p:nvSpPr>
          <p:cNvPr id="24" name="cd-unity summary 0"/>
          <p:cNvSpPr>
            <a:spLocks noGrp="1"/>
          </p:cNvSpPr>
          <p:nvPr/>
        </p:nvSpPr>
        <p:spPr>
          <a:xfrm>
            <a:off x="457200" y="5734050"/>
            <a:ext cx="8229600" cy="533400"/>
          </a:xfrm>
          <a:prstGeom prst="roundRect">
            <a:avLst>
              <a:gd name="adj" fmla="val 21429"/>
            </a:avLst>
          </a:prstGeom>
          <a:solidFill>
            <a:srgbClr val="A63D20"/>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25" name="cd-unity summary 1"/>
          <p:cNvSpPr>
            <a:spLocks noGrp="1"/>
          </p:cNvSpPr>
          <p:nvPr/>
        </p:nvSpPr>
        <p:spPr>
          <a:xfrm>
            <a:off x="619125" y="5781675"/>
            <a:ext cx="7905750" cy="438150"/>
          </a:xfrm>
          <a:prstGeom prst="rect">
            <a:avLst/>
          </a:prstGeom>
          <a:noFill/>
        </p:spPr>
        <p:txBody>
          <a:bodyPr wrap="square" lIns="0" tIns="0" rIns="0" bIns="0" anchor="ctr">
            <a:noAutofit/>
          </a:bodyPr>
          <a:lstStyle/>
          <a:p>
            <a:pPr marL="0" indent="0" algn="ctr">
              <a:spcBef>
                <a:spcPts val="0"/>
              </a:spcBef>
              <a:spcAft>
                <a:spcPts val="0"/>
              </a:spcAft>
              <a:buNone/>
              <a:defRPr sz="1650" b="1">
                <a:solidFill>
                  <a:srgbClr val="FFFFFF"/>
                </a:solidFill>
                <a:latin typeface="Calibri"/>
                <a:ea typeface="Calibri"/>
                <a:cs typeface="Calibri"/>
              </a:defRPr>
            </a:pPr>
            <a:r>
              <a:rPr sz="1650" b="1">
                <a:solidFill>
                  <a:srgbClr val="FFFFFF"/>
                </a:solidFill>
                <a:latin typeface="Calibri"/>
                <a:ea typeface="Calibri"/>
                <a:cs typeface="Calibri"/>
              </a:rPr>
              <a:t>Example failure: keyboard input works, but touch controls are missing.</a:t>
            </a:r>
          </a:p>
        </p:txBody>
      </p:sp>
      <p:pic>
        <p:nvPicPr>
          <p:cNvPr id="28" name="Audio 27">
            <a:hlinkClick r:id="" action="ppaction://media"/>
            <a:extLst>
              <a:ext uri="{FF2B5EF4-FFF2-40B4-BE49-F238E27FC236}">
                <a16:creationId xmlns:a16="http://schemas.microsoft.com/office/drawing/2014/main" id="{07E23C0B-FC75-16A2-4F31-A640A256EB1C}"/>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7004304" y="4718304"/>
            <a:ext cx="2057400" cy="2057400"/>
          </a:xfrm>
          <a:prstGeom prst="ellipse">
            <a:avLst/>
          </a:prstGeom>
        </p:spPr>
      </p:pic>
    </p:spTree>
    <p:extLst>
      <p:ext uri="{BB962C8B-B14F-4D97-AF65-F5344CB8AC3E}">
        <p14:creationId xmlns:p14="http://schemas.microsoft.com/office/powerpoint/2010/main" val="1807117229"/>
      </p:ext>
    </p:extLst>
  </p:cSld>
  <p:clrMapOvr>
    <a:masterClrMapping/>
  </p:clrMapOvr>
  <mc:AlternateContent xmlns:mc="http://schemas.openxmlformats.org/markup-compatibility/2006">
    <mc:Choice xmlns:p14="http://schemas.microsoft.com/office/powerpoint/2010/main" Requires="p14">
      <p:transition spd="slow" p14:dur="2000" advTm="58619"/>
    </mc:Choice>
    <mc:Fallback>
      <p:transition spd="slow" advTm="586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d_readiness element 0"/>
          <p:cNvSpPr>
            <a:spLocks noGrp="1"/>
          </p:cNvSpPr>
          <p:nvPr/>
        </p:nvSpPr>
        <p:spPr>
          <a:xfrm>
            <a:off x="457200" y="466725"/>
            <a:ext cx="7048500" cy="933450"/>
          </a:xfrm>
          <a:prstGeom prst="rect">
            <a:avLst/>
          </a:prstGeom>
          <a:noFill/>
        </p:spPr>
        <p:txBody>
          <a:bodyPr wrap="square" lIns="0" tIns="0" rIns="0" bIns="0" anchor="ctr">
            <a:noAutofit/>
          </a:bodyPr>
          <a:lstStyle/>
          <a:p>
            <a:pPr marL="0" indent="0" algn="ctr">
              <a:spcBef>
                <a:spcPts val="0"/>
              </a:spcBef>
              <a:spcAft>
                <a:spcPts val="0"/>
              </a:spcAft>
              <a:buNone/>
              <a:defRPr sz="3300" b="0">
                <a:solidFill>
                  <a:srgbClr val="A63D20"/>
                </a:solidFill>
                <a:latin typeface="Calibri"/>
                <a:ea typeface="Calibri"/>
                <a:cs typeface="Calibri"/>
              </a:defRPr>
            </a:pPr>
            <a:r>
              <a:rPr sz="3300" b="0">
                <a:solidFill>
                  <a:srgbClr val="A63D20"/>
                </a:solidFill>
                <a:latin typeface="Calibri"/>
                <a:ea typeface="Calibri"/>
                <a:cs typeface="Calibri"/>
              </a:rPr>
              <a:t>Ready to Ship: Our Checklist</a:t>
            </a:r>
          </a:p>
        </p:txBody>
      </p:sp>
      <p:sp>
        <p:nvSpPr>
          <p:cNvPr id="3" name="cd_readiness element 1"/>
          <p:cNvSpPr>
            <a:spLocks noGrp="1"/>
          </p:cNvSpPr>
          <p:nvPr/>
        </p:nvSpPr>
        <p:spPr>
          <a:xfrm>
            <a:off x="457200" y="1685925"/>
            <a:ext cx="8229600" cy="609600"/>
          </a:xfrm>
          <a:prstGeom prst="roundRect">
            <a:avLst>
              <a:gd name="adj" fmla="val 18750"/>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4" name="cd_readiness element 2"/>
          <p:cNvSpPr>
            <a:spLocks noGrp="1"/>
          </p:cNvSpPr>
          <p:nvPr/>
        </p:nvSpPr>
        <p:spPr>
          <a:xfrm>
            <a:off x="647700" y="1771650"/>
            <a:ext cx="438150" cy="43815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5" name="cd_readiness element 3"/>
          <p:cNvSpPr>
            <a:spLocks noGrp="1"/>
          </p:cNvSpPr>
          <p:nvPr/>
        </p:nvSpPr>
        <p:spPr>
          <a:xfrm>
            <a:off x="647700" y="1771650"/>
            <a:ext cx="438150" cy="438150"/>
          </a:xfrm>
          <a:prstGeom prst="rect">
            <a:avLst/>
          </a:prstGeom>
          <a:noFill/>
        </p:spPr>
        <p:txBody>
          <a:bodyPr wrap="square" lIns="0" tIns="0" rIns="0" bIns="0" anchor="ctr">
            <a:noAutofit/>
          </a:bodyPr>
          <a:lstStyle/>
          <a:p>
            <a:pPr marL="0" indent="0" algn="ctr">
              <a:spcBef>
                <a:spcPts val="0"/>
              </a:spcBef>
              <a:spcAft>
                <a:spcPts val="0"/>
              </a:spcAft>
              <a:buNone/>
              <a:defRPr sz="1950" b="1">
                <a:solidFill>
                  <a:srgbClr val="FFFFFF"/>
                </a:solidFill>
                <a:latin typeface="Calibri"/>
                <a:ea typeface="Calibri"/>
                <a:cs typeface="Calibri"/>
              </a:defRPr>
            </a:pPr>
            <a:r>
              <a:rPr sz="1950" b="1">
                <a:solidFill>
                  <a:srgbClr val="FFFFFF"/>
                </a:solidFill>
                <a:latin typeface="Calibri"/>
                <a:ea typeface="Calibri"/>
                <a:cs typeface="Calibri"/>
              </a:rPr>
              <a:t>1</a:t>
            </a:r>
          </a:p>
        </p:txBody>
      </p:sp>
      <p:sp>
        <p:nvSpPr>
          <p:cNvPr id="6" name="cd_readiness element 4"/>
          <p:cNvSpPr>
            <a:spLocks noGrp="1"/>
          </p:cNvSpPr>
          <p:nvPr/>
        </p:nvSpPr>
        <p:spPr>
          <a:xfrm>
            <a:off x="1323975" y="1733550"/>
            <a:ext cx="7077075" cy="323850"/>
          </a:xfrm>
          <a:prstGeom prst="rect">
            <a:avLst/>
          </a:prstGeom>
          <a:noFill/>
        </p:spPr>
        <p:txBody>
          <a:bodyPr wrap="square" lIns="0" tIns="0" rIns="0" bIns="0" anchor="t">
            <a:noAutofit/>
          </a:bodyPr>
          <a:lstStyle/>
          <a:p>
            <a:pPr marL="0" indent="0" algn="l">
              <a:spcBef>
                <a:spcPts val="0"/>
              </a:spcBef>
              <a:spcAft>
                <a:spcPts val="0"/>
              </a:spcAft>
              <a:buNone/>
              <a:defRPr sz="1725" b="1">
                <a:solidFill>
                  <a:srgbClr val="A63D20"/>
                </a:solidFill>
                <a:latin typeface="Calibri"/>
                <a:ea typeface="Calibri"/>
                <a:cs typeface="Calibri"/>
              </a:defRPr>
            </a:pPr>
            <a:r>
              <a:rPr sz="1725" b="1">
                <a:solidFill>
                  <a:srgbClr val="A63D20"/>
                </a:solidFill>
                <a:latin typeface="Calibri"/>
                <a:ea typeface="Calibri"/>
                <a:cs typeface="Calibri"/>
              </a:rPr>
              <a:t>Launches on the target device</a:t>
            </a:r>
          </a:p>
        </p:txBody>
      </p:sp>
      <p:sp>
        <p:nvSpPr>
          <p:cNvPr id="7" name="cd_readiness element 5"/>
          <p:cNvSpPr>
            <a:spLocks noGrp="1"/>
          </p:cNvSpPr>
          <p:nvPr/>
        </p:nvSpPr>
        <p:spPr>
          <a:xfrm>
            <a:off x="1323975" y="2019300"/>
            <a:ext cx="7077075" cy="276225"/>
          </a:xfrm>
          <a:prstGeom prst="rect">
            <a:avLst/>
          </a:prstGeom>
          <a:noFill/>
        </p:spPr>
        <p:txBody>
          <a:bodyPr wrap="square" lIns="0" tIns="0" rIns="0" bIns="0" anchor="t">
            <a:noAutofit/>
          </a:bodyPr>
          <a:lstStyle/>
          <a:p>
            <a:pPr marL="0" indent="0" algn="l">
              <a:spcBef>
                <a:spcPts val="0"/>
              </a:spcBef>
              <a:spcAft>
                <a:spcPts val="0"/>
              </a:spcAft>
              <a:buNone/>
              <a:defRPr sz="1388" b="0">
                <a:solidFill>
                  <a:srgbClr val="A63D20"/>
                </a:solidFill>
                <a:latin typeface="Calibri"/>
                <a:ea typeface="Calibri"/>
                <a:cs typeface="Calibri"/>
              </a:defRPr>
            </a:pPr>
            <a:r>
              <a:rPr sz="1388" b="0">
                <a:solidFill>
                  <a:srgbClr val="A63D20"/>
                </a:solidFill>
                <a:latin typeface="Calibri"/>
                <a:ea typeface="Calibri"/>
                <a:cs typeface="Calibri"/>
              </a:rPr>
              <a:t>A teammate can open the exported build without the Unity Editor.</a:t>
            </a:r>
          </a:p>
        </p:txBody>
      </p:sp>
      <p:sp>
        <p:nvSpPr>
          <p:cNvPr id="8" name="cd_readiness element 6"/>
          <p:cNvSpPr>
            <a:spLocks noGrp="1"/>
          </p:cNvSpPr>
          <p:nvPr/>
        </p:nvSpPr>
        <p:spPr>
          <a:xfrm>
            <a:off x="457200" y="2381250"/>
            <a:ext cx="8229600" cy="609600"/>
          </a:xfrm>
          <a:prstGeom prst="roundRect">
            <a:avLst>
              <a:gd name="adj" fmla="val 18750"/>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9" name="cd_readiness element 7"/>
          <p:cNvSpPr>
            <a:spLocks noGrp="1"/>
          </p:cNvSpPr>
          <p:nvPr/>
        </p:nvSpPr>
        <p:spPr>
          <a:xfrm>
            <a:off x="647700" y="2466975"/>
            <a:ext cx="438150" cy="43815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10" name="cd_readiness element 8"/>
          <p:cNvSpPr>
            <a:spLocks noGrp="1"/>
          </p:cNvSpPr>
          <p:nvPr/>
        </p:nvSpPr>
        <p:spPr>
          <a:xfrm>
            <a:off x="647700" y="2466975"/>
            <a:ext cx="438150" cy="438150"/>
          </a:xfrm>
          <a:prstGeom prst="rect">
            <a:avLst/>
          </a:prstGeom>
          <a:noFill/>
        </p:spPr>
        <p:txBody>
          <a:bodyPr wrap="square" lIns="0" tIns="0" rIns="0" bIns="0" anchor="ctr">
            <a:noAutofit/>
          </a:bodyPr>
          <a:lstStyle/>
          <a:p>
            <a:pPr marL="0" indent="0" algn="ctr">
              <a:spcBef>
                <a:spcPts val="0"/>
              </a:spcBef>
              <a:spcAft>
                <a:spcPts val="0"/>
              </a:spcAft>
              <a:buNone/>
              <a:defRPr sz="1950" b="1">
                <a:solidFill>
                  <a:srgbClr val="FFFFFF"/>
                </a:solidFill>
                <a:latin typeface="Calibri"/>
                <a:ea typeface="Calibri"/>
                <a:cs typeface="Calibri"/>
              </a:defRPr>
            </a:pPr>
            <a:r>
              <a:rPr sz="1950" b="1">
                <a:solidFill>
                  <a:srgbClr val="FFFFFF"/>
                </a:solidFill>
                <a:latin typeface="Calibri"/>
                <a:ea typeface="Calibri"/>
                <a:cs typeface="Calibri"/>
              </a:rPr>
              <a:t>2</a:t>
            </a:r>
          </a:p>
        </p:txBody>
      </p:sp>
      <p:sp>
        <p:nvSpPr>
          <p:cNvPr id="11" name="cd_readiness element 9"/>
          <p:cNvSpPr>
            <a:spLocks noGrp="1"/>
          </p:cNvSpPr>
          <p:nvPr/>
        </p:nvSpPr>
        <p:spPr>
          <a:xfrm>
            <a:off x="1323975" y="2428875"/>
            <a:ext cx="7077075" cy="323850"/>
          </a:xfrm>
          <a:prstGeom prst="rect">
            <a:avLst/>
          </a:prstGeom>
          <a:noFill/>
        </p:spPr>
        <p:txBody>
          <a:bodyPr wrap="square" lIns="0" tIns="0" rIns="0" bIns="0" anchor="t">
            <a:noAutofit/>
          </a:bodyPr>
          <a:lstStyle/>
          <a:p>
            <a:pPr marL="0" indent="0" algn="l">
              <a:spcBef>
                <a:spcPts val="0"/>
              </a:spcBef>
              <a:spcAft>
                <a:spcPts val="0"/>
              </a:spcAft>
              <a:buNone/>
              <a:defRPr sz="1725" b="1">
                <a:solidFill>
                  <a:srgbClr val="A63D20"/>
                </a:solidFill>
                <a:latin typeface="Calibri"/>
                <a:ea typeface="Calibri"/>
                <a:cs typeface="Calibri"/>
              </a:defRPr>
            </a:pPr>
            <a:r>
              <a:rPr sz="1725" b="1">
                <a:solidFill>
                  <a:srgbClr val="A63D20"/>
                </a:solidFill>
                <a:latin typeface="Calibri"/>
                <a:ea typeface="Calibri"/>
                <a:cs typeface="Calibri"/>
              </a:rPr>
              <a:t>Core gameplay and controls work</a:t>
            </a:r>
          </a:p>
        </p:txBody>
      </p:sp>
      <p:sp>
        <p:nvSpPr>
          <p:cNvPr id="12" name="cd_readiness element 10"/>
          <p:cNvSpPr>
            <a:spLocks noGrp="1"/>
          </p:cNvSpPr>
          <p:nvPr/>
        </p:nvSpPr>
        <p:spPr>
          <a:xfrm>
            <a:off x="1323975" y="2714625"/>
            <a:ext cx="7077075" cy="276225"/>
          </a:xfrm>
          <a:prstGeom prst="rect">
            <a:avLst/>
          </a:prstGeom>
          <a:noFill/>
        </p:spPr>
        <p:txBody>
          <a:bodyPr wrap="square" lIns="0" tIns="0" rIns="0" bIns="0" anchor="t">
            <a:noAutofit/>
          </a:bodyPr>
          <a:lstStyle/>
          <a:p>
            <a:pPr marL="0" indent="0" algn="l">
              <a:spcBef>
                <a:spcPts val="0"/>
              </a:spcBef>
              <a:spcAft>
                <a:spcPts val="0"/>
              </a:spcAft>
              <a:buNone/>
              <a:defRPr sz="1388" b="0">
                <a:solidFill>
                  <a:srgbClr val="A63D20"/>
                </a:solidFill>
                <a:latin typeface="Calibri"/>
                <a:ea typeface="Calibri"/>
                <a:cs typeface="Calibri"/>
              </a:defRPr>
            </a:pPr>
            <a:r>
              <a:rPr sz="1388" b="0">
                <a:solidFill>
                  <a:srgbClr val="A63D20"/>
                </a:solidFill>
                <a:latin typeface="Calibri"/>
                <a:ea typeface="Calibri"/>
                <a:cs typeface="Calibri"/>
              </a:rPr>
              <a:t>Keyboard or touch input works for the platform we plan to show.</a:t>
            </a:r>
          </a:p>
        </p:txBody>
      </p:sp>
      <p:sp>
        <p:nvSpPr>
          <p:cNvPr id="13" name="cd_readiness element 11"/>
          <p:cNvSpPr>
            <a:spLocks noGrp="1"/>
          </p:cNvSpPr>
          <p:nvPr/>
        </p:nvSpPr>
        <p:spPr>
          <a:xfrm>
            <a:off x="457200" y="3076575"/>
            <a:ext cx="8229600" cy="609600"/>
          </a:xfrm>
          <a:prstGeom prst="roundRect">
            <a:avLst>
              <a:gd name="adj" fmla="val 18750"/>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4" name="cd_readiness element 12"/>
          <p:cNvSpPr>
            <a:spLocks noGrp="1"/>
          </p:cNvSpPr>
          <p:nvPr/>
        </p:nvSpPr>
        <p:spPr>
          <a:xfrm>
            <a:off x="647700" y="3162300"/>
            <a:ext cx="438150" cy="43815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15" name="cd_readiness element 13"/>
          <p:cNvSpPr>
            <a:spLocks noGrp="1"/>
          </p:cNvSpPr>
          <p:nvPr/>
        </p:nvSpPr>
        <p:spPr>
          <a:xfrm>
            <a:off x="647700" y="3162300"/>
            <a:ext cx="438150" cy="438150"/>
          </a:xfrm>
          <a:prstGeom prst="rect">
            <a:avLst/>
          </a:prstGeom>
          <a:noFill/>
        </p:spPr>
        <p:txBody>
          <a:bodyPr wrap="square" lIns="0" tIns="0" rIns="0" bIns="0" anchor="ctr">
            <a:noAutofit/>
          </a:bodyPr>
          <a:lstStyle/>
          <a:p>
            <a:pPr marL="0" indent="0" algn="ctr">
              <a:spcBef>
                <a:spcPts val="0"/>
              </a:spcBef>
              <a:spcAft>
                <a:spcPts val="0"/>
              </a:spcAft>
              <a:buNone/>
              <a:defRPr sz="1950" b="1">
                <a:solidFill>
                  <a:srgbClr val="FFFFFF"/>
                </a:solidFill>
                <a:latin typeface="Calibri"/>
                <a:ea typeface="Calibri"/>
                <a:cs typeface="Calibri"/>
              </a:defRPr>
            </a:pPr>
            <a:r>
              <a:rPr sz="1950" b="1">
                <a:solidFill>
                  <a:srgbClr val="FFFFFF"/>
                </a:solidFill>
                <a:latin typeface="Calibri"/>
                <a:ea typeface="Calibri"/>
                <a:cs typeface="Calibri"/>
              </a:rPr>
              <a:t>3</a:t>
            </a:r>
          </a:p>
        </p:txBody>
      </p:sp>
      <p:sp>
        <p:nvSpPr>
          <p:cNvPr id="16" name="cd_readiness element 14"/>
          <p:cNvSpPr>
            <a:spLocks noGrp="1"/>
          </p:cNvSpPr>
          <p:nvPr/>
        </p:nvSpPr>
        <p:spPr>
          <a:xfrm>
            <a:off x="1323975" y="3124200"/>
            <a:ext cx="7077075" cy="323850"/>
          </a:xfrm>
          <a:prstGeom prst="rect">
            <a:avLst/>
          </a:prstGeom>
          <a:noFill/>
        </p:spPr>
        <p:txBody>
          <a:bodyPr wrap="square" lIns="0" tIns="0" rIns="0" bIns="0" anchor="t">
            <a:noAutofit/>
          </a:bodyPr>
          <a:lstStyle/>
          <a:p>
            <a:pPr marL="0" indent="0" algn="l">
              <a:spcBef>
                <a:spcPts val="0"/>
              </a:spcBef>
              <a:spcAft>
                <a:spcPts val="0"/>
              </a:spcAft>
              <a:buNone/>
              <a:defRPr sz="1725" b="1">
                <a:solidFill>
                  <a:srgbClr val="A63D20"/>
                </a:solidFill>
                <a:latin typeface="Calibri"/>
                <a:ea typeface="Calibri"/>
                <a:cs typeface="Calibri"/>
              </a:defRPr>
            </a:pPr>
            <a:r>
              <a:rPr sz="1725" b="1">
                <a:solidFill>
                  <a:srgbClr val="A63D20"/>
                </a:solidFill>
                <a:latin typeface="Calibri"/>
                <a:ea typeface="Calibri"/>
                <a:cs typeface="Calibri"/>
              </a:rPr>
              <a:t>Required scenes and assets load</a:t>
            </a:r>
          </a:p>
        </p:txBody>
      </p:sp>
      <p:sp>
        <p:nvSpPr>
          <p:cNvPr id="17" name="cd_readiness element 15"/>
          <p:cNvSpPr>
            <a:spLocks noGrp="1"/>
          </p:cNvSpPr>
          <p:nvPr/>
        </p:nvSpPr>
        <p:spPr>
          <a:xfrm>
            <a:off x="1323975" y="3409950"/>
            <a:ext cx="7077075" cy="276225"/>
          </a:xfrm>
          <a:prstGeom prst="rect">
            <a:avLst/>
          </a:prstGeom>
          <a:noFill/>
        </p:spPr>
        <p:txBody>
          <a:bodyPr wrap="square" lIns="0" tIns="0" rIns="0" bIns="0" anchor="t">
            <a:noAutofit/>
          </a:bodyPr>
          <a:lstStyle/>
          <a:p>
            <a:pPr marL="0" indent="0" algn="l">
              <a:spcBef>
                <a:spcPts val="0"/>
              </a:spcBef>
              <a:spcAft>
                <a:spcPts val="0"/>
              </a:spcAft>
              <a:buNone/>
              <a:defRPr sz="1388" b="0">
                <a:solidFill>
                  <a:srgbClr val="A63D20"/>
                </a:solidFill>
                <a:latin typeface="Calibri"/>
                <a:ea typeface="Calibri"/>
                <a:cs typeface="Calibri"/>
              </a:defRPr>
            </a:pPr>
            <a:r>
              <a:rPr sz="1388" b="0">
                <a:solidFill>
                  <a:srgbClr val="A63D20"/>
                </a:solidFill>
                <a:latin typeface="Calibri"/>
                <a:ea typeface="Calibri"/>
                <a:cs typeface="Calibri"/>
              </a:rPr>
              <a:t>The demo can reach its scenes without missing content.</a:t>
            </a:r>
          </a:p>
        </p:txBody>
      </p:sp>
      <p:sp>
        <p:nvSpPr>
          <p:cNvPr id="18" name="cd_readiness element 16"/>
          <p:cNvSpPr>
            <a:spLocks noGrp="1"/>
          </p:cNvSpPr>
          <p:nvPr/>
        </p:nvSpPr>
        <p:spPr>
          <a:xfrm>
            <a:off x="457200" y="3771900"/>
            <a:ext cx="8229600" cy="609600"/>
          </a:xfrm>
          <a:prstGeom prst="roundRect">
            <a:avLst>
              <a:gd name="adj" fmla="val 18750"/>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19" name="cd_readiness element 17"/>
          <p:cNvSpPr>
            <a:spLocks noGrp="1"/>
          </p:cNvSpPr>
          <p:nvPr/>
        </p:nvSpPr>
        <p:spPr>
          <a:xfrm>
            <a:off x="647700" y="3857625"/>
            <a:ext cx="438150" cy="43815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20" name="cd_readiness element 18"/>
          <p:cNvSpPr>
            <a:spLocks noGrp="1"/>
          </p:cNvSpPr>
          <p:nvPr/>
        </p:nvSpPr>
        <p:spPr>
          <a:xfrm>
            <a:off x="647700" y="3857625"/>
            <a:ext cx="438150" cy="438150"/>
          </a:xfrm>
          <a:prstGeom prst="rect">
            <a:avLst/>
          </a:prstGeom>
          <a:noFill/>
        </p:spPr>
        <p:txBody>
          <a:bodyPr wrap="square" lIns="0" tIns="0" rIns="0" bIns="0" anchor="ctr">
            <a:noAutofit/>
          </a:bodyPr>
          <a:lstStyle/>
          <a:p>
            <a:pPr marL="0" indent="0" algn="ctr">
              <a:spcBef>
                <a:spcPts val="0"/>
              </a:spcBef>
              <a:spcAft>
                <a:spcPts val="0"/>
              </a:spcAft>
              <a:buNone/>
              <a:defRPr sz="1950" b="1">
                <a:solidFill>
                  <a:srgbClr val="FFFFFF"/>
                </a:solidFill>
                <a:latin typeface="Calibri"/>
                <a:ea typeface="Calibri"/>
                <a:cs typeface="Calibri"/>
              </a:defRPr>
            </a:pPr>
            <a:r>
              <a:rPr sz="1950" b="1">
                <a:solidFill>
                  <a:srgbClr val="FFFFFF"/>
                </a:solidFill>
                <a:latin typeface="Calibri"/>
                <a:ea typeface="Calibri"/>
                <a:cs typeface="Calibri"/>
              </a:rPr>
              <a:t>4</a:t>
            </a:r>
          </a:p>
        </p:txBody>
      </p:sp>
      <p:sp>
        <p:nvSpPr>
          <p:cNvPr id="21" name="cd_readiness element 19"/>
          <p:cNvSpPr>
            <a:spLocks noGrp="1"/>
          </p:cNvSpPr>
          <p:nvPr/>
        </p:nvSpPr>
        <p:spPr>
          <a:xfrm>
            <a:off x="1323975" y="3819525"/>
            <a:ext cx="7077075" cy="323850"/>
          </a:xfrm>
          <a:prstGeom prst="rect">
            <a:avLst/>
          </a:prstGeom>
          <a:noFill/>
        </p:spPr>
        <p:txBody>
          <a:bodyPr wrap="square" lIns="0" tIns="0" rIns="0" bIns="0" anchor="t">
            <a:noAutofit/>
          </a:bodyPr>
          <a:lstStyle/>
          <a:p>
            <a:pPr marL="0" indent="0" algn="l">
              <a:spcBef>
                <a:spcPts val="0"/>
              </a:spcBef>
              <a:spcAft>
                <a:spcPts val="0"/>
              </a:spcAft>
              <a:buNone/>
              <a:defRPr sz="1725" b="1">
                <a:solidFill>
                  <a:srgbClr val="A63D20"/>
                </a:solidFill>
                <a:latin typeface="Calibri"/>
                <a:ea typeface="Calibri"/>
                <a:cs typeface="Calibri"/>
              </a:defRPr>
            </a:pPr>
            <a:r>
              <a:rPr sz="1725" b="1">
                <a:solidFill>
                  <a:srgbClr val="A63D20"/>
                </a:solidFill>
                <a:latin typeface="Calibri"/>
                <a:ea typeface="Calibri"/>
                <a:cs typeface="Calibri"/>
              </a:rPr>
              <a:t>Performance meets the team's target</a:t>
            </a:r>
          </a:p>
        </p:txBody>
      </p:sp>
      <p:sp>
        <p:nvSpPr>
          <p:cNvPr id="22" name="cd_readiness element 20"/>
          <p:cNvSpPr>
            <a:spLocks noGrp="1"/>
          </p:cNvSpPr>
          <p:nvPr/>
        </p:nvSpPr>
        <p:spPr>
          <a:xfrm>
            <a:off x="1323975" y="4105275"/>
            <a:ext cx="7077075" cy="276225"/>
          </a:xfrm>
          <a:prstGeom prst="rect">
            <a:avLst/>
          </a:prstGeom>
          <a:noFill/>
        </p:spPr>
        <p:txBody>
          <a:bodyPr wrap="square" lIns="0" tIns="0" rIns="0" bIns="0" anchor="t">
            <a:noAutofit/>
          </a:bodyPr>
          <a:lstStyle/>
          <a:p>
            <a:pPr marL="0" indent="0" algn="l">
              <a:spcBef>
                <a:spcPts val="0"/>
              </a:spcBef>
              <a:spcAft>
                <a:spcPts val="0"/>
              </a:spcAft>
              <a:buNone/>
              <a:defRPr sz="1388" b="0">
                <a:solidFill>
                  <a:srgbClr val="A63D20"/>
                </a:solidFill>
                <a:latin typeface="Calibri"/>
                <a:ea typeface="Calibri"/>
                <a:cs typeface="Calibri"/>
              </a:defRPr>
            </a:pPr>
            <a:r>
              <a:rPr sz="1388" b="0">
                <a:solidFill>
                  <a:srgbClr val="A63D20"/>
                </a:solidFill>
                <a:latin typeface="Calibri"/>
                <a:ea typeface="Calibri"/>
                <a:cs typeface="Calibri"/>
              </a:rPr>
              <a:t>Measure on the target device with representative gameplay.</a:t>
            </a:r>
          </a:p>
        </p:txBody>
      </p:sp>
      <p:sp>
        <p:nvSpPr>
          <p:cNvPr id="23" name="cd_readiness element 21"/>
          <p:cNvSpPr>
            <a:spLocks noGrp="1"/>
          </p:cNvSpPr>
          <p:nvPr/>
        </p:nvSpPr>
        <p:spPr>
          <a:xfrm>
            <a:off x="457200" y="4467225"/>
            <a:ext cx="8229600" cy="609600"/>
          </a:xfrm>
          <a:prstGeom prst="roundRect">
            <a:avLst>
              <a:gd name="adj" fmla="val 18750"/>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24" name="cd_readiness element 22"/>
          <p:cNvSpPr>
            <a:spLocks noGrp="1"/>
          </p:cNvSpPr>
          <p:nvPr/>
        </p:nvSpPr>
        <p:spPr>
          <a:xfrm>
            <a:off x="647700" y="4552950"/>
            <a:ext cx="438150" cy="43815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25" name="cd_readiness element 23"/>
          <p:cNvSpPr>
            <a:spLocks noGrp="1"/>
          </p:cNvSpPr>
          <p:nvPr/>
        </p:nvSpPr>
        <p:spPr>
          <a:xfrm>
            <a:off x="647700" y="4552950"/>
            <a:ext cx="438150" cy="438150"/>
          </a:xfrm>
          <a:prstGeom prst="rect">
            <a:avLst/>
          </a:prstGeom>
          <a:noFill/>
        </p:spPr>
        <p:txBody>
          <a:bodyPr wrap="square" lIns="0" tIns="0" rIns="0" bIns="0" anchor="ctr">
            <a:noAutofit/>
          </a:bodyPr>
          <a:lstStyle/>
          <a:p>
            <a:pPr marL="0" indent="0" algn="ctr">
              <a:spcBef>
                <a:spcPts val="0"/>
              </a:spcBef>
              <a:spcAft>
                <a:spcPts val="0"/>
              </a:spcAft>
              <a:buNone/>
              <a:defRPr sz="1950" b="1">
                <a:solidFill>
                  <a:srgbClr val="FFFFFF"/>
                </a:solidFill>
                <a:latin typeface="Calibri"/>
                <a:ea typeface="Calibri"/>
                <a:cs typeface="Calibri"/>
              </a:defRPr>
            </a:pPr>
            <a:r>
              <a:rPr sz="1950" b="1">
                <a:solidFill>
                  <a:srgbClr val="FFFFFF"/>
                </a:solidFill>
                <a:latin typeface="Calibri"/>
                <a:ea typeface="Calibri"/>
                <a:cs typeface="Calibri"/>
              </a:rPr>
              <a:t>5</a:t>
            </a:r>
          </a:p>
        </p:txBody>
      </p:sp>
      <p:sp>
        <p:nvSpPr>
          <p:cNvPr id="26" name="cd_readiness element 24"/>
          <p:cNvSpPr>
            <a:spLocks noGrp="1"/>
          </p:cNvSpPr>
          <p:nvPr/>
        </p:nvSpPr>
        <p:spPr>
          <a:xfrm>
            <a:off x="1323975" y="4514850"/>
            <a:ext cx="7077075" cy="323850"/>
          </a:xfrm>
          <a:prstGeom prst="rect">
            <a:avLst/>
          </a:prstGeom>
          <a:noFill/>
        </p:spPr>
        <p:txBody>
          <a:bodyPr wrap="square" lIns="0" tIns="0" rIns="0" bIns="0" anchor="t">
            <a:noAutofit/>
          </a:bodyPr>
          <a:lstStyle/>
          <a:p>
            <a:pPr marL="0" indent="0" algn="l">
              <a:spcBef>
                <a:spcPts val="0"/>
              </a:spcBef>
              <a:spcAft>
                <a:spcPts val="0"/>
              </a:spcAft>
              <a:buNone/>
              <a:defRPr sz="1725" b="1">
                <a:solidFill>
                  <a:srgbClr val="A63D20"/>
                </a:solidFill>
                <a:latin typeface="Calibri"/>
                <a:ea typeface="Calibri"/>
                <a:cs typeface="Calibri"/>
              </a:defRPr>
            </a:pPr>
            <a:r>
              <a:rPr sz="1725" b="1">
                <a:solidFill>
                  <a:srgbClr val="A63D20"/>
                </a:solidFill>
                <a:latin typeface="Calibri"/>
                <a:ea typeface="Calibri"/>
                <a:cs typeface="Calibri"/>
              </a:rPr>
              <a:t>Demo link or QR code opens the build</a:t>
            </a:r>
          </a:p>
        </p:txBody>
      </p:sp>
      <p:sp>
        <p:nvSpPr>
          <p:cNvPr id="27" name="cd_readiness element 25"/>
          <p:cNvSpPr>
            <a:spLocks noGrp="1"/>
          </p:cNvSpPr>
          <p:nvPr/>
        </p:nvSpPr>
        <p:spPr>
          <a:xfrm>
            <a:off x="1323975" y="4800600"/>
            <a:ext cx="7077075" cy="276225"/>
          </a:xfrm>
          <a:prstGeom prst="rect">
            <a:avLst/>
          </a:prstGeom>
          <a:noFill/>
        </p:spPr>
        <p:txBody>
          <a:bodyPr wrap="square" lIns="0" tIns="0" rIns="0" bIns="0" anchor="t">
            <a:noAutofit/>
          </a:bodyPr>
          <a:lstStyle/>
          <a:p>
            <a:pPr marL="0" indent="0" algn="l">
              <a:spcBef>
                <a:spcPts val="0"/>
              </a:spcBef>
              <a:spcAft>
                <a:spcPts val="0"/>
              </a:spcAft>
              <a:buNone/>
              <a:defRPr sz="1388" b="0">
                <a:solidFill>
                  <a:srgbClr val="A63D20"/>
                </a:solidFill>
                <a:latin typeface="Calibri"/>
                <a:ea typeface="Calibri"/>
                <a:cs typeface="Calibri"/>
              </a:defRPr>
            </a:pPr>
            <a:r>
              <a:rPr sz="1388" b="0">
                <a:solidFill>
                  <a:srgbClr val="A63D20"/>
                </a:solidFill>
                <a:latin typeface="Calibri"/>
                <a:ea typeface="Calibri"/>
                <a:cs typeface="Calibri"/>
              </a:rPr>
              <a:t>A new visitor can reach the tested version.</a:t>
            </a:r>
          </a:p>
        </p:txBody>
      </p:sp>
      <p:sp>
        <p:nvSpPr>
          <p:cNvPr id="28" name="cd_readiness element 26"/>
          <p:cNvSpPr>
            <a:spLocks noGrp="1"/>
          </p:cNvSpPr>
          <p:nvPr/>
        </p:nvSpPr>
        <p:spPr>
          <a:xfrm>
            <a:off x="457200" y="5162550"/>
            <a:ext cx="8229600" cy="609600"/>
          </a:xfrm>
          <a:prstGeom prst="roundRect">
            <a:avLst>
              <a:gd name="adj" fmla="val 18750"/>
            </a:avLst>
          </a:prstGeom>
          <a:solidFill>
            <a:srgbClr val="F7E9E4"/>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29" name="cd_readiness element 27"/>
          <p:cNvSpPr>
            <a:spLocks noGrp="1"/>
          </p:cNvSpPr>
          <p:nvPr/>
        </p:nvSpPr>
        <p:spPr>
          <a:xfrm>
            <a:off x="647700" y="5248275"/>
            <a:ext cx="438150" cy="438150"/>
          </a:xfrm>
          <a:prstGeom prst="ellipse">
            <a:avLst/>
          </a:prstGeom>
          <a:solidFill>
            <a:srgbClr val="A63D20"/>
          </a:solidFill>
          <a:ln w="0">
            <a:noFill/>
          </a:ln>
        </p:spPr>
        <p:style>
          <a:lnRef idx="0">
            <a:scrgbClr r="0" g="0" b="0"/>
          </a:lnRef>
          <a:fillRef idx="0">
            <a:scrgbClr r="0" g="0" b="0"/>
          </a:fillRef>
          <a:effectRef idx="5">
            <a:scrgbClr r="0" g="0" b="0"/>
          </a:effectRef>
          <a:fontRef idx="major"/>
        </p:style>
        <p:txBody>
          <a:bodyPr/>
          <a:lstStyle/>
          <a:p>
            <a:endParaRPr lang="en-US"/>
          </a:p>
        </p:txBody>
      </p:sp>
      <p:sp>
        <p:nvSpPr>
          <p:cNvPr id="30" name="cd_readiness element 28"/>
          <p:cNvSpPr>
            <a:spLocks noGrp="1"/>
          </p:cNvSpPr>
          <p:nvPr/>
        </p:nvSpPr>
        <p:spPr>
          <a:xfrm>
            <a:off x="647700" y="5248275"/>
            <a:ext cx="438150" cy="438150"/>
          </a:xfrm>
          <a:prstGeom prst="rect">
            <a:avLst/>
          </a:prstGeom>
          <a:noFill/>
        </p:spPr>
        <p:txBody>
          <a:bodyPr wrap="square" lIns="0" tIns="0" rIns="0" bIns="0" anchor="ctr">
            <a:noAutofit/>
          </a:bodyPr>
          <a:lstStyle/>
          <a:p>
            <a:pPr marL="0" indent="0" algn="ctr">
              <a:spcBef>
                <a:spcPts val="0"/>
              </a:spcBef>
              <a:spcAft>
                <a:spcPts val="0"/>
              </a:spcAft>
              <a:buNone/>
              <a:defRPr sz="1950" b="1">
                <a:solidFill>
                  <a:srgbClr val="FFFFFF"/>
                </a:solidFill>
                <a:latin typeface="Calibri"/>
                <a:ea typeface="Calibri"/>
                <a:cs typeface="Calibri"/>
              </a:defRPr>
            </a:pPr>
            <a:r>
              <a:rPr sz="1950" b="1">
                <a:solidFill>
                  <a:srgbClr val="FFFFFF"/>
                </a:solidFill>
                <a:latin typeface="Calibri"/>
                <a:ea typeface="Calibri"/>
                <a:cs typeface="Calibri"/>
              </a:rPr>
              <a:t>6</a:t>
            </a:r>
          </a:p>
        </p:txBody>
      </p:sp>
      <p:sp>
        <p:nvSpPr>
          <p:cNvPr id="31" name="cd_readiness element 29"/>
          <p:cNvSpPr>
            <a:spLocks noGrp="1"/>
          </p:cNvSpPr>
          <p:nvPr/>
        </p:nvSpPr>
        <p:spPr>
          <a:xfrm>
            <a:off x="1323975" y="5210175"/>
            <a:ext cx="7077075" cy="323850"/>
          </a:xfrm>
          <a:prstGeom prst="rect">
            <a:avLst/>
          </a:prstGeom>
          <a:noFill/>
        </p:spPr>
        <p:txBody>
          <a:bodyPr wrap="square" lIns="0" tIns="0" rIns="0" bIns="0" anchor="t">
            <a:noAutofit/>
          </a:bodyPr>
          <a:lstStyle/>
          <a:p>
            <a:pPr marL="0" indent="0" algn="l">
              <a:spcBef>
                <a:spcPts val="0"/>
              </a:spcBef>
              <a:spcAft>
                <a:spcPts val="0"/>
              </a:spcAft>
              <a:buNone/>
              <a:defRPr sz="1725" b="1">
                <a:solidFill>
                  <a:srgbClr val="A63D20"/>
                </a:solidFill>
                <a:latin typeface="Calibri"/>
                <a:ea typeface="Calibri"/>
                <a:cs typeface="Calibri"/>
              </a:defRPr>
            </a:pPr>
            <a:r>
              <a:rPr sz="1725" b="1">
                <a:solidFill>
                  <a:srgbClr val="A63D20"/>
                </a:solidFill>
                <a:latin typeface="Calibri"/>
                <a:ea typeface="Calibri"/>
                <a:cs typeface="Calibri"/>
              </a:rPr>
              <a:t>A verified backup build is available</a:t>
            </a:r>
          </a:p>
        </p:txBody>
      </p:sp>
      <p:sp>
        <p:nvSpPr>
          <p:cNvPr id="32" name="cd_readiness element 30"/>
          <p:cNvSpPr>
            <a:spLocks noGrp="1"/>
          </p:cNvSpPr>
          <p:nvPr/>
        </p:nvSpPr>
        <p:spPr>
          <a:xfrm>
            <a:off x="1323975" y="5495925"/>
            <a:ext cx="7077075" cy="276225"/>
          </a:xfrm>
          <a:prstGeom prst="rect">
            <a:avLst/>
          </a:prstGeom>
          <a:noFill/>
        </p:spPr>
        <p:txBody>
          <a:bodyPr wrap="square" lIns="0" tIns="0" rIns="0" bIns="0" anchor="t">
            <a:noAutofit/>
          </a:bodyPr>
          <a:lstStyle/>
          <a:p>
            <a:pPr marL="0" indent="0" algn="l">
              <a:spcBef>
                <a:spcPts val="0"/>
              </a:spcBef>
              <a:spcAft>
                <a:spcPts val="0"/>
              </a:spcAft>
              <a:buNone/>
              <a:defRPr sz="1388" b="0">
                <a:solidFill>
                  <a:srgbClr val="A63D20"/>
                </a:solidFill>
                <a:latin typeface="Calibri"/>
                <a:ea typeface="Calibri"/>
                <a:cs typeface="Calibri"/>
              </a:defRPr>
            </a:pPr>
            <a:r>
              <a:rPr sz="1388" b="0">
                <a:solidFill>
                  <a:srgbClr val="A63D20"/>
                </a:solidFill>
                <a:latin typeface="Calibri"/>
                <a:ea typeface="Calibri"/>
                <a:cs typeface="Calibri"/>
              </a:rPr>
              <a:t>We can return to a working version if the demo breaks.</a:t>
            </a:r>
          </a:p>
        </p:txBody>
      </p:sp>
      <p:sp>
        <p:nvSpPr>
          <p:cNvPr id="33" name="cd_readiness element 31"/>
          <p:cNvSpPr>
            <a:spLocks noGrp="1"/>
          </p:cNvSpPr>
          <p:nvPr/>
        </p:nvSpPr>
        <p:spPr>
          <a:xfrm>
            <a:off x="542925" y="6619875"/>
            <a:ext cx="2857500" cy="219075"/>
          </a:xfrm>
          <a:prstGeom prst="rect">
            <a:avLst/>
          </a:prstGeom>
          <a:noFill/>
        </p:spPr>
        <p:txBody>
          <a:bodyPr wrap="square" lIns="0" tIns="0" rIns="0" bIns="0" anchor="t">
            <a:noAutofit/>
          </a:bodyPr>
          <a:lstStyle/>
          <a:p>
            <a:pPr marL="0" indent="0" algn="l">
              <a:spcBef>
                <a:spcPts val="0"/>
              </a:spcBef>
              <a:spcAft>
                <a:spcPts val="0"/>
              </a:spcAft>
              <a:buNone/>
              <a:defRPr sz="1500" b="0">
                <a:solidFill>
                  <a:srgbClr val="FFFFFF"/>
                </a:solidFill>
                <a:latin typeface="Calibri"/>
                <a:ea typeface="Calibri"/>
                <a:cs typeface="Calibri"/>
              </a:defRPr>
            </a:pPr>
            <a:r>
              <a:rPr sz="1500" b="0">
                <a:solidFill>
                  <a:srgbClr val="FFFFFF"/>
                </a:solidFill>
                <a:latin typeface="Calibri"/>
                <a:ea typeface="Calibri"/>
                <a:cs typeface="Calibri"/>
              </a:rPr>
              <a:t>Matteo</a:t>
            </a:r>
          </a:p>
        </p:txBody>
      </p:sp>
      <p:sp>
        <p:nvSpPr>
          <p:cNvPr id="34" name="cd-readiness summary 0"/>
          <p:cNvSpPr>
            <a:spLocks noGrp="1"/>
          </p:cNvSpPr>
          <p:nvPr/>
        </p:nvSpPr>
        <p:spPr>
          <a:xfrm>
            <a:off x="457200" y="5981700"/>
            <a:ext cx="8229600" cy="361950"/>
          </a:xfrm>
          <a:prstGeom prst="roundRect">
            <a:avLst>
              <a:gd name="adj" fmla="val 31579"/>
            </a:avLst>
          </a:prstGeom>
          <a:solidFill>
            <a:srgbClr val="A63D20"/>
          </a:solidFill>
          <a:ln w="0">
            <a:noFill/>
          </a:ln>
        </p:spPr>
        <p:style>
          <a:lnRef idx="0">
            <a:scrgbClr r="0" g="0" b="0"/>
          </a:lnRef>
          <a:fillRef idx="0">
            <a:scrgbClr r="0" g="0" b="0"/>
          </a:fillRef>
          <a:effectRef idx="4">
            <a:scrgbClr r="0" g="0" b="0"/>
          </a:effectRef>
          <a:fontRef idx="major"/>
        </p:style>
        <p:txBody>
          <a:bodyPr/>
          <a:lstStyle/>
          <a:p>
            <a:endParaRPr lang="en-US"/>
          </a:p>
        </p:txBody>
      </p:sp>
      <p:sp>
        <p:nvSpPr>
          <p:cNvPr id="35" name="cd-readiness summary 1"/>
          <p:cNvSpPr>
            <a:spLocks noGrp="1"/>
          </p:cNvSpPr>
          <p:nvPr/>
        </p:nvSpPr>
        <p:spPr>
          <a:xfrm>
            <a:off x="619125" y="6029325"/>
            <a:ext cx="7905750" cy="266700"/>
          </a:xfrm>
          <a:prstGeom prst="rect">
            <a:avLst/>
          </a:prstGeom>
          <a:noFill/>
        </p:spPr>
        <p:txBody>
          <a:bodyPr wrap="square" lIns="0" tIns="0" rIns="0" bIns="0" anchor="ctr">
            <a:noAutofit/>
          </a:bodyPr>
          <a:lstStyle/>
          <a:p>
            <a:pPr marL="0" indent="0" algn="ctr">
              <a:spcBef>
                <a:spcPts val="0"/>
              </a:spcBef>
              <a:spcAft>
                <a:spcPts val="0"/>
              </a:spcAft>
              <a:buNone/>
              <a:defRPr sz="1650" b="1">
                <a:solidFill>
                  <a:srgbClr val="FFFFFF"/>
                </a:solidFill>
                <a:latin typeface="Calibri"/>
                <a:ea typeface="Calibri"/>
                <a:cs typeface="Calibri"/>
              </a:defRPr>
            </a:pPr>
            <a:r>
              <a:rPr sz="1650" b="1">
                <a:solidFill>
                  <a:srgbClr val="FFFFFF"/>
                </a:solidFill>
                <a:latin typeface="Calibri"/>
                <a:ea typeface="Calibri"/>
                <a:cs typeface="Calibri"/>
              </a:rPr>
              <a:t>Team-agreed criteria make 'ready' something we can verify.</a:t>
            </a:r>
          </a:p>
        </p:txBody>
      </p:sp>
      <p:pic>
        <p:nvPicPr>
          <p:cNvPr id="38" name="Audio 37">
            <a:hlinkClick r:id="" action="ppaction://media"/>
            <a:extLst>
              <a:ext uri="{FF2B5EF4-FFF2-40B4-BE49-F238E27FC236}">
                <a16:creationId xmlns:a16="http://schemas.microsoft.com/office/drawing/2014/main" id="{2C483BD3-EE61-EC65-AD21-4A2345A3F127}"/>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7004304" y="4718304"/>
            <a:ext cx="2057400" cy="2057400"/>
          </a:xfrm>
          <a:prstGeom prst="ellipse">
            <a:avLst/>
          </a:prstGeom>
        </p:spPr>
      </p:pic>
    </p:spTree>
    <p:extLst>
      <p:ext uri="{BB962C8B-B14F-4D97-AF65-F5344CB8AC3E}">
        <p14:creationId xmlns:p14="http://schemas.microsoft.com/office/powerpoint/2010/main" val="1034355941"/>
      </p:ext>
    </p:extLst>
  </p:cSld>
  <p:clrMapOvr>
    <a:masterClrMapping/>
  </p:clrMapOvr>
  <mc:AlternateContent xmlns:mc="http://schemas.openxmlformats.org/markup-compatibility/2006">
    <mc:Choice xmlns:p14="http://schemas.microsoft.com/office/powerpoint/2010/main" Requires="p14">
      <p:transition spd="slow" p14:dur="2000" advTm="69705"/>
    </mc:Choice>
    <mc:Fallback>
      <p:transition spd="slow" advTm="697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0060" y="1131570"/>
            <a:ext cx="8161020" cy="617220"/>
          </a:xfrm>
          <a:prstGeom prst="rect">
            <a:avLst/>
          </a:prstGeom>
          <a:noFill/>
          <a:ln/>
        </p:spPr>
        <p:txBody>
          <a:bodyPr wrap="square" lIns="0" tIns="0" rIns="0" bIns="0" rtlCol="0" anchor="ctr"/>
          <a:lstStyle/>
          <a:p>
            <a:pPr marL="0" indent="0">
              <a:buNone/>
            </a:pPr>
            <a:r>
              <a:rPr lang="en-US" sz="2700" b="1">
                <a:solidFill>
                  <a:srgbClr val="A63D2A"/>
                </a:solidFill>
                <a:latin typeface="Calibri" pitchFamily="34" charset="0"/>
                <a:ea typeface="Calibri" pitchFamily="34" charset="-122"/>
                <a:cs typeface="Calibri" pitchFamily="34" charset="-120"/>
              </a:rPr>
              <a:t>Reading a Build / Deploy Failure</a:t>
            </a:r>
            <a:endParaRPr lang="en-US" sz="2700"/>
          </a:p>
        </p:txBody>
      </p:sp>
      <p:sp>
        <p:nvSpPr>
          <p:cNvPr id="3" name="Text 1"/>
          <p:cNvSpPr txBox="1"/>
          <p:nvPr/>
        </p:nvSpPr>
        <p:spPr>
          <a:xfrm>
            <a:off x="480060" y="1748790"/>
            <a:ext cx="8161020" cy="342900"/>
          </a:xfrm>
          <a:prstGeom prst="rect">
            <a:avLst/>
          </a:prstGeom>
          <a:noFill/>
          <a:ln/>
        </p:spPr>
        <p:txBody>
          <a:bodyPr wrap="square" lIns="0" tIns="0" rIns="0" bIns="0" rtlCol="0" anchor="ctr"/>
          <a:lstStyle/>
          <a:p>
            <a:pPr marL="0" indent="0">
              <a:buNone/>
            </a:pPr>
            <a:r>
              <a:rPr lang="en-US" sz="1350">
                <a:solidFill>
                  <a:srgbClr val="6B6B6B"/>
                </a:solidFill>
                <a:latin typeface="Calibri" pitchFamily="34" charset="0"/>
                <a:ea typeface="Calibri" pitchFamily="34" charset="-122"/>
                <a:cs typeface="Calibri" pitchFamily="34" charset="-120"/>
              </a:rPr>
              <a:t>A build fails differently than code fails, but only in a few shapes.</a:t>
            </a:r>
            <a:endParaRPr lang="en-US" sz="1350"/>
          </a:p>
        </p:txBody>
      </p:sp>
      <p:sp>
        <p:nvSpPr>
          <p:cNvPr id="4" name="Shape 2"/>
          <p:cNvSpPr/>
          <p:nvPr/>
        </p:nvSpPr>
        <p:spPr>
          <a:xfrm>
            <a:off x="480060" y="2366010"/>
            <a:ext cx="3977640" cy="2468880"/>
          </a:xfrm>
          <a:prstGeom prst="roundRect">
            <a:avLst>
              <a:gd name="adj" fmla="val 4167"/>
            </a:avLst>
          </a:prstGeom>
          <a:solidFill>
            <a:srgbClr val="FBE9E4"/>
          </a:solidFill>
          <a:ln/>
        </p:spPr>
        <p:txBody>
          <a:bodyPr/>
          <a:lstStyle/>
          <a:p>
            <a:endParaRPr lang="en-US"/>
          </a:p>
        </p:txBody>
      </p:sp>
      <p:sp>
        <p:nvSpPr>
          <p:cNvPr id="5" name="Text 3"/>
          <p:cNvSpPr txBox="1"/>
          <p:nvPr/>
        </p:nvSpPr>
        <p:spPr>
          <a:xfrm>
            <a:off x="754380" y="2537460"/>
            <a:ext cx="3429000" cy="480060"/>
          </a:xfrm>
          <a:prstGeom prst="rect">
            <a:avLst/>
          </a:prstGeom>
          <a:noFill/>
          <a:ln/>
        </p:spPr>
        <p:txBody>
          <a:bodyPr wrap="square" lIns="0" tIns="0" rIns="0" bIns="0" rtlCol="0" anchor="ctr"/>
          <a:lstStyle/>
          <a:p>
            <a:r>
              <a:rPr lang="en-US" sz="2100" b="1">
                <a:solidFill>
                  <a:srgbClr val="2B2B2B"/>
                </a:solidFill>
                <a:latin typeface="Calibri"/>
                <a:ea typeface="Calibri"/>
                <a:cs typeface="Calibri"/>
              </a:rPr>
              <a:t>When code fails</a:t>
            </a:r>
            <a:endParaRPr lang="en-US" sz="2100">
              <a:latin typeface="Calibri"/>
              <a:ea typeface="Calibri"/>
              <a:cs typeface="Calibri"/>
            </a:endParaRPr>
          </a:p>
        </p:txBody>
      </p:sp>
      <p:sp>
        <p:nvSpPr>
          <p:cNvPr id="6" name="Text 4"/>
          <p:cNvSpPr txBox="1"/>
          <p:nvPr/>
        </p:nvSpPr>
        <p:spPr>
          <a:xfrm>
            <a:off x="754380" y="3120390"/>
            <a:ext cx="3429000" cy="1508760"/>
          </a:xfrm>
          <a:prstGeom prst="rect">
            <a:avLst/>
          </a:prstGeom>
          <a:noFill/>
          <a:ln/>
        </p:spPr>
        <p:txBody>
          <a:bodyPr wrap="square" lIns="0" tIns="0" rIns="0" bIns="0" rtlCol="0" anchor="t"/>
          <a:lstStyle/>
          <a:p>
            <a:pPr marL="257175" indent="-257175">
              <a:spcAft>
                <a:spcPts val="750"/>
              </a:spcAft>
              <a:buSzPct val="100000"/>
              <a:buChar char="•"/>
            </a:pPr>
            <a:r>
              <a:rPr lang="en-US" sz="1650">
                <a:solidFill>
                  <a:srgbClr val="2B2B2B"/>
                </a:solidFill>
                <a:latin typeface="Calibri" pitchFamily="34" charset="0"/>
                <a:ea typeface="Calibri" pitchFamily="34" charset="-122"/>
                <a:cs typeface="Calibri" pitchFamily="34" charset="-120"/>
              </a:rPr>
              <a:t>A test goes red</a:t>
            </a:r>
            <a:endParaRPr lang="en-US" sz="1650"/>
          </a:p>
          <a:p>
            <a:pPr marL="257175" indent="-257175">
              <a:spcAft>
                <a:spcPts val="750"/>
              </a:spcAft>
              <a:buSzPct val="100000"/>
              <a:buChar char="•"/>
            </a:pPr>
            <a:r>
              <a:rPr lang="en-US" sz="1650">
                <a:solidFill>
                  <a:srgbClr val="2B2B2B"/>
                </a:solidFill>
                <a:latin typeface="Calibri"/>
                <a:ea typeface="Calibri"/>
                <a:cs typeface="Calibri"/>
              </a:rPr>
              <a:t>Points at one function/line</a:t>
            </a:r>
            <a:endParaRPr lang="en-US" sz="1650"/>
          </a:p>
          <a:p>
            <a:pPr marL="257175" indent="-257175">
              <a:spcAft>
                <a:spcPts val="750"/>
              </a:spcAft>
              <a:buSzPct val="100000"/>
              <a:buChar char="•"/>
            </a:pPr>
            <a:r>
              <a:rPr lang="en-US" sz="1650">
                <a:solidFill>
                  <a:srgbClr val="2B2B2B"/>
                </a:solidFill>
                <a:latin typeface="Calibri" pitchFamily="34" charset="0"/>
                <a:ea typeface="Calibri" pitchFamily="34" charset="-122"/>
                <a:cs typeface="Calibri" pitchFamily="34" charset="-120"/>
              </a:rPr>
              <a:t>Easy to spot, easy to rerun</a:t>
            </a:r>
            <a:endParaRPr lang="en-US" sz="1650"/>
          </a:p>
        </p:txBody>
      </p:sp>
      <p:sp>
        <p:nvSpPr>
          <p:cNvPr id="7" name="Shape 5"/>
          <p:cNvSpPr/>
          <p:nvPr/>
        </p:nvSpPr>
        <p:spPr>
          <a:xfrm>
            <a:off x="4663440" y="2366010"/>
            <a:ext cx="3977640" cy="2468880"/>
          </a:xfrm>
          <a:prstGeom prst="roundRect">
            <a:avLst>
              <a:gd name="adj" fmla="val 4167"/>
            </a:avLst>
          </a:prstGeom>
          <a:solidFill>
            <a:srgbClr val="A63D2A"/>
          </a:solidFill>
          <a:ln/>
        </p:spPr>
        <p:txBody>
          <a:bodyPr/>
          <a:lstStyle/>
          <a:p>
            <a:endParaRPr lang="en-US"/>
          </a:p>
        </p:txBody>
      </p:sp>
      <p:sp>
        <p:nvSpPr>
          <p:cNvPr id="8" name="Text 6"/>
          <p:cNvSpPr txBox="1"/>
          <p:nvPr/>
        </p:nvSpPr>
        <p:spPr>
          <a:xfrm>
            <a:off x="4937760" y="2537460"/>
            <a:ext cx="3429000" cy="480060"/>
          </a:xfrm>
          <a:prstGeom prst="rect">
            <a:avLst/>
          </a:prstGeom>
          <a:noFill/>
          <a:ln/>
        </p:spPr>
        <p:txBody>
          <a:bodyPr wrap="square" lIns="0" tIns="0" rIns="0" bIns="0" rtlCol="0" anchor="ctr"/>
          <a:lstStyle/>
          <a:p>
            <a:r>
              <a:rPr lang="en-US" sz="2100" b="1">
                <a:solidFill>
                  <a:srgbClr val="FFFFFF"/>
                </a:solidFill>
                <a:latin typeface="Calibri"/>
                <a:ea typeface="Calibri"/>
                <a:cs typeface="Calibri"/>
              </a:rPr>
              <a:t>When a build fails</a:t>
            </a:r>
            <a:endParaRPr lang="en-US" sz="2100">
              <a:latin typeface="Calibri"/>
              <a:ea typeface="Calibri"/>
              <a:cs typeface="Calibri"/>
            </a:endParaRPr>
          </a:p>
        </p:txBody>
      </p:sp>
      <p:sp>
        <p:nvSpPr>
          <p:cNvPr id="9" name="Text 7"/>
          <p:cNvSpPr txBox="1"/>
          <p:nvPr/>
        </p:nvSpPr>
        <p:spPr>
          <a:xfrm>
            <a:off x="4937760" y="3120390"/>
            <a:ext cx="3429000" cy="1508760"/>
          </a:xfrm>
          <a:prstGeom prst="rect">
            <a:avLst/>
          </a:prstGeom>
          <a:noFill/>
          <a:ln/>
        </p:spPr>
        <p:txBody>
          <a:bodyPr wrap="square" lIns="0" tIns="0" rIns="0" bIns="0" rtlCol="0" anchor="t"/>
          <a:lstStyle/>
          <a:p>
            <a:pPr marL="257175" indent="-257175">
              <a:spcAft>
                <a:spcPts val="750"/>
              </a:spcAft>
              <a:buSzPct val="100000"/>
              <a:buChar char="•"/>
            </a:pPr>
            <a:r>
              <a:rPr lang="en-US" sz="1650">
                <a:solidFill>
                  <a:srgbClr val="FFFFFF"/>
                </a:solidFill>
                <a:latin typeface="Calibri" pitchFamily="34" charset="0"/>
                <a:ea typeface="Calibri" pitchFamily="34" charset="-122"/>
                <a:cs typeface="Calibri" pitchFamily="34" charset="-120"/>
              </a:rPr>
              <a:t>A wall of scary red text</a:t>
            </a:r>
            <a:endParaRPr lang="en-US" sz="1650"/>
          </a:p>
          <a:p>
            <a:pPr marL="257175" indent="-257175">
              <a:spcAft>
                <a:spcPts val="750"/>
              </a:spcAft>
              <a:buSzPct val="100000"/>
              <a:buChar char="•"/>
            </a:pPr>
            <a:r>
              <a:rPr lang="en-US" sz="1650">
                <a:solidFill>
                  <a:srgbClr val="FFFFFF"/>
                </a:solidFill>
                <a:latin typeface="Calibri" pitchFamily="34" charset="0"/>
                <a:ea typeface="Calibri" pitchFamily="34" charset="-122"/>
                <a:cs typeface="Calibri" pitchFamily="34" charset="-120"/>
              </a:rPr>
              <a:t>Often works fine in the editor</a:t>
            </a:r>
            <a:endParaRPr lang="en-US" sz="1650"/>
          </a:p>
          <a:p>
            <a:pPr marL="257175" indent="-257175">
              <a:spcAft>
                <a:spcPts val="750"/>
              </a:spcAft>
              <a:buSzPct val="100000"/>
              <a:buChar char="•"/>
            </a:pPr>
            <a:r>
              <a:rPr lang="en-US" sz="1650">
                <a:solidFill>
                  <a:srgbClr val="FFFFFF"/>
                </a:solidFill>
                <a:latin typeface="Calibri" pitchFamily="34" charset="0"/>
                <a:ea typeface="Calibri" pitchFamily="34" charset="-122"/>
                <a:cs typeface="Calibri" pitchFamily="34" charset="-120"/>
              </a:rPr>
              <a:t>Looks worse than it really is</a:t>
            </a:r>
            <a:endParaRPr lang="en-US" sz="1650"/>
          </a:p>
        </p:txBody>
      </p:sp>
      <p:sp>
        <p:nvSpPr>
          <p:cNvPr id="11" name="Text 9"/>
          <p:cNvSpPr txBox="1"/>
          <p:nvPr/>
        </p:nvSpPr>
        <p:spPr>
          <a:xfrm>
            <a:off x="547370" y="6653530"/>
            <a:ext cx="4114800" cy="205740"/>
          </a:xfrm>
          <a:prstGeom prst="rect">
            <a:avLst/>
          </a:prstGeom>
          <a:noFill/>
          <a:ln/>
        </p:spPr>
        <p:txBody>
          <a:bodyPr wrap="square" lIns="0" tIns="0" rIns="0" bIns="0" rtlCol="0" anchor="ctr"/>
          <a:lstStyle/>
          <a:p>
            <a:pPr marL="0" indent="0">
              <a:buNone/>
            </a:pPr>
            <a:r>
              <a:rPr lang="en-US" err="1">
                <a:solidFill>
                  <a:schemeClr val="bg1"/>
                </a:solidFill>
                <a:latin typeface="Calibri"/>
                <a:ea typeface="Calibri"/>
                <a:cs typeface="Calibri"/>
              </a:rPr>
              <a:t>Rinab</a:t>
            </a:r>
            <a:endParaRPr lang="en-US" err="1">
              <a:solidFill>
                <a:schemeClr val="bg1"/>
              </a:solidFill>
              <a:ea typeface="Calibri"/>
              <a:cs typeface="Calibri"/>
            </a:endParaRPr>
          </a:p>
        </p:txBody>
      </p:sp>
    </p:spTree>
    <p:extLst>
      <p:ext uri="{BB962C8B-B14F-4D97-AF65-F5344CB8AC3E}">
        <p14:creationId xmlns:p14="http://schemas.microsoft.com/office/powerpoint/2010/main" val="2317906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822960"/>
          </a:xfrm>
          <a:prstGeom prst="rect">
            <a:avLst/>
          </a:prstGeom>
          <a:noFill/>
          <a:ln/>
        </p:spPr>
        <p:txBody>
          <a:bodyPr wrap="square" lIns="0" tIns="0" rIns="0" bIns="0" rtlCol="0" anchor="t"/>
          <a:lstStyle/>
          <a:p>
            <a:pPr marL="0" indent="0">
              <a:buNone/>
            </a:pPr>
            <a:r>
              <a:rPr lang="en-US" sz="3200" b="1">
                <a:solidFill>
                  <a:srgbClr val="A63D2A"/>
                </a:solidFill>
                <a:latin typeface="Calibri"/>
                <a:ea typeface="Calibri"/>
                <a:cs typeface="Calibri"/>
              </a:rPr>
              <a:t>The Four Shapes of a Build Failure</a:t>
            </a:r>
            <a:endParaRPr lang="en-US" sz="3200">
              <a:latin typeface="Calibri"/>
              <a:ea typeface="Calibri"/>
              <a:cs typeface="Calibri"/>
            </a:endParaRPr>
          </a:p>
        </p:txBody>
      </p:sp>
      <p:sp>
        <p:nvSpPr>
          <p:cNvPr id="3" name="Shape 1"/>
          <p:cNvSpPr/>
          <p:nvPr/>
        </p:nvSpPr>
        <p:spPr>
          <a:xfrm>
            <a:off x="523875" y="1552575"/>
            <a:ext cx="8039100" cy="916305"/>
          </a:xfrm>
          <a:prstGeom prst="roundRect">
            <a:avLst>
              <a:gd name="adj" fmla="val 8824"/>
            </a:avLst>
          </a:prstGeom>
          <a:solidFill>
            <a:srgbClr val="FBE9E4"/>
          </a:solidFill>
          <a:ln/>
        </p:spPr>
        <p:txBody>
          <a:bodyPr/>
          <a:lstStyle/>
          <a:p>
            <a:endParaRPr lang="en-US"/>
          </a:p>
        </p:txBody>
      </p:sp>
      <p:sp>
        <p:nvSpPr>
          <p:cNvPr id="4" name="Shape 2"/>
          <p:cNvSpPr/>
          <p:nvPr/>
        </p:nvSpPr>
        <p:spPr>
          <a:xfrm>
            <a:off x="645795" y="1743075"/>
            <a:ext cx="640080" cy="640080"/>
          </a:xfrm>
          <a:prstGeom prst="ellipse">
            <a:avLst/>
          </a:prstGeom>
          <a:solidFill>
            <a:srgbClr val="A63D2A"/>
          </a:solidFill>
          <a:ln/>
        </p:spPr>
        <p:txBody>
          <a:bodyPr/>
          <a:lstStyle/>
          <a:p>
            <a:endParaRPr lang="en-US"/>
          </a:p>
        </p:txBody>
      </p:sp>
      <p:sp>
        <p:nvSpPr>
          <p:cNvPr id="5" name="Text 3"/>
          <p:cNvSpPr txBox="1"/>
          <p:nvPr/>
        </p:nvSpPr>
        <p:spPr>
          <a:xfrm>
            <a:off x="731520" y="1828800"/>
            <a:ext cx="459105" cy="46863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1</a:t>
            </a:r>
            <a:endParaRPr lang="en-US" sz="2400"/>
          </a:p>
        </p:txBody>
      </p:sp>
      <p:sp>
        <p:nvSpPr>
          <p:cNvPr id="6" name="Text 4"/>
          <p:cNvSpPr txBox="1"/>
          <p:nvPr/>
        </p:nvSpPr>
        <p:spPr>
          <a:xfrm>
            <a:off x="1371600" y="1320165"/>
            <a:ext cx="2743200" cy="1371600"/>
          </a:xfrm>
          <a:prstGeom prst="rect">
            <a:avLst/>
          </a:prstGeom>
          <a:noFill/>
          <a:ln/>
        </p:spPr>
        <p:txBody>
          <a:bodyPr wrap="square" lIns="0" tIns="0" rIns="0" bIns="0" rtlCol="0" anchor="ctr"/>
          <a:lstStyle/>
          <a:p>
            <a:pPr marL="0" indent="0">
              <a:spcAft>
                <a:spcPts val="400"/>
              </a:spcAft>
              <a:buNone/>
            </a:pPr>
            <a:r>
              <a:rPr lang="en-US" sz="2000" b="1">
                <a:solidFill>
                  <a:srgbClr val="2B2B2B"/>
                </a:solidFill>
                <a:latin typeface="Calibri"/>
                <a:ea typeface="Calibri"/>
                <a:cs typeface="Calibri"/>
              </a:rPr>
              <a:t>Missing reference/asset</a:t>
            </a:r>
            <a:endParaRPr lang="en-US" sz="1400" b="1">
              <a:solidFill>
                <a:srgbClr val="A63D2A"/>
              </a:solidFill>
              <a:latin typeface="Calibri"/>
              <a:ea typeface="Calibri"/>
              <a:cs typeface="Calibri"/>
            </a:endParaRPr>
          </a:p>
        </p:txBody>
      </p:sp>
      <p:sp>
        <p:nvSpPr>
          <p:cNvPr id="7" name="Text 5"/>
          <p:cNvSpPr txBox="1"/>
          <p:nvPr/>
        </p:nvSpPr>
        <p:spPr>
          <a:xfrm>
            <a:off x="4507230" y="1320165"/>
            <a:ext cx="3931920" cy="1371600"/>
          </a:xfrm>
          <a:prstGeom prst="rect">
            <a:avLst/>
          </a:prstGeom>
          <a:noFill/>
          <a:ln/>
        </p:spPr>
        <p:txBody>
          <a:bodyPr wrap="square" lIns="0" tIns="0" rIns="0" bIns="0" rtlCol="0" anchor="ctr"/>
          <a:lstStyle/>
          <a:p>
            <a:r>
              <a:rPr lang="en-US" sz="1500">
                <a:solidFill>
                  <a:srgbClr val="2B2B2B"/>
                </a:solidFill>
                <a:latin typeface="Calibri"/>
                <a:ea typeface="Calibri"/>
                <a:cs typeface="Calibri"/>
              </a:rPr>
              <a:t>A scene not added to Build Profiles, case sensitivity mismatch on an asset, etc.</a:t>
            </a:r>
            <a:endParaRPr lang="en-US" sz="1500">
              <a:solidFill>
                <a:srgbClr val="2B2B2B"/>
              </a:solidFill>
              <a:ea typeface="Calibri"/>
              <a:cs typeface="Calibri"/>
            </a:endParaRPr>
          </a:p>
        </p:txBody>
      </p:sp>
      <p:sp>
        <p:nvSpPr>
          <p:cNvPr id="8" name="Shape 6"/>
          <p:cNvSpPr/>
          <p:nvPr/>
        </p:nvSpPr>
        <p:spPr>
          <a:xfrm>
            <a:off x="523875" y="2586990"/>
            <a:ext cx="8039100" cy="982980"/>
          </a:xfrm>
          <a:prstGeom prst="roundRect">
            <a:avLst>
              <a:gd name="adj" fmla="val 8824"/>
            </a:avLst>
          </a:prstGeom>
          <a:solidFill>
            <a:srgbClr val="FBE9E4"/>
          </a:solidFill>
          <a:ln/>
        </p:spPr>
        <p:txBody>
          <a:bodyPr/>
          <a:lstStyle/>
          <a:p>
            <a:endParaRPr lang="en-US"/>
          </a:p>
        </p:txBody>
      </p:sp>
      <p:sp>
        <p:nvSpPr>
          <p:cNvPr id="9" name="Shape 7"/>
          <p:cNvSpPr/>
          <p:nvPr/>
        </p:nvSpPr>
        <p:spPr>
          <a:xfrm>
            <a:off x="645795" y="2758440"/>
            <a:ext cx="640080" cy="640080"/>
          </a:xfrm>
          <a:prstGeom prst="ellipse">
            <a:avLst/>
          </a:prstGeom>
          <a:solidFill>
            <a:srgbClr val="A63D2A"/>
          </a:solidFill>
          <a:ln/>
        </p:spPr>
        <p:txBody>
          <a:bodyPr/>
          <a:lstStyle/>
          <a:p>
            <a:endParaRPr lang="en-US"/>
          </a:p>
        </p:txBody>
      </p:sp>
      <p:sp>
        <p:nvSpPr>
          <p:cNvPr id="10" name="Text 8"/>
          <p:cNvSpPr txBox="1"/>
          <p:nvPr/>
        </p:nvSpPr>
        <p:spPr>
          <a:xfrm>
            <a:off x="645795" y="275844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2</a:t>
            </a:r>
            <a:endParaRPr lang="en-US" sz="2400"/>
          </a:p>
        </p:txBody>
      </p:sp>
      <p:sp>
        <p:nvSpPr>
          <p:cNvPr id="11" name="Text 9"/>
          <p:cNvSpPr txBox="1"/>
          <p:nvPr/>
        </p:nvSpPr>
        <p:spPr>
          <a:xfrm>
            <a:off x="1371600" y="2765536"/>
            <a:ext cx="2908978" cy="913019"/>
          </a:xfrm>
          <a:prstGeom prst="rect">
            <a:avLst/>
          </a:prstGeom>
          <a:noFill/>
          <a:ln/>
        </p:spPr>
        <p:txBody>
          <a:bodyPr wrap="square" lIns="0" tIns="0" rIns="0" bIns="0" rtlCol="0" anchor="ctr"/>
          <a:lstStyle/>
          <a:p>
            <a:pPr>
              <a:spcAft>
                <a:spcPts val="400"/>
              </a:spcAft>
            </a:pPr>
            <a:r>
              <a:rPr lang="en-US" sz="2000" b="1">
                <a:solidFill>
                  <a:srgbClr val="2B2B2B"/>
                </a:solidFill>
                <a:latin typeface="Calibri"/>
                <a:ea typeface="Calibri"/>
                <a:cs typeface="Calibri"/>
              </a:rPr>
              <a:t>Wrong platform setting</a:t>
            </a:r>
          </a:p>
          <a:p>
            <a:pPr>
              <a:spcAft>
                <a:spcPts val="400"/>
              </a:spcAft>
            </a:pPr>
            <a:endParaRPr lang="en-US" sz="1400" b="1">
              <a:solidFill>
                <a:srgbClr val="A63D2A"/>
              </a:solidFill>
              <a:ea typeface="Calibri"/>
              <a:cs typeface="Calibri"/>
            </a:endParaRPr>
          </a:p>
        </p:txBody>
      </p:sp>
      <p:sp>
        <p:nvSpPr>
          <p:cNvPr id="13" name="Shape 11"/>
          <p:cNvSpPr/>
          <p:nvPr/>
        </p:nvSpPr>
        <p:spPr>
          <a:xfrm>
            <a:off x="552450" y="3678555"/>
            <a:ext cx="8039100" cy="916305"/>
          </a:xfrm>
          <a:prstGeom prst="roundRect">
            <a:avLst>
              <a:gd name="adj" fmla="val 8824"/>
            </a:avLst>
          </a:prstGeom>
          <a:solidFill>
            <a:srgbClr val="FBE9E4"/>
          </a:solidFill>
          <a:ln/>
        </p:spPr>
        <p:txBody>
          <a:bodyPr/>
          <a:lstStyle/>
          <a:p>
            <a:endParaRPr lang="en-US"/>
          </a:p>
        </p:txBody>
      </p:sp>
      <p:sp>
        <p:nvSpPr>
          <p:cNvPr id="14" name="Shape 12"/>
          <p:cNvSpPr/>
          <p:nvPr/>
        </p:nvSpPr>
        <p:spPr>
          <a:xfrm>
            <a:off x="645795" y="3811905"/>
            <a:ext cx="640080" cy="640080"/>
          </a:xfrm>
          <a:prstGeom prst="ellipse">
            <a:avLst/>
          </a:prstGeom>
          <a:solidFill>
            <a:srgbClr val="A63D2A"/>
          </a:solidFill>
          <a:ln/>
        </p:spPr>
        <p:txBody>
          <a:bodyPr/>
          <a:lstStyle/>
          <a:p>
            <a:endParaRPr lang="en-US"/>
          </a:p>
        </p:txBody>
      </p:sp>
      <p:sp>
        <p:nvSpPr>
          <p:cNvPr id="15" name="Text 13"/>
          <p:cNvSpPr txBox="1"/>
          <p:nvPr/>
        </p:nvSpPr>
        <p:spPr>
          <a:xfrm>
            <a:off x="645795" y="382143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3</a:t>
            </a:r>
            <a:endParaRPr lang="en-US" sz="2400"/>
          </a:p>
        </p:txBody>
      </p:sp>
      <p:sp>
        <p:nvSpPr>
          <p:cNvPr id="16" name="Text 14"/>
          <p:cNvSpPr txBox="1"/>
          <p:nvPr/>
        </p:nvSpPr>
        <p:spPr>
          <a:xfrm>
            <a:off x="1371600" y="3589020"/>
            <a:ext cx="2743200" cy="1095375"/>
          </a:xfrm>
          <a:prstGeom prst="rect">
            <a:avLst/>
          </a:prstGeom>
          <a:noFill/>
          <a:ln/>
        </p:spPr>
        <p:txBody>
          <a:bodyPr wrap="square" lIns="0" tIns="0" rIns="0" bIns="0" rtlCol="0" anchor="ctr"/>
          <a:lstStyle/>
          <a:p>
            <a:pPr>
              <a:spcAft>
                <a:spcPts val="400"/>
              </a:spcAft>
            </a:pPr>
            <a:r>
              <a:rPr lang="en-US" sz="2000" b="1">
                <a:solidFill>
                  <a:srgbClr val="2B2B2B"/>
                </a:solidFill>
                <a:latin typeface="Calibri"/>
                <a:ea typeface="Calibri"/>
                <a:cs typeface="Calibri"/>
              </a:rPr>
              <a:t>Signing &amp; permissions</a:t>
            </a:r>
            <a:endParaRPr lang="en-US" sz="2000">
              <a:latin typeface="Calibri"/>
              <a:ea typeface="Calibri"/>
              <a:cs typeface="Calibri"/>
            </a:endParaRPr>
          </a:p>
        </p:txBody>
      </p:sp>
      <p:sp>
        <p:nvSpPr>
          <p:cNvPr id="17" name="Text 15"/>
          <p:cNvSpPr txBox="1"/>
          <p:nvPr/>
        </p:nvSpPr>
        <p:spPr>
          <a:xfrm>
            <a:off x="4545330" y="3674745"/>
            <a:ext cx="3893820" cy="914400"/>
          </a:xfrm>
          <a:prstGeom prst="rect">
            <a:avLst/>
          </a:prstGeom>
          <a:noFill/>
          <a:ln/>
        </p:spPr>
        <p:txBody>
          <a:bodyPr wrap="square" lIns="0" tIns="0" rIns="0" bIns="0" rtlCol="0" anchor="ctr"/>
          <a:lstStyle/>
          <a:p>
            <a:r>
              <a:rPr lang="en-US" sz="1500">
                <a:solidFill>
                  <a:srgbClr val="2B2B2B"/>
                </a:solidFill>
                <a:latin typeface="Calibri"/>
                <a:ea typeface="Calibri"/>
                <a:cs typeface="Calibri"/>
              </a:rPr>
              <a:t>Especially on mobile: a device won't run an app that isn't signed.</a:t>
            </a:r>
          </a:p>
        </p:txBody>
      </p:sp>
      <p:sp>
        <p:nvSpPr>
          <p:cNvPr id="18" name="Text 16"/>
          <p:cNvSpPr txBox="1"/>
          <p:nvPr/>
        </p:nvSpPr>
        <p:spPr>
          <a:xfrm>
            <a:off x="524675" y="6651650"/>
            <a:ext cx="3657600" cy="204445"/>
          </a:xfrm>
          <a:prstGeom prst="rect">
            <a:avLst/>
          </a:prstGeom>
          <a:noFill/>
          <a:ln/>
        </p:spPr>
        <p:txBody>
          <a:bodyPr wrap="square" lIns="0" tIns="0" rIns="0" bIns="0" rtlCol="0" anchor="ctr"/>
          <a:lstStyle/>
          <a:p>
            <a:pPr marL="0" indent="0">
              <a:buNone/>
            </a:pPr>
            <a:r>
              <a:rPr lang="en-US" err="1">
                <a:solidFill>
                  <a:schemeClr val="bg1"/>
                </a:solidFill>
                <a:ea typeface="Calibri"/>
                <a:cs typeface="Calibri"/>
              </a:rPr>
              <a:t>Rinab</a:t>
            </a:r>
          </a:p>
        </p:txBody>
      </p:sp>
      <p:sp>
        <p:nvSpPr>
          <p:cNvPr id="19" name="Shape 11">
            <a:extLst>
              <a:ext uri="{FF2B5EF4-FFF2-40B4-BE49-F238E27FC236}">
                <a16:creationId xmlns:a16="http://schemas.microsoft.com/office/drawing/2014/main" id="{8CA91869-742E-2954-B2E6-9AE59D77A71E}"/>
              </a:ext>
            </a:extLst>
          </p:cNvPr>
          <p:cNvSpPr/>
          <p:nvPr/>
        </p:nvSpPr>
        <p:spPr>
          <a:xfrm>
            <a:off x="523874" y="4688205"/>
            <a:ext cx="8039100" cy="1078230"/>
          </a:xfrm>
          <a:prstGeom prst="roundRect">
            <a:avLst>
              <a:gd name="adj" fmla="val 8824"/>
            </a:avLst>
          </a:prstGeom>
          <a:solidFill>
            <a:srgbClr val="FBE9E4"/>
          </a:solidFill>
          <a:ln/>
        </p:spPr>
        <p:txBody>
          <a:bodyPr/>
          <a:lstStyle/>
          <a:p>
            <a:endParaRPr lang="en-US"/>
          </a:p>
        </p:txBody>
      </p:sp>
      <p:sp>
        <p:nvSpPr>
          <p:cNvPr id="21" name="Shape 12">
            <a:extLst>
              <a:ext uri="{FF2B5EF4-FFF2-40B4-BE49-F238E27FC236}">
                <a16:creationId xmlns:a16="http://schemas.microsoft.com/office/drawing/2014/main" id="{0288D5D8-9D83-3F52-A249-01C71033F273}"/>
              </a:ext>
            </a:extLst>
          </p:cNvPr>
          <p:cNvSpPr/>
          <p:nvPr/>
        </p:nvSpPr>
        <p:spPr>
          <a:xfrm>
            <a:off x="645795" y="4907279"/>
            <a:ext cx="640080" cy="640080"/>
          </a:xfrm>
          <a:prstGeom prst="ellipse">
            <a:avLst/>
          </a:prstGeom>
          <a:solidFill>
            <a:srgbClr val="A63D2A"/>
          </a:solidFill>
          <a:ln/>
        </p:spPr>
        <p:txBody>
          <a:bodyPr/>
          <a:lstStyle/>
          <a:p>
            <a:endParaRPr lang="en-US"/>
          </a:p>
        </p:txBody>
      </p:sp>
      <p:sp>
        <p:nvSpPr>
          <p:cNvPr id="20" name="Text 13">
            <a:extLst>
              <a:ext uri="{FF2B5EF4-FFF2-40B4-BE49-F238E27FC236}">
                <a16:creationId xmlns:a16="http://schemas.microsoft.com/office/drawing/2014/main" id="{AF5513F3-E542-B423-BB27-CFE1EECF3C76}"/>
              </a:ext>
            </a:extLst>
          </p:cNvPr>
          <p:cNvSpPr txBox="1"/>
          <p:nvPr/>
        </p:nvSpPr>
        <p:spPr>
          <a:xfrm>
            <a:off x="645795" y="4907279"/>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a:ea typeface="Calibri"/>
                <a:cs typeface="Calibri"/>
              </a:rPr>
              <a:t>4</a:t>
            </a:r>
            <a:endParaRPr lang="en-US" sz="2400" b="1">
              <a:solidFill>
                <a:srgbClr val="FFFFFF"/>
              </a:solidFill>
              <a:ea typeface="Calibri"/>
              <a:cs typeface="Calibri"/>
            </a:endParaRPr>
          </a:p>
        </p:txBody>
      </p:sp>
      <p:sp>
        <p:nvSpPr>
          <p:cNvPr id="22" name="Text 14">
            <a:extLst>
              <a:ext uri="{FF2B5EF4-FFF2-40B4-BE49-F238E27FC236}">
                <a16:creationId xmlns:a16="http://schemas.microsoft.com/office/drawing/2014/main" id="{2C8E9EED-2F6B-D980-10C9-D02BB049CE0A}"/>
              </a:ext>
            </a:extLst>
          </p:cNvPr>
          <p:cNvSpPr txBox="1"/>
          <p:nvPr/>
        </p:nvSpPr>
        <p:spPr>
          <a:xfrm>
            <a:off x="1371600" y="4836794"/>
            <a:ext cx="2743200" cy="781050"/>
          </a:xfrm>
          <a:prstGeom prst="rect">
            <a:avLst/>
          </a:prstGeom>
          <a:noFill/>
          <a:ln/>
        </p:spPr>
        <p:txBody>
          <a:bodyPr wrap="square" lIns="0" tIns="0" rIns="0" bIns="0" rtlCol="0" anchor="ctr"/>
          <a:lstStyle/>
          <a:p>
            <a:pPr>
              <a:spcAft>
                <a:spcPts val="400"/>
              </a:spcAft>
            </a:pPr>
            <a:r>
              <a:rPr lang="en-US" sz="2000" b="1">
                <a:solidFill>
                  <a:srgbClr val="2B2B2B"/>
                </a:solidFill>
                <a:latin typeface="Calibri"/>
                <a:ea typeface="Calibri"/>
                <a:cs typeface="Calibri"/>
              </a:rPr>
              <a:t>A compile error the editor forgave</a:t>
            </a:r>
            <a:endParaRPr lang="en-US" sz="1400" b="1">
              <a:solidFill>
                <a:srgbClr val="A63D2A"/>
              </a:solidFill>
              <a:latin typeface="Calibri"/>
              <a:ea typeface="Calibri"/>
              <a:cs typeface="Calibri"/>
            </a:endParaRPr>
          </a:p>
        </p:txBody>
      </p:sp>
      <p:sp>
        <p:nvSpPr>
          <p:cNvPr id="23" name="Text 15">
            <a:extLst>
              <a:ext uri="{FF2B5EF4-FFF2-40B4-BE49-F238E27FC236}">
                <a16:creationId xmlns:a16="http://schemas.microsoft.com/office/drawing/2014/main" id="{D9F3EECF-C633-3DBB-35AB-734C9CB2B382}"/>
              </a:ext>
            </a:extLst>
          </p:cNvPr>
          <p:cNvSpPr txBox="1"/>
          <p:nvPr/>
        </p:nvSpPr>
        <p:spPr>
          <a:xfrm>
            <a:off x="4545329" y="4684394"/>
            <a:ext cx="3893820" cy="1000125"/>
          </a:xfrm>
          <a:prstGeom prst="rect">
            <a:avLst/>
          </a:prstGeom>
          <a:noFill/>
          <a:ln/>
        </p:spPr>
        <p:txBody>
          <a:bodyPr wrap="square" lIns="0" tIns="0" rIns="0" bIns="0" rtlCol="0" anchor="ctr"/>
          <a:lstStyle/>
          <a:p>
            <a:r>
              <a:rPr lang="en-US" sz="1500">
                <a:solidFill>
                  <a:srgbClr val="2B2B2B"/>
                </a:solidFill>
                <a:latin typeface="Calibri"/>
                <a:ea typeface="Calibri"/>
                <a:cs typeface="Calibri"/>
              </a:rPr>
              <a:t>Usage of anything from the </a:t>
            </a:r>
            <a:r>
              <a:rPr lang="en-US" sz="1500" err="1">
                <a:solidFill>
                  <a:srgbClr val="2B2B2B"/>
                </a:solidFill>
                <a:latin typeface="Calibri"/>
                <a:ea typeface="Calibri"/>
                <a:cs typeface="Calibri"/>
              </a:rPr>
              <a:t>UnityEditor</a:t>
            </a:r>
            <a:r>
              <a:rPr lang="en-US" sz="1500">
                <a:solidFill>
                  <a:srgbClr val="2B2B2B"/>
                </a:solidFill>
                <a:latin typeface="Calibri"/>
                <a:ea typeface="Calibri"/>
                <a:cs typeface="Calibri"/>
              </a:rPr>
              <a:t> namespace will compile in the editor but will not work in the build.</a:t>
            </a:r>
            <a:endParaRPr lang="en-US" sz="1500">
              <a:solidFill>
                <a:srgbClr val="2B2B2B"/>
              </a:solidFill>
              <a:ea typeface="Calibri"/>
              <a:cs typeface="Calibri"/>
            </a:endParaRPr>
          </a:p>
        </p:txBody>
      </p:sp>
      <p:sp>
        <p:nvSpPr>
          <p:cNvPr id="24" name="Text 5">
            <a:extLst>
              <a:ext uri="{FF2B5EF4-FFF2-40B4-BE49-F238E27FC236}">
                <a16:creationId xmlns:a16="http://schemas.microsoft.com/office/drawing/2014/main" id="{6DD07D1F-6D05-37E8-7217-22F07B5D9775}"/>
              </a:ext>
            </a:extLst>
          </p:cNvPr>
          <p:cNvSpPr txBox="1"/>
          <p:nvPr/>
        </p:nvSpPr>
        <p:spPr>
          <a:xfrm>
            <a:off x="4507229" y="2377440"/>
            <a:ext cx="3931920" cy="1371600"/>
          </a:xfrm>
          <a:prstGeom prst="rect">
            <a:avLst/>
          </a:prstGeom>
          <a:noFill/>
          <a:ln/>
        </p:spPr>
        <p:txBody>
          <a:bodyPr wrap="square" lIns="0" tIns="0" rIns="0" bIns="0" rtlCol="0" anchor="ctr"/>
          <a:lstStyle/>
          <a:p>
            <a:r>
              <a:rPr lang="en-US" sz="1500">
                <a:solidFill>
                  <a:srgbClr val="2B2B2B"/>
                </a:solidFill>
                <a:latin typeface="Calibri"/>
                <a:ea typeface="Calibri"/>
                <a:cs typeface="Calibri"/>
              </a:rPr>
              <a:t>Wrong target or architecture, missing SDK, or a module you never installed.</a:t>
            </a:r>
          </a:p>
          <a:p>
            <a:endParaRPr lang="en-US" sz="1500">
              <a:solidFill>
                <a:srgbClr val="2B2B2B"/>
              </a:solidFill>
              <a:ea typeface="Calibri"/>
              <a:cs typeface="Calibri"/>
            </a:endParaRPr>
          </a:p>
        </p:txBody>
      </p:sp>
    </p:spTree>
    <p:extLst>
      <p:ext uri="{BB962C8B-B14F-4D97-AF65-F5344CB8AC3E}">
        <p14:creationId xmlns:p14="http://schemas.microsoft.com/office/powerpoint/2010/main" val="990526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822960"/>
          </a:xfrm>
          <a:prstGeom prst="rect">
            <a:avLst/>
          </a:prstGeom>
          <a:noFill/>
          <a:ln/>
        </p:spPr>
        <p:txBody>
          <a:bodyPr wrap="square" lIns="0" tIns="0" rIns="0" bIns="0" rtlCol="0" anchor="t"/>
          <a:lstStyle/>
          <a:p>
            <a:pPr marL="0" indent="0">
              <a:buNone/>
            </a:pPr>
            <a:r>
              <a:rPr lang="en-US" sz="3200" b="1">
                <a:solidFill>
                  <a:srgbClr val="A63D2A"/>
                </a:solidFill>
                <a:latin typeface="Calibri" pitchFamily="34" charset="0"/>
                <a:ea typeface="Calibri" pitchFamily="34" charset="-122"/>
                <a:cs typeface="Calibri" pitchFamily="34" charset="-120"/>
              </a:rPr>
              <a:t>Read the Log From the TOP</a:t>
            </a:r>
            <a:endParaRPr lang="en-US" sz="3200"/>
          </a:p>
        </p:txBody>
      </p:sp>
      <p:sp>
        <p:nvSpPr>
          <p:cNvPr id="3" name="Text 1"/>
          <p:cNvSpPr txBox="1"/>
          <p:nvPr/>
        </p:nvSpPr>
        <p:spPr>
          <a:xfrm>
            <a:off x="457200" y="1188720"/>
            <a:ext cx="8229600" cy="457200"/>
          </a:xfrm>
          <a:prstGeom prst="rect">
            <a:avLst/>
          </a:prstGeom>
          <a:noFill/>
          <a:ln/>
        </p:spPr>
        <p:txBody>
          <a:bodyPr wrap="square" lIns="0" tIns="0" rIns="0" bIns="0" rtlCol="0" anchor="ctr"/>
          <a:lstStyle/>
          <a:p>
            <a:pPr marL="0" indent="0">
              <a:buNone/>
            </a:pPr>
            <a:r>
              <a:rPr lang="en-US" sz="1700">
                <a:solidFill>
                  <a:srgbClr val="6B6B6B"/>
                </a:solidFill>
                <a:latin typeface="Calibri" pitchFamily="34" charset="0"/>
                <a:ea typeface="Calibri" pitchFamily="34" charset="-122"/>
                <a:cs typeface="Calibri" pitchFamily="34" charset="-120"/>
              </a:rPr>
              <a:t>The FIRST error is usually the real one. The rest is fallout.</a:t>
            </a:r>
            <a:endParaRPr lang="en-US" sz="1700"/>
          </a:p>
        </p:txBody>
      </p:sp>
      <p:sp>
        <p:nvSpPr>
          <p:cNvPr id="4" name="Bullets"/>
          <p:cNvSpPr txBox="1"/>
          <p:nvPr/>
        </p:nvSpPr>
        <p:spPr>
          <a:xfrm>
            <a:off x="544452" y="2370083"/>
            <a:ext cx="8229600" cy="2400000"/>
          </a:xfrm>
          <a:prstGeom prst="rect">
            <a:avLst/>
          </a:prstGeom>
          <a:noFill/>
          <a:ln/>
        </p:spPr>
        <p:txBody>
          <a:bodyPr wrap="square" lIns="0" tIns="0" rIns="0" bIns="0" rtlCol="0" anchor="t"/>
          <a:lstStyle/>
          <a:p>
            <a:pPr marL="342900" indent="-342900">
              <a:spcAft>
                <a:spcPts val="1800"/>
              </a:spcAft>
              <a:buClr>
                <a:srgbClr val="A63D2A"/>
              </a:buClr>
              <a:buFont typeface="Arial"/>
              <a:buChar char="•"/>
            </a:pPr>
            <a:r>
              <a:rPr lang="en-US" sz="2400" b="1">
                <a:solidFill>
                  <a:srgbClr val="2B2B2B"/>
                </a:solidFill>
                <a:latin typeface="Calibri"/>
              </a:rPr>
              <a:t>Open the Console</a:t>
            </a:r>
            <a:r>
              <a:rPr lang="en-US" sz="2400">
                <a:solidFill>
                  <a:srgbClr val="6B6B6B"/>
                </a:solidFill>
                <a:latin typeface="Calibri"/>
              </a:rPr>
              <a:t> after a failed build</a:t>
            </a:r>
          </a:p>
          <a:p>
            <a:pPr marL="342900" indent="-342900">
              <a:spcAft>
                <a:spcPts val="1800"/>
              </a:spcAft>
              <a:buClr>
                <a:srgbClr val="A63D2A"/>
              </a:buClr>
              <a:buFont typeface="Arial"/>
              <a:buChar char="•"/>
            </a:pPr>
            <a:endParaRPr lang="en-US" sz="2400">
              <a:solidFill>
                <a:srgbClr val="6B6B6B"/>
              </a:solidFill>
              <a:latin typeface="Calibri"/>
            </a:endParaRPr>
          </a:p>
          <a:p>
            <a:pPr marL="342900" indent="-342900">
              <a:spcAft>
                <a:spcPts val="1800"/>
              </a:spcAft>
              <a:buClr>
                <a:srgbClr val="A63D2A"/>
              </a:buClr>
              <a:buFont typeface="Arial"/>
              <a:buChar char="•"/>
            </a:pPr>
            <a:r>
              <a:rPr lang="en-US" sz="2400" b="1">
                <a:solidFill>
                  <a:srgbClr val="2B2B2B"/>
                </a:solidFill>
                <a:latin typeface="Calibri"/>
              </a:rPr>
              <a:t>Find the FIRST red error</a:t>
            </a:r>
            <a:r>
              <a:rPr lang="en-US" sz="2400">
                <a:solidFill>
                  <a:srgbClr val="6B6B6B"/>
                </a:solidFill>
                <a:latin typeface="Calibri"/>
              </a:rPr>
              <a:t> and ignore the pile below it</a:t>
            </a:r>
          </a:p>
          <a:p>
            <a:pPr marL="342900" indent="-342900">
              <a:spcAft>
                <a:spcPts val="1800"/>
              </a:spcAft>
              <a:buClr>
                <a:srgbClr val="A63D2A"/>
              </a:buClr>
              <a:buFont typeface="Arial"/>
              <a:buChar char="•"/>
            </a:pPr>
            <a:endParaRPr lang="en-US" sz="2400" b="1">
              <a:solidFill>
                <a:srgbClr val="2B2B2B"/>
              </a:solidFill>
              <a:latin typeface="Calibri"/>
            </a:endParaRPr>
          </a:p>
          <a:p>
            <a:pPr marL="342900" indent="-342900">
              <a:spcAft>
                <a:spcPts val="1800"/>
              </a:spcAft>
              <a:buClr>
                <a:srgbClr val="A63D2A"/>
              </a:buClr>
              <a:buFont typeface="Arial"/>
              <a:buChar char="•"/>
            </a:pPr>
            <a:r>
              <a:rPr lang="en-US" sz="2400" b="1">
                <a:solidFill>
                  <a:srgbClr val="2B2B2B"/>
                </a:solidFill>
                <a:latin typeface="Calibri"/>
              </a:rPr>
              <a:t>Match it to a shape</a:t>
            </a:r>
            <a:r>
              <a:rPr lang="en-US" sz="2400">
                <a:solidFill>
                  <a:srgbClr val="6B6B6B"/>
                </a:solidFill>
                <a:latin typeface="Calibri"/>
              </a:rPr>
              <a:t>, then fix it and rebuild</a:t>
            </a:r>
            <a:endParaRPr lang="en-US"/>
          </a:p>
        </p:txBody>
      </p:sp>
      <p:sp>
        <p:nvSpPr>
          <p:cNvPr id="22" name="Text 20"/>
          <p:cNvSpPr txBox="1"/>
          <p:nvPr/>
        </p:nvSpPr>
        <p:spPr>
          <a:xfrm>
            <a:off x="548640" y="6685280"/>
            <a:ext cx="3657600" cy="172720"/>
          </a:xfrm>
          <a:prstGeom prst="rect">
            <a:avLst/>
          </a:prstGeom>
          <a:noFill/>
          <a:ln/>
        </p:spPr>
        <p:txBody>
          <a:bodyPr wrap="square" lIns="0" tIns="0" rIns="0" bIns="0" rtlCol="0" anchor="ctr"/>
          <a:lstStyle/>
          <a:p>
            <a:r>
              <a:rPr lang="en-US" err="1">
                <a:solidFill>
                  <a:schemeClr val="bg1"/>
                </a:solidFill>
                <a:ea typeface="Calibri"/>
                <a:cs typeface="Calibri"/>
              </a:rPr>
              <a:t>Rinab</a:t>
            </a:r>
          </a:p>
        </p:txBody>
      </p:sp>
    </p:spTree>
    <p:extLst>
      <p:ext uri="{BB962C8B-B14F-4D97-AF65-F5344CB8AC3E}">
        <p14:creationId xmlns:p14="http://schemas.microsoft.com/office/powerpoint/2010/main" val="2197447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1F01-F8C7-1C33-B62B-4C04C2BD5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AFBF3-9A3D-7EC2-851A-F2CF3FBE3F03}"/>
              </a:ext>
            </a:extLst>
          </p:cNvPr>
          <p:cNvSpPr>
            <a:spLocks noGrp="1"/>
          </p:cNvSpPr>
          <p:nvPr>
            <p:ph type="title"/>
          </p:nvPr>
        </p:nvSpPr>
        <p:spPr/>
        <p:txBody>
          <a:bodyPr/>
          <a:lstStyle/>
          <a:p>
            <a:r>
              <a:t>Building for a Phone (</a:t>
            </a:r>
            <a:r>
              <a:rPr lang="en-US"/>
              <a:t>WEB</a:t>
            </a:r>
            <a:r>
              <a:t>)</a:t>
            </a:r>
          </a:p>
        </p:txBody>
      </p:sp>
      <p:sp>
        <p:nvSpPr>
          <p:cNvPr id="3" name="Content Placeholder 2">
            <a:extLst>
              <a:ext uri="{FF2B5EF4-FFF2-40B4-BE49-F238E27FC236}">
                <a16:creationId xmlns:a16="http://schemas.microsoft.com/office/drawing/2014/main" id="{067A88F5-D471-D1A3-D023-0A433DD1E8D0}"/>
              </a:ext>
            </a:extLst>
          </p:cNvPr>
          <p:cNvSpPr>
            <a:spLocks noGrp="1"/>
          </p:cNvSpPr>
          <p:nvPr>
            <p:ph idx="1"/>
          </p:nvPr>
        </p:nvSpPr>
        <p:spPr>
          <a:xfrm>
            <a:off x="457200" y="1314450"/>
            <a:ext cx="8229600" cy="4525963"/>
          </a:xfrm>
        </p:spPr>
        <p:txBody>
          <a:bodyPr vert="horz" lIns="91440" tIns="45720" rIns="91440" bIns="45720" rtlCol="0" anchor="t">
            <a:normAutofit lnSpcReduction="10000"/>
          </a:bodyPr>
          <a:lstStyle/>
          <a:p>
            <a:r>
              <a:t>Unity builds </a:t>
            </a:r>
            <a:r>
              <a:rPr lang="en-US"/>
              <a:t>WEB</a:t>
            </a:r>
            <a:r>
              <a:t> as a .</a:t>
            </a:r>
            <a:r>
              <a:rPr lang="en-US"/>
              <a:t>html</a:t>
            </a:r>
            <a:r>
              <a:t> file </a:t>
            </a:r>
            <a:r>
              <a:rPr lang="en-US"/>
              <a:t>with Build and </a:t>
            </a:r>
            <a:r>
              <a:rPr lang="en-US" err="1"/>
              <a:t>TemplateData</a:t>
            </a:r>
            <a:endParaRPr err="1"/>
          </a:p>
          <a:p>
            <a:r>
              <a:t>Build Profiles (older Unity: Build Settings) → </a:t>
            </a:r>
            <a:r>
              <a:rPr lang="en-US"/>
              <a:t> WEB</a:t>
            </a:r>
            <a:r>
              <a:t> → Switch Platform.</a:t>
            </a:r>
          </a:p>
          <a:p>
            <a:r>
              <a:t>Set Player Settings (company, product, version) → Build → the .</a:t>
            </a:r>
            <a:r>
              <a:rPr lang="en-US"/>
              <a:t>html</a:t>
            </a:r>
            <a:r>
              <a:t> IS your </a:t>
            </a:r>
            <a:r>
              <a:rPr lang="en-US"/>
              <a:t>WEB</a:t>
            </a:r>
            <a:r>
              <a:t> game.</a:t>
            </a:r>
          </a:p>
          <a:p>
            <a:r>
              <a:rPr lang="en-US">
                <a:ea typeface="Calibri"/>
                <a:cs typeface="Calibri"/>
              </a:rPr>
              <a:t>Once built there should be an option to host on unity play.</a:t>
            </a:r>
          </a:p>
        </p:txBody>
      </p:sp>
      <p:sp>
        <p:nvSpPr>
          <p:cNvPr id="4" name="TextBox 3">
            <a:extLst>
              <a:ext uri="{FF2B5EF4-FFF2-40B4-BE49-F238E27FC236}">
                <a16:creationId xmlns:a16="http://schemas.microsoft.com/office/drawing/2014/main" id="{0CB9DF69-81F8-139E-B076-F5360BEFC131}"/>
              </a:ext>
            </a:extLst>
          </p:cNvPr>
          <p:cNvSpPr txBox="1"/>
          <p:nvPr/>
        </p:nvSpPr>
        <p:spPr>
          <a:xfrm>
            <a:off x="457199" y="6583362"/>
            <a:ext cx="2500010" cy="369332"/>
          </a:xfrm>
          <a:prstGeom prst="rect">
            <a:avLst/>
          </a:prstGeom>
          <a:noFill/>
        </p:spPr>
        <p:txBody>
          <a:bodyPr wrap="square" lIns="91440" tIns="45720" rIns="91440" bIns="45720" rtlCol="0">
            <a:spAutoFit/>
          </a:bodyPr>
          <a:lstStyle/>
          <a:p>
            <a:r>
              <a:rPr lang="en-US">
                <a:solidFill>
                  <a:schemeClr val="bg1"/>
                </a:solidFill>
              </a:rPr>
              <a:t>Gavin</a:t>
            </a:r>
          </a:p>
        </p:txBody>
      </p:sp>
    </p:spTree>
    <p:extLst>
      <p:ext uri="{BB962C8B-B14F-4D97-AF65-F5344CB8AC3E}">
        <p14:creationId xmlns:p14="http://schemas.microsoft.com/office/powerpoint/2010/main" val="2702221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74B44-A8FC-3033-0662-BE4FD08D1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89E7E-68F7-F38A-2D04-3E3CCFE62858}"/>
              </a:ext>
            </a:extLst>
          </p:cNvPr>
          <p:cNvSpPr>
            <a:spLocks noGrp="1"/>
          </p:cNvSpPr>
          <p:nvPr>
            <p:ph type="title"/>
          </p:nvPr>
        </p:nvSpPr>
        <p:spPr/>
        <p:txBody>
          <a:bodyPr/>
          <a:lstStyle/>
          <a:p>
            <a:r>
              <a:t>The Catch: Touch Controls</a:t>
            </a:r>
          </a:p>
        </p:txBody>
      </p:sp>
      <p:sp>
        <p:nvSpPr>
          <p:cNvPr id="3" name="Content Placeholder 2">
            <a:extLst>
              <a:ext uri="{FF2B5EF4-FFF2-40B4-BE49-F238E27FC236}">
                <a16:creationId xmlns:a16="http://schemas.microsoft.com/office/drawing/2014/main" id="{6631D0B6-70BA-59D2-7F71-7518EB351072}"/>
              </a:ext>
            </a:extLst>
          </p:cNvPr>
          <p:cNvSpPr>
            <a:spLocks noGrp="1"/>
          </p:cNvSpPr>
          <p:nvPr>
            <p:ph idx="1"/>
          </p:nvPr>
        </p:nvSpPr>
        <p:spPr/>
        <p:txBody>
          <a:bodyPr vert="horz" lIns="91440" tIns="45720" rIns="91440" bIns="45720" rtlCol="0" anchor="t">
            <a:normAutofit lnSpcReduction="10000"/>
          </a:bodyPr>
          <a:lstStyle/>
          <a:p>
            <a:r>
              <a:t>Your laptop game uses the keyboard (WASD, space, arrows). A phone has no keyboard.</a:t>
            </a:r>
          </a:p>
          <a:p>
            <a:r>
              <a:t>A touchscreen needs on-screen controls: buttons, a joystick, or gestures — real extra work.</a:t>
            </a:r>
          </a:p>
          <a:p>
            <a:r>
              <a:rPr lang="en-US"/>
              <a:t>Without touch controls the game will appear on phones but you will not be able to move</a:t>
            </a:r>
            <a:r>
              <a:t>.</a:t>
            </a:r>
            <a:endParaRPr lang="en-US">
              <a:ea typeface="Calibri"/>
              <a:cs typeface="Calibri"/>
            </a:endParaRPr>
          </a:p>
          <a:p>
            <a:r>
              <a:t>Plan for it early — it's the thing most likely to leave your game un-playable at the demo.</a:t>
            </a:r>
          </a:p>
        </p:txBody>
      </p:sp>
      <p:sp>
        <p:nvSpPr>
          <p:cNvPr id="4" name="TextBox 3">
            <a:extLst>
              <a:ext uri="{FF2B5EF4-FFF2-40B4-BE49-F238E27FC236}">
                <a16:creationId xmlns:a16="http://schemas.microsoft.com/office/drawing/2014/main" id="{804C9156-DA94-9563-1A56-8AB0574C176F}"/>
              </a:ext>
            </a:extLst>
          </p:cNvPr>
          <p:cNvSpPr txBox="1"/>
          <p:nvPr/>
        </p:nvSpPr>
        <p:spPr>
          <a:xfrm>
            <a:off x="457199" y="6583362"/>
            <a:ext cx="2500010" cy="369332"/>
          </a:xfrm>
          <a:prstGeom prst="rect">
            <a:avLst/>
          </a:prstGeom>
          <a:noFill/>
        </p:spPr>
        <p:txBody>
          <a:bodyPr wrap="square" lIns="91440" tIns="45720" rIns="91440" bIns="45720" rtlCol="0">
            <a:spAutoFit/>
          </a:bodyPr>
          <a:lstStyle/>
          <a:p>
            <a:r>
              <a:rPr lang="en-US">
                <a:solidFill>
                  <a:schemeClr val="bg1"/>
                </a:solidFill>
              </a:rPr>
              <a:t>Gavin</a:t>
            </a:r>
          </a:p>
        </p:txBody>
      </p:sp>
    </p:spTree>
    <p:extLst>
      <p:ext uri="{BB962C8B-B14F-4D97-AF65-F5344CB8AC3E}">
        <p14:creationId xmlns:p14="http://schemas.microsoft.com/office/powerpoint/2010/main" val="252019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AB927-9B14-DA52-E7F3-DB076B25A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95EC0-AECA-2B23-3005-15F7BE41C499}"/>
              </a:ext>
            </a:extLst>
          </p:cNvPr>
          <p:cNvSpPr>
            <a:spLocks noGrp="1"/>
          </p:cNvSpPr>
          <p:nvPr>
            <p:ph type="title"/>
          </p:nvPr>
        </p:nvSpPr>
        <p:spPr/>
        <p:txBody>
          <a:bodyPr>
            <a:normAutofit fontScale="90000"/>
          </a:bodyPr>
          <a:lstStyle/>
          <a:p>
            <a:r>
              <a:t>One Movement Path, Two Input Sources</a:t>
            </a:r>
          </a:p>
        </p:txBody>
      </p:sp>
      <p:sp>
        <p:nvSpPr>
          <p:cNvPr id="3" name="Content Placeholder 2">
            <a:extLst>
              <a:ext uri="{FF2B5EF4-FFF2-40B4-BE49-F238E27FC236}">
                <a16:creationId xmlns:a16="http://schemas.microsoft.com/office/drawing/2014/main" id="{6FA6578B-9DAE-6CA7-A246-5C3F609D04F7}"/>
              </a:ext>
            </a:extLst>
          </p:cNvPr>
          <p:cNvSpPr>
            <a:spLocks noGrp="1"/>
          </p:cNvSpPr>
          <p:nvPr>
            <p:ph idx="1"/>
          </p:nvPr>
        </p:nvSpPr>
        <p:spPr/>
        <p:txBody>
          <a:bodyPr>
            <a:normAutofit/>
          </a:bodyPr>
          <a:lstStyle/>
          <a:p>
            <a:pPr marL="0" indent="0">
              <a:buNone/>
            </a:pPr>
            <a:r>
              <a:rPr sz="1800">
                <a:latin typeface="Consolas"/>
              </a:rPr>
              <a:t>// The clean way: keyboard AND touch call the SAME method.</a:t>
            </a:r>
          </a:p>
          <a:p>
            <a:pPr marL="0" indent="0">
              <a:buNone/>
            </a:pPr>
            <a:r>
              <a:rPr sz="1800">
                <a:latin typeface="Consolas"/>
              </a:rPr>
              <a:t>// Don't write the game twice.</a:t>
            </a:r>
          </a:p>
          <a:p>
            <a:pPr marL="0" indent="0">
              <a:buNone/>
            </a:pPr>
            <a:endParaRPr sz="1800">
              <a:latin typeface="Consolas"/>
            </a:endParaRPr>
          </a:p>
          <a:p>
            <a:pPr marL="0" indent="0">
              <a:buNone/>
            </a:pPr>
            <a:r>
              <a:rPr sz="1800">
                <a:latin typeface="Consolas"/>
              </a:rPr>
              <a:t>public void </a:t>
            </a:r>
            <a:r>
              <a:rPr sz="1800" err="1">
                <a:latin typeface="Consolas"/>
              </a:rPr>
              <a:t>MoveLeft</a:t>
            </a:r>
            <a:r>
              <a:rPr sz="1800">
                <a:latin typeface="Consolas"/>
              </a:rPr>
              <a:t>(bool pressed) {</a:t>
            </a:r>
          </a:p>
          <a:p>
            <a:pPr marL="0" indent="0">
              <a:buNone/>
            </a:pPr>
            <a:r>
              <a:rPr sz="1800">
                <a:latin typeface="Consolas"/>
              </a:rPr>
              <a:t>    _</a:t>
            </a:r>
            <a:r>
              <a:rPr sz="1800" err="1">
                <a:latin typeface="Consolas"/>
              </a:rPr>
              <a:t>movingLeft</a:t>
            </a:r>
            <a:r>
              <a:rPr sz="1800">
                <a:latin typeface="Consolas"/>
              </a:rPr>
              <a:t> = pressed;      // one place, one truth</a:t>
            </a:r>
          </a:p>
          <a:p>
            <a:pPr marL="0" indent="0">
              <a:buNone/>
            </a:pPr>
            <a:r>
              <a:rPr sz="1800">
                <a:latin typeface="Consolas"/>
              </a:rPr>
              <a:t>}</a:t>
            </a:r>
          </a:p>
          <a:p>
            <a:pPr marL="0" indent="0">
              <a:buNone/>
            </a:pPr>
            <a:endParaRPr sz="1800">
              <a:latin typeface="Consolas"/>
            </a:endParaRPr>
          </a:p>
          <a:p>
            <a:pPr marL="0" indent="0">
              <a:buNone/>
            </a:pPr>
            <a:r>
              <a:rPr sz="1800">
                <a:latin typeface="Consolas"/>
              </a:rPr>
              <a:t>// UI Button:  </a:t>
            </a:r>
            <a:r>
              <a:rPr sz="1800" err="1">
                <a:latin typeface="Consolas"/>
              </a:rPr>
              <a:t>OnPointerDown</a:t>
            </a:r>
            <a:r>
              <a:rPr sz="1800">
                <a:latin typeface="Consolas"/>
              </a:rPr>
              <a:t> -&gt; </a:t>
            </a:r>
            <a:r>
              <a:rPr sz="1800" err="1">
                <a:latin typeface="Consolas"/>
              </a:rPr>
              <a:t>MoveLeft</a:t>
            </a:r>
            <a:r>
              <a:rPr sz="1800">
                <a:latin typeface="Consolas"/>
              </a:rPr>
              <a:t>(true)</a:t>
            </a:r>
          </a:p>
          <a:p>
            <a:pPr marL="0" indent="0">
              <a:buNone/>
            </a:pPr>
            <a:r>
              <a:rPr sz="1800">
                <a:latin typeface="Consolas"/>
              </a:rPr>
              <a:t>//             </a:t>
            </a:r>
            <a:r>
              <a:rPr sz="1800" err="1">
                <a:latin typeface="Consolas"/>
              </a:rPr>
              <a:t>OnPointerUp</a:t>
            </a:r>
            <a:r>
              <a:rPr sz="1800">
                <a:latin typeface="Consolas"/>
              </a:rPr>
              <a:t>   -&gt; </a:t>
            </a:r>
            <a:r>
              <a:rPr sz="1800" err="1">
                <a:latin typeface="Consolas"/>
              </a:rPr>
              <a:t>MoveLeft</a:t>
            </a:r>
            <a:r>
              <a:rPr sz="1800">
                <a:latin typeface="Consolas"/>
              </a:rPr>
              <a:t>(false)</a:t>
            </a:r>
          </a:p>
          <a:p>
            <a:pPr marL="0" indent="0">
              <a:buNone/>
            </a:pPr>
            <a:r>
              <a:rPr sz="1800">
                <a:latin typeface="Consolas"/>
              </a:rPr>
              <a:t>// Keyboard :  A down -&gt; </a:t>
            </a:r>
            <a:r>
              <a:rPr sz="1800" err="1">
                <a:latin typeface="Consolas"/>
              </a:rPr>
              <a:t>MoveLeft</a:t>
            </a:r>
            <a:r>
              <a:rPr sz="1800">
                <a:latin typeface="Consolas"/>
              </a:rPr>
              <a:t>(true),  up -&gt; </a:t>
            </a:r>
            <a:r>
              <a:rPr sz="1800" err="1">
                <a:latin typeface="Consolas"/>
              </a:rPr>
              <a:t>MoveLeft</a:t>
            </a:r>
            <a:r>
              <a:rPr sz="1800">
                <a:latin typeface="Consolas"/>
              </a:rPr>
              <a:t>(false)</a:t>
            </a:r>
          </a:p>
        </p:txBody>
      </p:sp>
      <p:sp>
        <p:nvSpPr>
          <p:cNvPr id="4" name="TextBox 3">
            <a:extLst>
              <a:ext uri="{FF2B5EF4-FFF2-40B4-BE49-F238E27FC236}">
                <a16:creationId xmlns:a16="http://schemas.microsoft.com/office/drawing/2014/main" id="{6C78121D-7EBC-B7E7-7FF8-03B32809B960}"/>
              </a:ext>
            </a:extLst>
          </p:cNvPr>
          <p:cNvSpPr txBox="1"/>
          <p:nvPr/>
        </p:nvSpPr>
        <p:spPr>
          <a:xfrm>
            <a:off x="457199" y="6583362"/>
            <a:ext cx="2500010" cy="369332"/>
          </a:xfrm>
          <a:prstGeom prst="rect">
            <a:avLst/>
          </a:prstGeom>
          <a:noFill/>
        </p:spPr>
        <p:txBody>
          <a:bodyPr wrap="square" lIns="91440" tIns="45720" rIns="91440" bIns="45720" rtlCol="0">
            <a:spAutoFit/>
          </a:bodyPr>
          <a:lstStyle/>
          <a:p>
            <a:r>
              <a:rPr lang="en-US">
                <a:solidFill>
                  <a:schemeClr val="bg1"/>
                </a:solidFill>
              </a:rPr>
              <a:t>Gavin</a:t>
            </a:r>
          </a:p>
        </p:txBody>
      </p:sp>
    </p:spTree>
    <p:extLst>
      <p:ext uri="{BB962C8B-B14F-4D97-AF65-F5344CB8AC3E}">
        <p14:creationId xmlns:p14="http://schemas.microsoft.com/office/powerpoint/2010/main" val="3988160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ADD9C-A3D4-CE45-C249-AA679126C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621D1-940F-1B2B-E1D4-FFFCD09AA6D1}"/>
              </a:ext>
            </a:extLst>
          </p:cNvPr>
          <p:cNvSpPr>
            <a:spLocks noGrp="1"/>
          </p:cNvSpPr>
          <p:nvPr>
            <p:ph type="title"/>
          </p:nvPr>
        </p:nvSpPr>
        <p:spPr/>
        <p:txBody>
          <a:bodyPr>
            <a:normAutofit fontScale="90000"/>
          </a:bodyPr>
          <a:lstStyle/>
          <a:p>
            <a:r>
              <a:t>Arcade Demo Mode — the Idle Timer</a:t>
            </a:r>
          </a:p>
        </p:txBody>
      </p:sp>
      <p:sp>
        <p:nvSpPr>
          <p:cNvPr id="3" name="Content Placeholder 2">
            <a:extLst>
              <a:ext uri="{FF2B5EF4-FFF2-40B4-BE49-F238E27FC236}">
                <a16:creationId xmlns:a16="http://schemas.microsoft.com/office/drawing/2014/main" id="{391EF85C-5BCC-D372-7DC7-C4F0641310CF}"/>
              </a:ext>
            </a:extLst>
          </p:cNvPr>
          <p:cNvSpPr>
            <a:spLocks noGrp="1"/>
          </p:cNvSpPr>
          <p:nvPr>
            <p:ph idx="1"/>
          </p:nvPr>
        </p:nvSpPr>
        <p:spPr/>
        <p:txBody>
          <a:bodyPr>
            <a:noAutofit/>
          </a:bodyPr>
          <a:lstStyle/>
          <a:p>
            <a:pPr marL="0" indent="0">
              <a:buNone/>
            </a:pPr>
            <a:r>
              <a:rPr sz="2000">
                <a:latin typeface="Consolas"/>
              </a:rPr>
              <a:t>// A dead booth is an empty screen. Auto-play when idle.</a:t>
            </a:r>
          </a:p>
          <a:p>
            <a:pPr marL="0" indent="0">
              <a:buNone/>
            </a:pPr>
            <a:r>
              <a:rPr sz="2000">
                <a:latin typeface="Consolas"/>
              </a:rPr>
              <a:t>float _idle;</a:t>
            </a:r>
          </a:p>
          <a:p>
            <a:pPr marL="0" indent="0">
              <a:buNone/>
            </a:pPr>
            <a:r>
              <a:rPr sz="2000">
                <a:latin typeface="Consolas"/>
              </a:rPr>
              <a:t>public float </a:t>
            </a:r>
            <a:r>
              <a:rPr sz="2000" err="1">
                <a:latin typeface="Consolas"/>
              </a:rPr>
              <a:t>idleLimit</a:t>
            </a:r>
            <a:r>
              <a:rPr sz="2000">
                <a:latin typeface="Consolas"/>
              </a:rPr>
              <a:t> = 120f;    // 2 minutes</a:t>
            </a:r>
          </a:p>
          <a:p>
            <a:pPr marL="0" indent="0">
              <a:buNone/>
            </a:pPr>
            <a:endParaRPr sz="2000">
              <a:latin typeface="Consolas"/>
            </a:endParaRPr>
          </a:p>
          <a:p>
            <a:pPr marL="0" indent="0">
              <a:buNone/>
            </a:pPr>
            <a:r>
              <a:rPr sz="2000">
                <a:latin typeface="Consolas"/>
              </a:rPr>
              <a:t>void Update() {</a:t>
            </a:r>
          </a:p>
          <a:p>
            <a:pPr marL="0" indent="0">
              <a:buNone/>
            </a:pPr>
            <a:r>
              <a:rPr sz="2000">
                <a:latin typeface="Consolas"/>
              </a:rPr>
              <a:t>    if (</a:t>
            </a:r>
            <a:r>
              <a:rPr sz="2000" err="1">
                <a:latin typeface="Consolas"/>
              </a:rPr>
              <a:t>Input.anyKey</a:t>
            </a:r>
            <a:r>
              <a:rPr sz="2000">
                <a:latin typeface="Consolas"/>
              </a:rPr>
              <a:t> || </a:t>
            </a:r>
            <a:r>
              <a:rPr sz="2000" err="1">
                <a:latin typeface="Consolas"/>
              </a:rPr>
              <a:t>Input.touchCount</a:t>
            </a:r>
            <a:r>
              <a:rPr sz="2000">
                <a:latin typeface="Consolas"/>
              </a:rPr>
              <a:t> &gt; 0)</a:t>
            </a:r>
          </a:p>
          <a:p>
            <a:pPr marL="0" indent="0">
              <a:buNone/>
            </a:pPr>
            <a:r>
              <a:rPr sz="2000">
                <a:latin typeface="Consolas"/>
              </a:rPr>
              <a:t>        _idle = 0f;               // someone's playing</a:t>
            </a:r>
          </a:p>
          <a:p>
            <a:pPr marL="0" indent="0">
              <a:buNone/>
            </a:pPr>
            <a:r>
              <a:rPr sz="2000">
                <a:latin typeface="Consolas"/>
              </a:rPr>
              <a:t>    else</a:t>
            </a:r>
          </a:p>
          <a:p>
            <a:pPr marL="0" indent="0">
              <a:buNone/>
            </a:pPr>
            <a:r>
              <a:rPr sz="2000">
                <a:latin typeface="Consolas"/>
              </a:rPr>
              <a:t>        _idle += </a:t>
            </a:r>
            <a:r>
              <a:rPr sz="2000" err="1">
                <a:latin typeface="Consolas"/>
              </a:rPr>
              <a:t>Time.deltaTime</a:t>
            </a:r>
            <a:r>
              <a:rPr sz="2000">
                <a:latin typeface="Consolas"/>
              </a:rPr>
              <a:t>;</a:t>
            </a:r>
          </a:p>
          <a:p>
            <a:pPr marL="0" indent="0">
              <a:buNone/>
            </a:pPr>
            <a:r>
              <a:rPr sz="2000">
                <a:latin typeface="Consolas"/>
              </a:rPr>
              <a:t>    if (_idle &gt; </a:t>
            </a:r>
            <a:r>
              <a:rPr sz="2000" err="1">
                <a:latin typeface="Consolas"/>
              </a:rPr>
              <a:t>idleLimit</a:t>
            </a:r>
            <a:r>
              <a:rPr sz="2000">
                <a:latin typeface="Consolas"/>
              </a:rPr>
              <a:t>)</a:t>
            </a:r>
          </a:p>
          <a:p>
            <a:pPr marL="0" indent="0">
              <a:buNone/>
            </a:pPr>
            <a:r>
              <a:rPr sz="2000">
                <a:latin typeface="Consolas"/>
              </a:rPr>
              <a:t>        </a:t>
            </a:r>
            <a:r>
              <a:rPr sz="2000" err="1">
                <a:latin typeface="Consolas"/>
              </a:rPr>
              <a:t>PlayDemoReel</a:t>
            </a:r>
            <a:r>
              <a:rPr sz="2000">
                <a:latin typeface="Consolas"/>
              </a:rPr>
              <a:t>();         </a:t>
            </a:r>
            <a:r>
              <a:rPr lang="en-US" sz="2000">
                <a:latin typeface="Consolas"/>
              </a:rPr>
              <a:t>/</a:t>
            </a:r>
            <a:r>
              <a:rPr sz="2000">
                <a:latin typeface="Consolas"/>
              </a:rPr>
              <a:t>/ auto-play a recording</a:t>
            </a:r>
          </a:p>
          <a:p>
            <a:pPr marL="0" indent="0">
              <a:buNone/>
            </a:pPr>
            <a:r>
              <a:rPr sz="2000">
                <a:latin typeface="Consolas"/>
              </a:rPr>
              <a:t>}</a:t>
            </a:r>
          </a:p>
        </p:txBody>
      </p:sp>
      <p:sp>
        <p:nvSpPr>
          <p:cNvPr id="4" name="TextBox 3">
            <a:extLst>
              <a:ext uri="{FF2B5EF4-FFF2-40B4-BE49-F238E27FC236}">
                <a16:creationId xmlns:a16="http://schemas.microsoft.com/office/drawing/2014/main" id="{3BD01878-45D2-2E6F-D0D1-A2B97B0CCFBD}"/>
              </a:ext>
            </a:extLst>
          </p:cNvPr>
          <p:cNvSpPr txBox="1"/>
          <p:nvPr/>
        </p:nvSpPr>
        <p:spPr>
          <a:xfrm>
            <a:off x="457199" y="6583362"/>
            <a:ext cx="2500010" cy="369332"/>
          </a:xfrm>
          <a:prstGeom prst="rect">
            <a:avLst/>
          </a:prstGeom>
          <a:noFill/>
        </p:spPr>
        <p:txBody>
          <a:bodyPr wrap="square" lIns="91440" tIns="45720" rIns="91440" bIns="45720" rtlCol="0">
            <a:spAutoFit/>
          </a:bodyPr>
          <a:lstStyle/>
          <a:p>
            <a:r>
              <a:rPr lang="en-US">
                <a:solidFill>
                  <a:schemeClr val="bg1"/>
                </a:solidFill>
              </a:rPr>
              <a:t>Gavin</a:t>
            </a:r>
            <a:endParaRPr lang="en-US"/>
          </a:p>
        </p:txBody>
      </p:sp>
    </p:spTree>
    <p:extLst>
      <p:ext uri="{BB962C8B-B14F-4D97-AF65-F5344CB8AC3E}">
        <p14:creationId xmlns:p14="http://schemas.microsoft.com/office/powerpoint/2010/main" val="1084131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AC876-1827-239F-8EC6-027A0E21658A}"/>
              </a:ext>
            </a:extLst>
          </p:cNvPr>
          <p:cNvSpPr>
            <a:spLocks noGrp="1"/>
          </p:cNvSpPr>
          <p:nvPr>
            <p:ph type="title"/>
          </p:nvPr>
        </p:nvSpPr>
        <p:spPr/>
        <p:txBody>
          <a:bodyPr/>
          <a:lstStyle/>
          <a:p>
            <a:r>
              <a:rPr lang="en-US">
                <a:ea typeface="Calibri"/>
                <a:cs typeface="Calibri"/>
              </a:rPr>
              <a:t>Web Build Tutorial</a:t>
            </a:r>
            <a:endParaRPr lang="en-US"/>
          </a:p>
        </p:txBody>
      </p:sp>
      <p:pic>
        <p:nvPicPr>
          <p:cNvPr id="4" name="Content Placeholder 3">
            <a:extLst>
              <a:ext uri="{FF2B5EF4-FFF2-40B4-BE49-F238E27FC236}">
                <a16:creationId xmlns:a16="http://schemas.microsoft.com/office/drawing/2014/main" id="{A06BA150-BBFD-00E4-6E26-2462472820B8}"/>
              </a:ext>
            </a:extLst>
          </p:cNvPr>
          <p:cNvPicPr>
            <a:picLocks noGrp="1" noChangeAspect="1"/>
          </p:cNvPicPr>
          <p:nvPr>
            <p:ph idx="1"/>
          </p:nvPr>
        </p:nvPicPr>
        <p:blipFill>
          <a:blip r:embed="rId2"/>
          <a:stretch>
            <a:fillRect/>
          </a:stretch>
        </p:blipFill>
        <p:spPr>
          <a:xfrm>
            <a:off x="457200" y="2753519"/>
            <a:ext cx="2857500" cy="3400425"/>
          </a:xfrm>
          <a:prstGeom prst="rect">
            <a:avLst/>
          </a:prstGeom>
        </p:spPr>
      </p:pic>
      <p:pic>
        <p:nvPicPr>
          <p:cNvPr id="5" name="Picture 4">
            <a:extLst>
              <a:ext uri="{FF2B5EF4-FFF2-40B4-BE49-F238E27FC236}">
                <a16:creationId xmlns:a16="http://schemas.microsoft.com/office/drawing/2014/main" id="{ABE77987-946D-4794-BD5A-E3BDF5875D8F}"/>
              </a:ext>
            </a:extLst>
          </p:cNvPr>
          <p:cNvPicPr>
            <a:picLocks noChangeAspect="1"/>
          </p:cNvPicPr>
          <p:nvPr/>
        </p:nvPicPr>
        <p:blipFill>
          <a:blip r:embed="rId3"/>
          <a:stretch>
            <a:fillRect/>
          </a:stretch>
        </p:blipFill>
        <p:spPr>
          <a:xfrm>
            <a:off x="3729038" y="3275013"/>
            <a:ext cx="4733925" cy="2009775"/>
          </a:xfrm>
          <a:prstGeom prst="rect">
            <a:avLst/>
          </a:prstGeom>
        </p:spPr>
      </p:pic>
      <p:sp>
        <p:nvSpPr>
          <p:cNvPr id="6" name="TextBox 5">
            <a:extLst>
              <a:ext uri="{FF2B5EF4-FFF2-40B4-BE49-F238E27FC236}">
                <a16:creationId xmlns:a16="http://schemas.microsoft.com/office/drawing/2014/main" id="{99B15E02-C3D0-C528-4FDA-878DBB374F93}"/>
              </a:ext>
            </a:extLst>
          </p:cNvPr>
          <p:cNvSpPr txBox="1"/>
          <p:nvPr/>
        </p:nvSpPr>
        <p:spPr>
          <a:xfrm>
            <a:off x="455797" y="1332330"/>
            <a:ext cx="282594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a:cs typeface="Calibri"/>
              </a:rPr>
              <a:t>Click file</a:t>
            </a:r>
          </a:p>
          <a:p>
            <a:pPr marL="285750" indent="-285750">
              <a:buFont typeface="Arial"/>
              <a:buChar char="•"/>
            </a:pPr>
            <a:r>
              <a:rPr lang="en-US">
                <a:ea typeface="Calibri"/>
                <a:cs typeface="Calibri"/>
              </a:rPr>
              <a:t>Then Build Profiles</a:t>
            </a:r>
          </a:p>
          <a:p>
            <a:pPr marL="285750" indent="-285750">
              <a:buFont typeface="Arial"/>
              <a:buChar char="•"/>
            </a:pPr>
            <a:r>
              <a:rPr lang="en-US">
                <a:ea typeface="Calibri"/>
                <a:cs typeface="Calibri"/>
              </a:rPr>
              <a:t>Another window should pop up</a:t>
            </a:r>
          </a:p>
        </p:txBody>
      </p:sp>
      <p:sp>
        <p:nvSpPr>
          <p:cNvPr id="7" name="TextBox 6">
            <a:extLst>
              <a:ext uri="{FF2B5EF4-FFF2-40B4-BE49-F238E27FC236}">
                <a16:creationId xmlns:a16="http://schemas.microsoft.com/office/drawing/2014/main" id="{17D8EEC7-2476-AD53-8064-838B4A944A31}"/>
              </a:ext>
            </a:extLst>
          </p:cNvPr>
          <p:cNvSpPr txBox="1"/>
          <p:nvPr/>
        </p:nvSpPr>
        <p:spPr>
          <a:xfrm>
            <a:off x="3842723" y="1563735"/>
            <a:ext cx="462108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a:cs typeface="Calibri"/>
              </a:rPr>
              <a:t>Look down the list of build profiles for WEB</a:t>
            </a:r>
          </a:p>
          <a:p>
            <a:pPr marL="285750" indent="-285750">
              <a:buFont typeface="Arial"/>
              <a:buChar char="•"/>
            </a:pPr>
            <a:r>
              <a:rPr lang="en-US">
                <a:ea typeface="Calibri"/>
                <a:cs typeface="Calibri"/>
              </a:rPr>
              <a:t>Click onto it and it will either ask you to download or you already have it downloaded</a:t>
            </a:r>
          </a:p>
          <a:p>
            <a:pPr marL="285750" indent="-285750">
              <a:buFont typeface="Arial"/>
              <a:buChar char="•"/>
            </a:pPr>
            <a:r>
              <a:rPr lang="en-US">
                <a:ea typeface="Calibri"/>
                <a:cs typeface="Calibri"/>
              </a:rPr>
              <a:t>Do not recommend doing now as it takes a second </a:t>
            </a:r>
          </a:p>
        </p:txBody>
      </p:sp>
      <p:sp>
        <p:nvSpPr>
          <p:cNvPr id="8" name="TextBox 7">
            <a:extLst>
              <a:ext uri="{FF2B5EF4-FFF2-40B4-BE49-F238E27FC236}">
                <a16:creationId xmlns:a16="http://schemas.microsoft.com/office/drawing/2014/main" id="{75AC59AB-B493-2C97-EC67-22150437862A}"/>
              </a:ext>
            </a:extLst>
          </p:cNvPr>
          <p:cNvSpPr txBox="1"/>
          <p:nvPr/>
        </p:nvSpPr>
        <p:spPr>
          <a:xfrm>
            <a:off x="558604" y="6577119"/>
            <a:ext cx="1234159"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ea typeface="Calibri"/>
                <a:cs typeface="Calibri"/>
              </a:rPr>
              <a:t>Gavin</a:t>
            </a:r>
          </a:p>
        </p:txBody>
      </p:sp>
      <p:sp>
        <p:nvSpPr>
          <p:cNvPr id="9" name="TextBox 8">
            <a:extLst>
              <a:ext uri="{FF2B5EF4-FFF2-40B4-BE49-F238E27FC236}">
                <a16:creationId xmlns:a16="http://schemas.microsoft.com/office/drawing/2014/main" id="{D9D54E50-E392-F8E1-F3E4-46C8E06C5C1E}"/>
              </a:ext>
            </a:extLst>
          </p:cNvPr>
          <p:cNvSpPr txBox="1"/>
          <p:nvPr/>
        </p:nvSpPr>
        <p:spPr>
          <a:xfrm>
            <a:off x="3765589" y="5483595"/>
            <a:ext cx="46982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Once downloaded and installed it will ask you to restart unity, after that click onto WEB again and you can click build, and chose a folder location</a:t>
            </a:r>
          </a:p>
        </p:txBody>
      </p:sp>
    </p:spTree>
    <p:extLst>
      <p:ext uri="{BB962C8B-B14F-4D97-AF65-F5344CB8AC3E}">
        <p14:creationId xmlns:p14="http://schemas.microsoft.com/office/powerpoint/2010/main" val="3048759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04ACC-71DD-3E11-EF64-76B96781A6FE}"/>
              </a:ext>
            </a:extLst>
          </p:cNvPr>
          <p:cNvSpPr>
            <a:spLocks noGrp="1"/>
          </p:cNvSpPr>
          <p:nvPr>
            <p:ph type="title"/>
          </p:nvPr>
        </p:nvSpPr>
        <p:spPr/>
        <p:txBody>
          <a:bodyPr/>
          <a:lstStyle/>
          <a:p>
            <a:r>
              <a:rPr lang="en-US">
                <a:ea typeface="Calibri"/>
                <a:cs typeface="Calibri"/>
              </a:rPr>
              <a:t>Web Build Tutorial</a:t>
            </a:r>
            <a:endParaRPr lang="en-US"/>
          </a:p>
        </p:txBody>
      </p:sp>
      <p:pic>
        <p:nvPicPr>
          <p:cNvPr id="4" name="Content Placeholder 3">
            <a:extLst>
              <a:ext uri="{FF2B5EF4-FFF2-40B4-BE49-F238E27FC236}">
                <a16:creationId xmlns:a16="http://schemas.microsoft.com/office/drawing/2014/main" id="{B07BA385-F1DC-C927-666D-8286507D467C}"/>
              </a:ext>
            </a:extLst>
          </p:cNvPr>
          <p:cNvPicPr>
            <a:picLocks noGrp="1" noChangeAspect="1"/>
          </p:cNvPicPr>
          <p:nvPr>
            <p:ph idx="1"/>
          </p:nvPr>
        </p:nvPicPr>
        <p:blipFill>
          <a:blip r:embed="rId2"/>
          <a:stretch>
            <a:fillRect/>
          </a:stretch>
        </p:blipFill>
        <p:spPr>
          <a:xfrm>
            <a:off x="455613" y="1715294"/>
            <a:ext cx="4486275" cy="523875"/>
          </a:xfrm>
          <a:prstGeom prst="rect">
            <a:avLst/>
          </a:prstGeom>
        </p:spPr>
      </p:pic>
      <p:sp>
        <p:nvSpPr>
          <p:cNvPr id="5" name="TextBox 4">
            <a:extLst>
              <a:ext uri="{FF2B5EF4-FFF2-40B4-BE49-F238E27FC236}">
                <a16:creationId xmlns:a16="http://schemas.microsoft.com/office/drawing/2014/main" id="{F5A86F94-0B87-749A-B752-380D1B76B36B}"/>
              </a:ext>
            </a:extLst>
          </p:cNvPr>
          <p:cNvSpPr txBox="1"/>
          <p:nvPr/>
        </p:nvSpPr>
        <p:spPr>
          <a:xfrm>
            <a:off x="458944" y="2459156"/>
            <a:ext cx="4486419" cy="40164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ea typeface="Calibri"/>
                <a:cs typeface="Calibri"/>
              </a:rPr>
              <a:t>To publish the game:</a:t>
            </a:r>
          </a:p>
          <a:p>
            <a:pPr marL="285750" indent="-285750">
              <a:buFont typeface="Arial"/>
              <a:buChar char="•"/>
            </a:pPr>
            <a:r>
              <a:rPr lang="en-US" sz="1700">
                <a:ea typeface="Calibri"/>
                <a:cs typeface="Calibri"/>
              </a:rPr>
              <a:t>Search "</a:t>
            </a:r>
            <a:r>
              <a:rPr lang="en-US" sz="1700" err="1">
                <a:ea typeface="Calibri"/>
                <a:cs typeface="Calibri"/>
              </a:rPr>
              <a:t>UnityPlay</a:t>
            </a:r>
            <a:r>
              <a:rPr lang="en-US" sz="1700">
                <a:ea typeface="Calibri"/>
                <a:cs typeface="Calibri"/>
              </a:rPr>
              <a:t>" on the internet</a:t>
            </a:r>
          </a:p>
          <a:p>
            <a:pPr marL="285750" indent="-285750">
              <a:buFont typeface="Arial"/>
              <a:buChar char="•"/>
            </a:pPr>
            <a:r>
              <a:rPr lang="en-US" sz="1700">
                <a:ea typeface="Calibri"/>
                <a:cs typeface="Calibri"/>
              </a:rPr>
              <a:t>Click and login to your account</a:t>
            </a:r>
          </a:p>
          <a:p>
            <a:pPr marL="285750" indent="-285750">
              <a:buFont typeface="Arial"/>
              <a:buChar char="•"/>
            </a:pPr>
            <a:r>
              <a:rPr lang="en-US" sz="1700">
                <a:ea typeface="Calibri"/>
                <a:cs typeface="Calibri"/>
              </a:rPr>
              <a:t>Scroll down and find "upload your </a:t>
            </a:r>
            <a:r>
              <a:rPr lang="en-US" sz="1700" err="1">
                <a:ea typeface="Calibri"/>
                <a:cs typeface="Calibri"/>
              </a:rPr>
              <a:t>UnityWebGL</a:t>
            </a:r>
            <a:r>
              <a:rPr lang="en-US" sz="1700">
                <a:ea typeface="Calibri"/>
                <a:cs typeface="Calibri"/>
              </a:rPr>
              <a:t> Game"</a:t>
            </a:r>
          </a:p>
          <a:p>
            <a:pPr marL="285750" indent="-285750">
              <a:buFont typeface="Arial"/>
              <a:buChar char="•"/>
            </a:pPr>
            <a:r>
              <a:rPr lang="en-US" sz="1700">
                <a:ea typeface="Calibri"/>
                <a:cs typeface="Calibri"/>
              </a:rPr>
              <a:t>Now go to your folder that you built into</a:t>
            </a:r>
          </a:p>
          <a:p>
            <a:pPr marL="285750" indent="-285750">
              <a:buFont typeface="Arial"/>
              <a:buChar char="•"/>
            </a:pPr>
            <a:r>
              <a:rPr lang="en-US" sz="1700">
                <a:ea typeface="Calibri"/>
                <a:cs typeface="Calibri"/>
              </a:rPr>
              <a:t>Compress the whole folder to a .zip for uploading</a:t>
            </a:r>
          </a:p>
          <a:p>
            <a:pPr marL="285750" indent="-285750">
              <a:buFont typeface="Arial"/>
              <a:buChar char="•"/>
            </a:pPr>
            <a:r>
              <a:rPr lang="en-US" sz="1700">
                <a:ea typeface="Calibri"/>
                <a:cs typeface="Calibri"/>
              </a:rPr>
              <a:t>Drag and drop the compressed folder</a:t>
            </a:r>
          </a:p>
          <a:p>
            <a:pPr marL="285750" indent="-285750">
              <a:buFont typeface="Arial"/>
              <a:buChar char="•"/>
            </a:pPr>
            <a:r>
              <a:rPr lang="en-US" sz="1700">
                <a:ea typeface="Calibri"/>
                <a:cs typeface="Calibri"/>
              </a:rPr>
              <a:t>From there you can also add a title, description, and even a thumbnail</a:t>
            </a:r>
          </a:p>
          <a:p>
            <a:pPr marL="285750" indent="-285750">
              <a:buFont typeface="Arial"/>
              <a:buChar char="•"/>
            </a:pPr>
            <a:r>
              <a:rPr lang="en-US" sz="1700">
                <a:ea typeface="Calibri"/>
                <a:cs typeface="Calibri"/>
              </a:rPr>
              <a:t>Lastly click save at the bottom</a:t>
            </a:r>
          </a:p>
          <a:p>
            <a:pPr marL="285750" indent="-285750">
              <a:buFont typeface="Arial"/>
              <a:buChar char="•"/>
            </a:pPr>
            <a:r>
              <a:rPr lang="en-US" sz="1700">
                <a:ea typeface="Calibri"/>
                <a:cs typeface="Calibri"/>
              </a:rPr>
              <a:t>Note: I recommend to save it unlisted as we will need to break copyright at some point and we don’t want to get in real trouble</a:t>
            </a:r>
          </a:p>
        </p:txBody>
      </p:sp>
      <p:pic>
        <p:nvPicPr>
          <p:cNvPr id="6" name="Picture 5">
            <a:extLst>
              <a:ext uri="{FF2B5EF4-FFF2-40B4-BE49-F238E27FC236}">
                <a16:creationId xmlns:a16="http://schemas.microsoft.com/office/drawing/2014/main" id="{489FCDA5-3BC8-ACBC-3482-3EDEF8F4861C}"/>
              </a:ext>
            </a:extLst>
          </p:cNvPr>
          <p:cNvPicPr>
            <a:picLocks noChangeAspect="1"/>
          </p:cNvPicPr>
          <p:nvPr/>
        </p:nvPicPr>
        <p:blipFill>
          <a:blip r:embed="rId3"/>
          <a:stretch>
            <a:fillRect/>
          </a:stretch>
        </p:blipFill>
        <p:spPr>
          <a:xfrm>
            <a:off x="5988050" y="1416050"/>
            <a:ext cx="876300" cy="876300"/>
          </a:xfrm>
          <a:prstGeom prst="rect">
            <a:avLst/>
          </a:prstGeom>
        </p:spPr>
      </p:pic>
      <p:sp>
        <p:nvSpPr>
          <p:cNvPr id="7" name="TextBox 6">
            <a:extLst>
              <a:ext uri="{FF2B5EF4-FFF2-40B4-BE49-F238E27FC236}">
                <a16:creationId xmlns:a16="http://schemas.microsoft.com/office/drawing/2014/main" id="{9431E74E-6902-131F-EB49-2223D5EE6812}"/>
              </a:ext>
            </a:extLst>
          </p:cNvPr>
          <p:cNvSpPr txBox="1"/>
          <p:nvPr/>
        </p:nvSpPr>
        <p:spPr>
          <a:xfrm>
            <a:off x="5392435" y="2440270"/>
            <a:ext cx="31064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Lastly for the QR code:</a:t>
            </a:r>
          </a:p>
          <a:p>
            <a:pPr marL="285750" indent="-285750">
              <a:buFont typeface="Arial"/>
              <a:buChar char="•"/>
            </a:pPr>
            <a:r>
              <a:rPr lang="en-US">
                <a:ea typeface="Calibri"/>
                <a:cs typeface="Calibri"/>
              </a:rPr>
              <a:t>Search "link to QR code generator" on the internet</a:t>
            </a:r>
          </a:p>
          <a:p>
            <a:pPr marL="285750" indent="-285750">
              <a:buFont typeface="Arial"/>
              <a:buChar char="•"/>
            </a:pPr>
            <a:r>
              <a:rPr lang="en-US">
                <a:ea typeface="Calibri"/>
                <a:cs typeface="Calibri"/>
              </a:rPr>
              <a:t>Find one to your liking </a:t>
            </a:r>
          </a:p>
          <a:p>
            <a:pPr marL="285750" indent="-285750">
              <a:buFont typeface="Arial"/>
              <a:buChar char="•"/>
            </a:pPr>
            <a:r>
              <a:rPr lang="en-US">
                <a:ea typeface="Calibri"/>
                <a:cs typeface="Calibri"/>
              </a:rPr>
              <a:t>Copy the link from your uploaded and saved game</a:t>
            </a:r>
          </a:p>
          <a:p>
            <a:pPr marL="285750" indent="-285750">
              <a:buFont typeface="Arial"/>
              <a:buChar char="•"/>
            </a:pPr>
            <a:r>
              <a:rPr lang="en-US">
                <a:ea typeface="Calibri"/>
                <a:cs typeface="Calibri"/>
              </a:rPr>
              <a:t>Paste it into the website </a:t>
            </a:r>
          </a:p>
          <a:p>
            <a:pPr marL="285750" indent="-285750">
              <a:buFont typeface="Arial"/>
              <a:buChar char="•"/>
            </a:pPr>
            <a:r>
              <a:rPr lang="en-US">
                <a:ea typeface="Calibri"/>
                <a:cs typeface="Calibri"/>
              </a:rPr>
              <a:t>Then you can take it and add it on to your poster, I used paint</a:t>
            </a:r>
          </a:p>
        </p:txBody>
      </p:sp>
      <p:sp>
        <p:nvSpPr>
          <p:cNvPr id="8" name="TextBox 7">
            <a:extLst>
              <a:ext uri="{FF2B5EF4-FFF2-40B4-BE49-F238E27FC236}">
                <a16:creationId xmlns:a16="http://schemas.microsoft.com/office/drawing/2014/main" id="{3C7771D6-519B-CD34-0429-293EB89B049A}"/>
              </a:ext>
            </a:extLst>
          </p:cNvPr>
          <p:cNvSpPr txBox="1"/>
          <p:nvPr/>
        </p:nvSpPr>
        <p:spPr>
          <a:xfrm>
            <a:off x="575668" y="6568120"/>
            <a:ext cx="13393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ea typeface="Calibri"/>
                <a:cs typeface="Calibri"/>
              </a:rPr>
              <a:t>Gavin</a:t>
            </a:r>
          </a:p>
        </p:txBody>
      </p:sp>
    </p:spTree>
    <p:extLst>
      <p:ext uri="{BB962C8B-B14F-4D97-AF65-F5344CB8AC3E}">
        <p14:creationId xmlns:p14="http://schemas.microsoft.com/office/powerpoint/2010/main" val="1583793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35191-2B21-2ADD-2004-CE6D69C25CC2}"/>
              </a:ext>
            </a:extLst>
          </p:cNvPr>
          <p:cNvSpPr>
            <a:spLocks noGrp="1"/>
          </p:cNvSpPr>
          <p:nvPr>
            <p:ph type="title"/>
          </p:nvPr>
        </p:nvSpPr>
        <p:spPr>
          <a:xfrm>
            <a:off x="457200" y="274638"/>
            <a:ext cx="7114032" cy="1143000"/>
          </a:xfrm>
        </p:spPr>
        <p:txBody>
          <a:bodyPr anchor="ctr">
            <a:normAutofit/>
          </a:bodyPr>
          <a:lstStyle/>
          <a:p>
            <a:r>
              <a:rPr lang="en-US"/>
              <a:t>Algernon Poster</a:t>
            </a:r>
          </a:p>
        </p:txBody>
      </p:sp>
      <p:pic>
        <p:nvPicPr>
          <p:cNvPr id="4" name="Content Placeholder 3">
            <a:extLst>
              <a:ext uri="{FF2B5EF4-FFF2-40B4-BE49-F238E27FC236}">
                <a16:creationId xmlns:a16="http://schemas.microsoft.com/office/drawing/2014/main" id="{4C49521B-3490-5FDF-BF25-DAAD0E528D48}"/>
              </a:ext>
            </a:extLst>
          </p:cNvPr>
          <p:cNvPicPr>
            <a:picLocks noGrp="1" noChangeAspect="1"/>
          </p:cNvPicPr>
          <p:nvPr>
            <p:ph idx="1"/>
          </p:nvPr>
        </p:nvPicPr>
        <p:blipFill>
          <a:blip r:embed="rId3"/>
          <a:stretch>
            <a:fillRect/>
          </a:stretch>
        </p:blipFill>
        <p:spPr>
          <a:xfrm>
            <a:off x="2303346" y="1600200"/>
            <a:ext cx="4537307" cy="4525963"/>
          </a:xfrm>
          <a:prstGeom prst="rect">
            <a:avLst/>
          </a:prstGeom>
          <a:noFill/>
        </p:spPr>
      </p:pic>
      <p:sp>
        <p:nvSpPr>
          <p:cNvPr id="5" name="TextBox 4">
            <a:extLst>
              <a:ext uri="{FF2B5EF4-FFF2-40B4-BE49-F238E27FC236}">
                <a16:creationId xmlns:a16="http://schemas.microsoft.com/office/drawing/2014/main" id="{2CE0192B-CDD2-62E0-A75D-8A7449EF5341}"/>
              </a:ext>
            </a:extLst>
          </p:cNvPr>
          <p:cNvSpPr txBox="1"/>
          <p:nvPr/>
        </p:nvSpPr>
        <p:spPr>
          <a:xfrm>
            <a:off x="458057" y="6565743"/>
            <a:ext cx="156373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ea typeface="Calibri"/>
                <a:cs typeface="Calibri"/>
              </a:rPr>
              <a:t>Gavin</a:t>
            </a:r>
          </a:p>
        </p:txBody>
      </p:sp>
    </p:spTree>
    <p:extLst>
      <p:ext uri="{BB962C8B-B14F-4D97-AF65-F5344CB8AC3E}">
        <p14:creationId xmlns:p14="http://schemas.microsoft.com/office/powerpoint/2010/main" val="1306674037"/>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CF83C-06CF-1FE9-2DE7-D531E17C5B93}"/>
              </a:ext>
            </a:extLst>
          </p:cNvPr>
          <p:cNvSpPr>
            <a:spLocks noGrp="1"/>
          </p:cNvSpPr>
          <p:nvPr>
            <p:ph type="title"/>
          </p:nvPr>
        </p:nvSpPr>
        <p:spPr>
          <a:xfrm>
            <a:off x="457200" y="274638"/>
            <a:ext cx="7114032" cy="1143000"/>
          </a:xfrm>
        </p:spPr>
        <p:txBody>
          <a:bodyPr anchor="ctr">
            <a:normAutofit/>
          </a:bodyPr>
          <a:lstStyle/>
          <a:p>
            <a:r>
              <a:rPr lang="en-US"/>
              <a:t>CONCLUSION</a:t>
            </a:r>
          </a:p>
        </p:txBody>
      </p:sp>
      <p:graphicFrame>
        <p:nvGraphicFramePr>
          <p:cNvPr id="5" name="Content Placeholder 2">
            <a:extLst>
              <a:ext uri="{FF2B5EF4-FFF2-40B4-BE49-F238E27FC236}">
                <a16:creationId xmlns:a16="http://schemas.microsoft.com/office/drawing/2014/main" id="{B1C5D241-1FC4-8F13-C09A-0A0B4CCD7C5C}"/>
              </a:ext>
            </a:extLst>
          </p:cNvPr>
          <p:cNvGraphicFramePr>
            <a:graphicFrameLocks noGrp="1"/>
          </p:cNvGraphicFramePr>
          <p:nvPr>
            <p:ph idx="1"/>
            <p:extLst>
              <p:ext uri="{D42A27DB-BD31-4B8C-83A1-F6EECF244321}">
                <p14:modId xmlns:p14="http://schemas.microsoft.com/office/powerpoint/2010/main" val="3313716030"/>
              </p:ext>
            </p:extLst>
          </p:nvPr>
        </p:nvGraphicFramePr>
        <p:xfrm>
          <a:off x="0" y="1417320"/>
          <a:ext cx="9133840" cy="4922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2" name="Picture 21" descr="A qr code on a white background&#10;&#10;AI-generated content may be incorrect.">
            <a:extLst>
              <a:ext uri="{FF2B5EF4-FFF2-40B4-BE49-F238E27FC236}">
                <a16:creationId xmlns:a16="http://schemas.microsoft.com/office/drawing/2014/main" id="{1BDB0316-320C-B17D-7FCE-9B0B2421AA64}"/>
              </a:ext>
            </a:extLst>
          </p:cNvPr>
          <p:cNvPicPr>
            <a:picLocks noChangeAspect="1"/>
          </p:cNvPicPr>
          <p:nvPr/>
        </p:nvPicPr>
        <p:blipFill>
          <a:blip r:embed="rId7"/>
          <a:stretch>
            <a:fillRect/>
          </a:stretch>
        </p:blipFill>
        <p:spPr>
          <a:xfrm>
            <a:off x="4780197" y="1427637"/>
            <a:ext cx="1043691" cy="1124657"/>
          </a:xfrm>
          <a:prstGeom prst="rect">
            <a:avLst/>
          </a:prstGeom>
        </p:spPr>
      </p:pic>
      <p:sp>
        <p:nvSpPr>
          <p:cNvPr id="23" name="TextBox 22">
            <a:extLst>
              <a:ext uri="{FF2B5EF4-FFF2-40B4-BE49-F238E27FC236}">
                <a16:creationId xmlns:a16="http://schemas.microsoft.com/office/drawing/2014/main" id="{5C03CFF0-EC57-F15D-C156-0E2EEF6872AD}"/>
              </a:ext>
            </a:extLst>
          </p:cNvPr>
          <p:cNvSpPr txBox="1"/>
          <p:nvPr/>
        </p:nvSpPr>
        <p:spPr>
          <a:xfrm>
            <a:off x="456981" y="6603295"/>
            <a:ext cx="1017977" cy="33855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solidFill>
                  <a:srgbClr val="FFFFFF"/>
                </a:solidFill>
                <a:ea typeface="Calibri"/>
                <a:cs typeface="Calibri"/>
              </a:rPr>
              <a:t>Nishant</a:t>
            </a:r>
          </a:p>
        </p:txBody>
      </p:sp>
      <p:pic>
        <p:nvPicPr>
          <p:cNvPr id="20" name="Picture 19">
            <a:extLst>
              <a:ext uri="{FF2B5EF4-FFF2-40B4-BE49-F238E27FC236}">
                <a16:creationId xmlns:a16="http://schemas.microsoft.com/office/drawing/2014/main" id="{E6834EEE-D1BE-2343-E624-CF195F6F78A2}"/>
              </a:ext>
            </a:extLst>
          </p:cNvPr>
          <p:cNvPicPr>
            <a:picLocks noChangeAspect="1"/>
          </p:cNvPicPr>
          <p:nvPr/>
        </p:nvPicPr>
        <p:blipFill>
          <a:blip r:embed="rId8"/>
          <a:stretch>
            <a:fillRect/>
          </a:stretch>
        </p:blipFill>
        <p:spPr>
          <a:xfrm>
            <a:off x="0" y="0"/>
            <a:ext cx="9144000" cy="6858000"/>
          </a:xfrm>
          <a:prstGeom prst="rect">
            <a:avLst/>
          </a:prstGeom>
        </p:spPr>
      </p:pic>
    </p:spTree>
    <p:extLst>
      <p:ext uri="{BB962C8B-B14F-4D97-AF65-F5344CB8AC3E}">
        <p14:creationId xmlns:p14="http://schemas.microsoft.com/office/powerpoint/2010/main" val="417183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2900A-B7EF-9A39-98F2-0C94ACAA8B44}"/>
              </a:ext>
            </a:extLst>
          </p:cNvPr>
          <p:cNvSpPr>
            <a:spLocks noGrp="1"/>
          </p:cNvSpPr>
          <p:nvPr>
            <p:ph type="title"/>
          </p:nvPr>
        </p:nvSpPr>
        <p:spPr/>
        <p:txBody>
          <a:bodyPr>
            <a:normAutofit/>
          </a:bodyPr>
          <a:lstStyle/>
          <a:p>
            <a:r>
              <a:rPr lang="en-US">
                <a:ea typeface="Calibri"/>
                <a:cs typeface="Calibri"/>
              </a:rPr>
              <a:t>Lecture 2</a:t>
            </a:r>
          </a:p>
        </p:txBody>
      </p:sp>
      <p:sp>
        <p:nvSpPr>
          <p:cNvPr id="3" name="Content Placeholder 2">
            <a:extLst>
              <a:ext uri="{FF2B5EF4-FFF2-40B4-BE49-F238E27FC236}">
                <a16:creationId xmlns:a16="http://schemas.microsoft.com/office/drawing/2014/main" id="{3ED093F9-9525-B9EC-6B21-9E56BB81BEF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82452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Now — In Your Teams (TL6s take over)</a:t>
            </a:r>
          </a:p>
        </p:txBody>
      </p:sp>
      <p:sp>
        <p:nvSpPr>
          <p:cNvPr id="3" name="Text Placeholder 2"/>
          <p:cNvSpPr>
            <a:spLocks noGrp="1"/>
          </p:cNvSpPr>
          <p:nvPr>
            <p:ph type="body" idx="1"/>
          </p:nvPr>
        </p:nvSpPr>
        <p:spPr/>
        <p:txBody>
          <a:bodyPr/>
          <a:lstStyle/>
          <a:p>
            <a:r>
              <a:t>Each team's TL6 leads. Get ONE breaking point off a real phone. 12 minutes on the clock.</a:t>
            </a:r>
          </a:p>
        </p:txBody>
      </p:sp>
      <p:sp>
        <p:nvSpPr>
          <p:cNvPr id="4" name="TextBox 3">
            <a:extLst>
              <a:ext uri="{FF2B5EF4-FFF2-40B4-BE49-F238E27FC236}">
                <a16:creationId xmlns:a16="http://schemas.microsoft.com/office/drawing/2014/main" id="{BF1CCD68-D622-0249-FE23-558239687D98}"/>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Watch: How a Build Gets onto a Phone</a:t>
            </a:r>
          </a:p>
        </p:txBody>
      </p:sp>
      <p:sp>
        <p:nvSpPr>
          <p:cNvPr id="3" name="Content Placeholder 2"/>
          <p:cNvSpPr>
            <a:spLocks noGrp="1"/>
          </p:cNvSpPr>
          <p:nvPr>
            <p:ph idx="1"/>
          </p:nvPr>
        </p:nvSpPr>
        <p:spPr/>
        <p:txBody>
          <a:bodyPr>
            <a:normAutofit fontScale="92500" lnSpcReduction="20000"/>
          </a:bodyPr>
          <a:lstStyle/>
          <a:p>
            <a:r>
              <a:t>[Projected demo — one TL6, on a real Android phone, once for everyone]</a:t>
            </a:r>
          </a:p>
          <a:p>
            <a:r>
              <a:t>Switch build target to Android · add the stress scene · connect phone (developer mode + USB debugging) · Build and Run.</a:t>
            </a:r>
          </a:p>
          <a:p>
            <a:r>
              <a:t>The scene self-drives: escalates the load and reports its breaking point ON the phone screen. No controls needed.</a:t>
            </a:r>
          </a:p>
          <a:p>
            <a:r>
              <a:t>Common snags: phone not detected (USB debugging off) · target still set to PC. Your team's TL6 knows both.</a:t>
            </a:r>
          </a:p>
        </p:txBody>
      </p:sp>
      <p:sp>
        <p:nvSpPr>
          <p:cNvPr id="4" name="TextBox 3">
            <a:extLst>
              <a:ext uri="{FF2B5EF4-FFF2-40B4-BE49-F238E27FC236}">
                <a16:creationId xmlns:a16="http://schemas.microsoft.com/office/drawing/2014/main" id="{35F9FB7A-C912-EA98-1A6A-9009FFF98B7A}"/>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Name</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 One Breaking Point off a Real Phone</a:t>
            </a:r>
          </a:p>
        </p:txBody>
      </p:sp>
      <p:sp>
        <p:nvSpPr>
          <p:cNvPr id="3" name="TextBox 2"/>
          <p:cNvSpPr txBox="1"/>
          <p:nvPr/>
        </p:nvSpPr>
        <p:spPr>
          <a:xfrm>
            <a:off x="548640" y="1554480"/>
            <a:ext cx="8229600" cy="2862322"/>
          </a:xfrm>
          <a:prstGeom prst="rect">
            <a:avLst/>
          </a:prstGeom>
          <a:noFill/>
        </p:spPr>
        <p:txBody>
          <a:bodyPr wrap="square">
            <a:spAutoFit/>
          </a:bodyPr>
          <a:lstStyle/>
          <a:p>
            <a:r>
              <a:rPr sz="2000">
                <a:solidFill>
                  <a:schemeClr val="bg1"/>
                </a:solidFill>
              </a:rPr>
              <a:t>In your team. Your TL6 leads. ~12 minutes. Target: ONE breaking point, on-device.</a:t>
            </a:r>
          </a:p>
          <a:p>
            <a:r>
              <a:rPr sz="2000">
                <a:solidFill>
                  <a:schemeClr val="bg1"/>
                </a:solidFill>
              </a:rPr>
              <a:t>Android phone available:</a:t>
            </a:r>
          </a:p>
          <a:p>
            <a:r>
              <a:rPr sz="2000">
                <a:solidFill>
                  <a:schemeClr val="bg1"/>
                </a:solidFill>
              </a:rPr>
              <a:t>   • Build &amp; Run the stress scene to the phone (as demoed). It self-drives.</a:t>
            </a:r>
          </a:p>
          <a:p>
            <a:r>
              <a:rPr sz="2000">
                <a:solidFill>
                  <a:schemeClr val="bg1"/>
                </a:solidFill>
              </a:rPr>
              <a:t>   • Read the breaking point off the PHONE screen. Note the phone model.</a:t>
            </a:r>
          </a:p>
          <a:p>
            <a:r>
              <a:rPr sz="2000">
                <a:solidFill>
                  <a:schemeClr val="bg1"/>
                </a:solidFill>
              </a:rPr>
              <a:t>iPhone-only / no phone:</a:t>
            </a:r>
          </a:p>
          <a:p>
            <a:r>
              <a:rPr sz="2000">
                <a:solidFill>
                  <a:schemeClr val="bg1"/>
                </a:solidFill>
              </a:rPr>
              <a:t>   • Run the stress scene as a development build on a LAPTOP; read it there.</a:t>
            </a:r>
          </a:p>
          <a:p>
            <a:r>
              <a:rPr sz="2000">
                <a:solidFill>
                  <a:schemeClr val="bg1"/>
                </a:solidFill>
              </a:rPr>
              <a:t>Write down: the load at the FPS break (half the phone's starting FPS) and, if reached, the physics-violation break.</a:t>
            </a:r>
          </a:p>
        </p:txBody>
      </p:sp>
      <p:sp>
        <p:nvSpPr>
          <p:cNvPr id="4" name="TextBox 3">
            <a:extLst>
              <a:ext uri="{FF2B5EF4-FFF2-40B4-BE49-F238E27FC236}">
                <a16:creationId xmlns:a16="http://schemas.microsoft.com/office/drawing/2014/main" id="{8E4279DA-99A2-10EF-1B05-76AE8C40CEB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Back Together — Now Harden It for the Demo</a:t>
            </a:r>
          </a:p>
        </p:txBody>
      </p:sp>
      <p:sp>
        <p:nvSpPr>
          <p:cNvPr id="3" name="Content Placeholder 2"/>
          <p:cNvSpPr>
            <a:spLocks noGrp="1"/>
          </p:cNvSpPr>
          <p:nvPr>
            <p:ph idx="1"/>
          </p:nvPr>
        </p:nvSpPr>
        <p:spPr/>
        <p:txBody>
          <a:bodyPr>
            <a:normAutofit fontScale="85000" lnSpcReduction="10000"/>
          </a:bodyPr>
          <a:lstStyle/>
          <a:p>
            <a:r>
              <a:t>Share: what breaking points did teams see on a real phone? (TL6 uses these for final-build platform limits; L2 puts them on the phone playably.)</a:t>
            </a:r>
          </a:p>
          <a:p>
            <a:r>
              <a:t>Now the OTHER half of TL6's job — the demo. DemoDemons was RECOVERING from a break; this is PREVENTING one.</a:t>
            </a:r>
          </a:p>
          <a:p>
            <a:r>
              <a:t>A demo-safe build: no debug console spam · fails GRACEFULLY on a missing asset (no crash) · a known-good fallback state.</a:t>
            </a:r>
          </a:p>
          <a:p>
            <a:r>
              <a:t>Spend the last few minutes hardening your own feature.</a:t>
            </a:r>
          </a:p>
        </p:txBody>
      </p:sp>
      <p:sp>
        <p:nvSpPr>
          <p:cNvPr id="4" name="TextBox 3">
            <a:extLst>
              <a:ext uri="{FF2B5EF4-FFF2-40B4-BE49-F238E27FC236}">
                <a16:creationId xmlns:a16="http://schemas.microsoft.com/office/drawing/2014/main" id="{DF6213F1-ADFA-E08F-90A7-F4DE7041323C}"/>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 Make Your Feature Demo-Safe</a:t>
            </a:r>
          </a:p>
        </p:txBody>
      </p:sp>
      <p:sp>
        <p:nvSpPr>
          <p:cNvPr id="3" name="TextBox 2"/>
          <p:cNvSpPr txBox="1"/>
          <p:nvPr/>
        </p:nvSpPr>
        <p:spPr>
          <a:xfrm>
            <a:off x="548640" y="1554480"/>
            <a:ext cx="8229600" cy="2554545"/>
          </a:xfrm>
          <a:prstGeom prst="rect">
            <a:avLst/>
          </a:prstGeom>
          <a:noFill/>
        </p:spPr>
        <p:txBody>
          <a:bodyPr wrap="square">
            <a:spAutoFit/>
          </a:bodyPr>
          <a:lstStyle/>
          <a:p>
            <a:r>
              <a:rPr sz="2000">
                <a:solidFill>
                  <a:schemeClr val="bg1"/>
                </a:solidFill>
              </a:rPr>
              <a:t>Harden YOUR feature against a live-demo disaster:</a:t>
            </a:r>
          </a:p>
          <a:p>
            <a:r>
              <a:rPr sz="2000">
                <a:solidFill>
                  <a:schemeClr val="bg1"/>
                </a:solidFill>
              </a:rPr>
              <a:t>   • Silence debug spam — no Console errors/warnings flooding a build.</a:t>
            </a:r>
          </a:p>
          <a:p>
            <a:r>
              <a:rPr sz="2000">
                <a:solidFill>
                  <a:schemeClr val="bg1"/>
                </a:solidFill>
              </a:rPr>
              <a:t>   • Fail gracefully — a missing asset or bad state shows a fallback, never a crash.</a:t>
            </a:r>
          </a:p>
          <a:p>
            <a:r>
              <a:rPr sz="2000">
                <a:solidFill>
                  <a:schemeClr val="bg1"/>
                </a:solidFill>
              </a:rPr>
              <a:t>   • Known-good state — a reliable starting point you can always return to on stage.</a:t>
            </a:r>
          </a:p>
          <a:p>
            <a:r>
              <a:rPr sz="2000">
                <a:solidFill>
                  <a:schemeClr val="bg1"/>
                </a:solidFill>
              </a:rPr>
              <a:t>This is the PREVENTIVE twin of </a:t>
            </a:r>
            <a:r>
              <a:rPr sz="2000" err="1">
                <a:solidFill>
                  <a:schemeClr val="bg1"/>
                </a:solidFill>
              </a:rPr>
              <a:t>DemoDemons</a:t>
            </a:r>
            <a:r>
              <a:rPr sz="2000">
                <a:solidFill>
                  <a:schemeClr val="bg1"/>
                </a:solidFill>
              </a:rPr>
              <a:t> (which is about RECOVERING when it breaks anyway).</a:t>
            </a:r>
          </a:p>
        </p:txBody>
      </p:sp>
      <p:sp>
        <p:nvSpPr>
          <p:cNvPr id="4" name="TextBox 3">
            <a:extLst>
              <a:ext uri="{FF2B5EF4-FFF2-40B4-BE49-F238E27FC236}">
                <a16:creationId xmlns:a16="http://schemas.microsoft.com/office/drawing/2014/main" id="{FA60B5F8-D08A-2313-AF7A-4B1B6C60EC1A}"/>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47500" lnSpcReduction="20000"/>
          </a:bodyPr>
          <a:lstStyle/>
          <a:p>
            <a:r>
              <a:t>TL6 L2 — Ship It &amp; Wrap Up. Blank Office Theme master (BC adds formatting). Near end of term, days before code-complete / oral exams.</a:t>
            </a:r>
          </a:p>
          <a:p>
            <a:r>
              <a:t>MERGE of original TL6 L1 (deployment, CI DROPPED - that's TL1's) + original TL6 L2 (pair programming + oral-exam prep). Reconciled with new TL6 L1 'Leaves the Nest' (profiling/hardening) - do NOT repeat that here.</a:t>
            </a:r>
          </a:p>
          <a:p>
            <a:r>
              <a:t>ARC: L1 Leaves the Nest = MEASURE + HARDEN. L2 (this) = it ACTUALLY leaves (phone deploy + QR/arcade showcase) AND wrap the project (pair programming, oral-exam prep).</a:t>
            </a:r>
          </a:p>
          <a:p>
            <a:r>
              <a:t>PART A - Ship to a phone: CD framing (CI is TL1's), build APK, touch controls (one movement path/two input sources), QR + poster, arcade demo mode, play games.</a:t>
            </a:r>
          </a:p>
          <a:p>
            <a:r>
              <a:t>PART B - Pair programming: two deadlines (Tue lecture / Thu freeze), why Agile (compressed), driver &amp; navigator, how pairs quietly fail, the deliverable, the LOCATOR write-up (20-50 words), how pairs get decided (TL6 recommends -&gt; BC assigns Thu -&gt; code freezes).</a:t>
            </a:r>
          </a:p>
          <a:p>
            <a:r>
              <a:t>PART C - Oral-exam prep (capstone): run your game, know your commits, bring your Gantt (estimated vs actual - ties to TL4), code frozen since Thu.</a:t>
            </a:r>
          </a:p>
          <a:p>
            <a:r>
              <a:t>NOTE MODES: word-for-word spoken; code-reference slides for the touch-input and idle-timer snippets. Theory compressed vs originals; mechanics + logistics kept intact.</a:t>
            </a:r>
          </a:p>
        </p:txBody>
      </p:sp>
    </p:spTree>
    <p:extLst>
      <p:ext uri="{BB962C8B-B14F-4D97-AF65-F5344CB8AC3E}">
        <p14:creationId xmlns:p14="http://schemas.microsoft.com/office/powerpoint/2010/main" val="138052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06C6-DE6C-B956-5B54-980E0D432EC7}"/>
              </a:ext>
            </a:extLst>
          </p:cNvPr>
          <p:cNvSpPr>
            <a:spLocks noGrp="1"/>
          </p:cNvSpPr>
          <p:nvPr>
            <p:ph type="title"/>
          </p:nvPr>
        </p:nvSpPr>
        <p:spPr/>
        <p:txBody>
          <a:bodyPr/>
          <a:lstStyle/>
          <a:p>
            <a:r>
              <a:rPr lang="en-US">
                <a:ea typeface="Calibri"/>
                <a:cs typeface="Calibri"/>
              </a:rPr>
              <a:t>From Lecture 1</a:t>
            </a:r>
            <a:endParaRPr lang="en-US"/>
          </a:p>
        </p:txBody>
      </p:sp>
      <p:sp>
        <p:nvSpPr>
          <p:cNvPr id="3" name="Content Placeholder 2">
            <a:extLst>
              <a:ext uri="{FF2B5EF4-FFF2-40B4-BE49-F238E27FC236}">
                <a16:creationId xmlns:a16="http://schemas.microsoft.com/office/drawing/2014/main" id="{5F6150C5-0F63-9055-4505-C43F814C3F22}"/>
              </a:ext>
            </a:extLst>
          </p:cNvPr>
          <p:cNvSpPr>
            <a:spLocks noGrp="1"/>
          </p:cNvSpPr>
          <p:nvPr>
            <p:ph idx="1"/>
          </p:nvPr>
        </p:nvSpPr>
        <p:spPr/>
        <p:txBody>
          <a:bodyPr vert="horz" lIns="91440" tIns="45720" rIns="91440" bIns="45720" rtlCol="0" anchor="t">
            <a:normAutofit/>
          </a:bodyPr>
          <a:lstStyle/>
          <a:p>
            <a:r>
              <a:rPr lang="en-US" sz="2700">
                <a:ea typeface="Calibri"/>
                <a:cs typeface="Calibri"/>
              </a:rPr>
              <a:t>2 — Profile your feature: could it survive a phone? (using your TL3 stress scene)</a:t>
            </a:r>
          </a:p>
          <a:p>
            <a:r>
              <a:rPr lang="en-US">
                <a:ea typeface="Calibri"/>
                <a:cs typeface="Calibri"/>
              </a:rPr>
              <a:t>4 — In teams: get one real breaking point off an actual phone.</a:t>
            </a:r>
          </a:p>
          <a:p>
            <a:endParaRPr lang="en-US" sz="2700">
              <a:ea typeface="Calibri"/>
              <a:cs typeface="Calibri"/>
            </a:endParaRPr>
          </a:p>
          <a:p>
            <a:endParaRPr lang="en-US">
              <a:ea typeface="Calibri"/>
              <a:cs typeface="Calibri"/>
            </a:endParaRPr>
          </a:p>
        </p:txBody>
      </p:sp>
    </p:spTree>
    <p:extLst>
      <p:ext uri="{BB962C8B-B14F-4D97-AF65-F5344CB8AC3E}">
        <p14:creationId xmlns:p14="http://schemas.microsoft.com/office/powerpoint/2010/main" val="180132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Ship It &amp; Wrap Up</a:t>
            </a:r>
          </a:p>
        </p:txBody>
      </p:sp>
      <p:sp>
        <p:nvSpPr>
          <p:cNvPr id="3" name="Subtitle 2"/>
          <p:cNvSpPr>
            <a:spLocks noGrp="1"/>
          </p:cNvSpPr>
          <p:nvPr>
            <p:ph type="subTitle" idx="1"/>
          </p:nvPr>
        </p:nvSpPr>
        <p:spPr/>
        <p:txBody>
          <a:bodyPr/>
          <a:lstStyle/>
          <a:p>
            <a:r>
              <a:t>TL6 — Lecture 2 · Onto a phone, into the arcade, and ready for the exam</a:t>
            </a:r>
          </a:p>
        </p:txBody>
      </p:sp>
    </p:spTree>
    <p:extLst>
      <p:ext uri="{BB962C8B-B14F-4D97-AF65-F5344CB8AC3E}">
        <p14:creationId xmlns:p14="http://schemas.microsoft.com/office/powerpoint/2010/main" val="4025182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Your TL6 Team — the Home Stretch</a:t>
            </a:r>
          </a:p>
        </p:txBody>
      </p:sp>
      <p:sp>
        <p:nvSpPr>
          <p:cNvPr id="3" name="Content Placeholder 2"/>
          <p:cNvSpPr>
            <a:spLocks noGrp="1"/>
          </p:cNvSpPr>
          <p:nvPr>
            <p:ph idx="1"/>
          </p:nvPr>
        </p:nvSpPr>
        <p:spPr/>
        <p:txBody>
          <a:bodyPr/>
          <a:lstStyle/>
          <a:p>
            <a:r>
              <a:t>Same TL6 group from Leaves the Nest — circulating to help.</a:t>
            </a:r>
          </a:p>
          <a:p>
            <a:r>
              <a:t>Today is the home stretch: ship to a phone, form pairs, prep for orals.</a:t>
            </a:r>
          </a:p>
          <a:p>
            <a:r>
              <a:t>Grab us for the phone-build especially — that's where hands get stuck.</a:t>
            </a:r>
          </a:p>
          <a:p>
            <a:r>
              <a:t>At the final showcase, TL6 runs tech support and keeps the arcade alive.</a:t>
            </a:r>
          </a:p>
        </p:txBody>
      </p:sp>
      <p:sp>
        <p:nvSpPr>
          <p:cNvPr id="4" name="TextBox 3">
            <a:extLst>
              <a:ext uri="{FF2B5EF4-FFF2-40B4-BE49-F238E27FC236}">
                <a16:creationId xmlns:a16="http://schemas.microsoft.com/office/drawing/2014/main" id="{BAF7BB07-E8E1-6393-72D7-B73DAF5BEE56}"/>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1326836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Today — Ship It, Then Wrap It</a:t>
            </a:r>
          </a:p>
        </p:txBody>
      </p:sp>
      <p:sp>
        <p:nvSpPr>
          <p:cNvPr id="3" name="Content Placeholder 2"/>
          <p:cNvSpPr>
            <a:spLocks noGrp="1"/>
          </p:cNvSpPr>
          <p:nvPr>
            <p:ph idx="1"/>
          </p:nvPr>
        </p:nvSpPr>
        <p:spPr/>
        <p:txBody>
          <a:bodyPr/>
          <a:lstStyle/>
          <a:p>
            <a:r>
              <a:t>PART A — Ship it: get your game onto a phone, behind a QR code — the arcade.</a:t>
            </a:r>
          </a:p>
          <a:p>
            <a:r>
              <a:t>PART B — Pair programming: close the last gaps (two deadlines this week).</a:t>
            </a:r>
          </a:p>
          <a:p>
            <a:r>
              <a:t>PART C — Oral-exam prep: how to defend what you built.</a:t>
            </a:r>
          </a:p>
          <a:p>
            <a:r>
              <a:t>Theme: getting to done, and being ready to defend it.</a:t>
            </a:r>
          </a:p>
        </p:txBody>
      </p:sp>
      <p:sp>
        <p:nvSpPr>
          <p:cNvPr id="4" name="TextBox 3">
            <a:extLst>
              <a:ext uri="{FF2B5EF4-FFF2-40B4-BE49-F238E27FC236}">
                <a16:creationId xmlns:a16="http://schemas.microsoft.com/office/drawing/2014/main" id="{CAE5ADC5-6965-1B3A-D549-B6D7D26D606B}"/>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4056960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A — Ship It to a Phone</a:t>
            </a:r>
          </a:p>
        </p:txBody>
      </p:sp>
      <p:sp>
        <p:nvSpPr>
          <p:cNvPr id="3" name="Text Placeholder 2"/>
          <p:cNvSpPr>
            <a:spLocks noGrp="1"/>
          </p:cNvSpPr>
          <p:nvPr>
            <p:ph type="body" idx="1"/>
          </p:nvPr>
        </p:nvSpPr>
        <p:spPr/>
        <p:txBody>
          <a:bodyPr/>
          <a:lstStyle/>
          <a:p>
            <a:r>
              <a:t>CI is TL1's. This is CD: a passing build becomes a game on a phone.</a:t>
            </a:r>
          </a:p>
        </p:txBody>
      </p:sp>
      <p:sp>
        <p:nvSpPr>
          <p:cNvPr id="4" name="TextBox 3">
            <a:extLst>
              <a:ext uri="{FF2B5EF4-FFF2-40B4-BE49-F238E27FC236}">
                <a16:creationId xmlns:a16="http://schemas.microsoft.com/office/drawing/2014/main" id="{D9F6F7DC-23C8-5B80-ACDE-4915F2C2FE7F}"/>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57461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CI Is Done — This Is the CD Half</a:t>
            </a:r>
          </a:p>
        </p:txBody>
      </p:sp>
      <p:sp>
        <p:nvSpPr>
          <p:cNvPr id="3" name="Content Placeholder 2"/>
          <p:cNvSpPr>
            <a:spLocks noGrp="1"/>
          </p:cNvSpPr>
          <p:nvPr>
            <p:ph idx="1"/>
          </p:nvPr>
        </p:nvSpPr>
        <p:spPr/>
        <p:txBody>
          <a:bodyPr/>
          <a:lstStyle/>
          <a:p>
            <a:r>
              <a:t>TL1 wired up CI: every commit built &amp; tested automatically. That's theirs — not today.</a:t>
            </a:r>
          </a:p>
          <a:p>
            <a:r>
              <a:t>Today is CD (Continuous Delivery): turn a CI-passing build into something people can play.</a:t>
            </a:r>
          </a:p>
          <a:p>
            <a:r>
              <a:t>For us that means a SECOND platform: laptop AND phone.</a:t>
            </a:r>
          </a:p>
          <a:p>
            <a:r>
              <a:t>Leaves the Nest measured if it COULD run on a phone; today you put it there.</a:t>
            </a:r>
          </a:p>
        </p:txBody>
      </p:sp>
      <p:sp>
        <p:nvSpPr>
          <p:cNvPr id="4" name="TextBox 3">
            <a:extLst>
              <a:ext uri="{FF2B5EF4-FFF2-40B4-BE49-F238E27FC236}">
                <a16:creationId xmlns:a16="http://schemas.microsoft.com/office/drawing/2014/main" id="{DD642A14-3D89-E21C-C37E-3FE613AAF71D}"/>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1174827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Building for a Phone (APK)</a:t>
            </a:r>
          </a:p>
        </p:txBody>
      </p:sp>
      <p:sp>
        <p:nvSpPr>
          <p:cNvPr id="3" name="Content Placeholder 2"/>
          <p:cNvSpPr>
            <a:spLocks noGrp="1"/>
          </p:cNvSpPr>
          <p:nvPr>
            <p:ph idx="1"/>
          </p:nvPr>
        </p:nvSpPr>
        <p:spPr/>
        <p:txBody>
          <a:bodyPr>
            <a:normAutofit fontScale="92500"/>
          </a:bodyPr>
          <a:lstStyle/>
          <a:p>
            <a:r>
              <a:t>Unity builds Android as a single .apk file — one installable package.</a:t>
            </a:r>
          </a:p>
          <a:p>
            <a:r>
              <a:t>Build Profiles (older Unity: Build Settings) → Android → Switch Platform.</a:t>
            </a:r>
          </a:p>
          <a:p>
            <a:r>
              <a:t>Set Player Settings (company, product, version) → Build → the .apk IS your phone game.</a:t>
            </a:r>
          </a:p>
          <a:p>
            <a:r>
              <a:t>APK, not AAB: APK side-loads straight onto a phone (AAB is for the Play store — not us). Android 6+ runs it.</a:t>
            </a:r>
          </a:p>
        </p:txBody>
      </p:sp>
      <p:sp>
        <p:nvSpPr>
          <p:cNvPr id="4" name="TextBox 3">
            <a:extLst>
              <a:ext uri="{FF2B5EF4-FFF2-40B4-BE49-F238E27FC236}">
                <a16:creationId xmlns:a16="http://schemas.microsoft.com/office/drawing/2014/main" id="{354973AC-468D-883D-86D1-B244D668BF46}"/>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939836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a:t>
            </a:r>
            <a:br>
              <a:rPr lang="en-US"/>
            </a:br>
            <a:r>
              <a:t>Could It Survive a Phone?</a:t>
            </a:r>
          </a:p>
        </p:txBody>
      </p:sp>
      <p:sp>
        <p:nvSpPr>
          <p:cNvPr id="3" name="TextBox 2"/>
          <p:cNvSpPr txBox="1"/>
          <p:nvPr/>
        </p:nvSpPr>
        <p:spPr>
          <a:xfrm>
            <a:off x="548640" y="1554480"/>
            <a:ext cx="8229600" cy="2862322"/>
          </a:xfrm>
          <a:prstGeom prst="rect">
            <a:avLst/>
          </a:prstGeom>
          <a:noFill/>
        </p:spPr>
        <p:txBody>
          <a:bodyPr wrap="square">
            <a:spAutoFit/>
          </a:bodyPr>
          <a:lstStyle/>
          <a:p>
            <a:r>
              <a:rPr sz="2000">
                <a:solidFill>
                  <a:schemeClr val="bg1"/>
                </a:solidFill>
              </a:rPr>
              <a:t>On YOUR OWN machine. Open your TL3 stress scene + the Unity Profiler.</a:t>
            </a:r>
          </a:p>
          <a:p>
            <a:r>
              <a:rPr sz="2000">
                <a:solidFill>
                  <a:schemeClr val="bg1"/>
                </a:solidFill>
              </a:rPr>
              <a:t>The frame budget: 60 FPS = 16.7 </a:t>
            </a:r>
            <a:r>
              <a:rPr sz="2000" err="1">
                <a:solidFill>
                  <a:schemeClr val="bg1"/>
                </a:solidFill>
              </a:rPr>
              <a:t>ms</a:t>
            </a:r>
            <a:r>
              <a:rPr sz="2000">
                <a:solidFill>
                  <a:schemeClr val="bg1"/>
                </a:solidFill>
              </a:rPr>
              <a:t>/frame; 30 FPS = 33 </a:t>
            </a:r>
            <a:r>
              <a:rPr sz="2000" err="1">
                <a:solidFill>
                  <a:schemeClr val="bg1"/>
                </a:solidFill>
              </a:rPr>
              <a:t>ms</a:t>
            </a:r>
            <a:r>
              <a:rPr sz="2000">
                <a:solidFill>
                  <a:schemeClr val="bg1"/>
                </a:solidFill>
              </a:rPr>
              <a:t>/frame.</a:t>
            </a:r>
          </a:p>
          <a:p>
            <a:r>
              <a:rPr sz="2000">
                <a:solidFill>
                  <a:schemeClr val="bg1"/>
                </a:solidFill>
              </a:rPr>
              <a:t>   • A phone has far less headroom than your laptop — the SAME load costs more there.</a:t>
            </a:r>
          </a:p>
          <a:p>
            <a:r>
              <a:rPr sz="2000">
                <a:solidFill>
                  <a:schemeClr val="bg1"/>
                </a:solidFill>
              </a:rPr>
              <a:t>Measure your feature's per-frame cost: frame time, draw calls, GC allocations.</a:t>
            </a:r>
          </a:p>
          <a:p>
            <a:r>
              <a:rPr sz="2000">
                <a:solidFill>
                  <a:schemeClr val="bg1"/>
                </a:solidFill>
              </a:rPr>
              <a:t>Recall your FPS break: you cut your STARTING FPS in half (device-fair — phone gets its own baseline).</a:t>
            </a:r>
          </a:p>
          <a:p>
            <a:r>
              <a:rPr sz="2000">
                <a:solidFill>
                  <a:schemeClr val="bg1"/>
                </a:solidFill>
              </a:rPr>
              <a:t>Question to answer: how close is your feature to the phone's budget BEFORE the game is even finished?</a:t>
            </a:r>
          </a:p>
        </p:txBody>
      </p:sp>
      <p:sp>
        <p:nvSpPr>
          <p:cNvPr id="4" name="TextBox 3">
            <a:extLst>
              <a:ext uri="{FF2B5EF4-FFF2-40B4-BE49-F238E27FC236}">
                <a16:creationId xmlns:a16="http://schemas.microsoft.com/office/drawing/2014/main" id="{F6E953AF-0EA1-4486-9943-12FE527681D1}"/>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Rinab KC</a:t>
            </a:r>
            <a:endParaRPr lang="en-US">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Catch: Touch Controls</a:t>
            </a:r>
          </a:p>
        </p:txBody>
      </p:sp>
      <p:sp>
        <p:nvSpPr>
          <p:cNvPr id="3" name="Content Placeholder 2"/>
          <p:cNvSpPr>
            <a:spLocks noGrp="1"/>
          </p:cNvSpPr>
          <p:nvPr>
            <p:ph idx="1"/>
          </p:nvPr>
        </p:nvSpPr>
        <p:spPr/>
        <p:txBody>
          <a:bodyPr>
            <a:normAutofit lnSpcReduction="10000"/>
          </a:bodyPr>
          <a:lstStyle/>
          <a:p>
            <a:r>
              <a:t>Your laptop game uses the keyboard (WASD, space, arrows). A phone has no keyboard.</a:t>
            </a:r>
          </a:p>
          <a:p>
            <a:r>
              <a:t>A touchscreen needs on-screen controls: buttons, a joystick, or gestures — real extra work.</a:t>
            </a:r>
          </a:p>
          <a:p>
            <a:r>
              <a:t>No touch input = the APK installs and launches, but nobody can move.</a:t>
            </a:r>
          </a:p>
          <a:p>
            <a:r>
              <a:t>Plan for it early — it's the thing most likely to leave your game un-playable at the demo.</a:t>
            </a:r>
          </a:p>
        </p:txBody>
      </p:sp>
      <p:sp>
        <p:nvSpPr>
          <p:cNvPr id="4" name="TextBox 3">
            <a:extLst>
              <a:ext uri="{FF2B5EF4-FFF2-40B4-BE49-F238E27FC236}">
                <a16:creationId xmlns:a16="http://schemas.microsoft.com/office/drawing/2014/main" id="{7E399D8B-34BB-A7B1-4B0D-590A5EB2B4FC}"/>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160336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One Movement Path, Two Input Sources</a:t>
            </a:r>
          </a:p>
        </p:txBody>
      </p:sp>
      <p:sp>
        <p:nvSpPr>
          <p:cNvPr id="3" name="Content Placeholder 2"/>
          <p:cNvSpPr>
            <a:spLocks noGrp="1"/>
          </p:cNvSpPr>
          <p:nvPr>
            <p:ph idx="1"/>
          </p:nvPr>
        </p:nvSpPr>
        <p:spPr/>
        <p:txBody>
          <a:bodyPr>
            <a:normAutofit/>
          </a:bodyPr>
          <a:lstStyle/>
          <a:p>
            <a:pPr marL="0" indent="0">
              <a:buNone/>
            </a:pPr>
            <a:r>
              <a:rPr sz="1800">
                <a:latin typeface="Consolas"/>
              </a:rPr>
              <a:t>// The clean way: keyboard AND touch call the SAME method.</a:t>
            </a:r>
          </a:p>
          <a:p>
            <a:pPr marL="0" indent="0">
              <a:buNone/>
            </a:pPr>
            <a:r>
              <a:rPr sz="1800">
                <a:latin typeface="Consolas"/>
              </a:rPr>
              <a:t>// Don't write the game twice.</a:t>
            </a:r>
          </a:p>
          <a:p>
            <a:pPr marL="0" indent="0">
              <a:buNone/>
            </a:pPr>
            <a:endParaRPr sz="1800">
              <a:latin typeface="Consolas"/>
            </a:endParaRPr>
          </a:p>
          <a:p>
            <a:pPr marL="0" indent="0">
              <a:buNone/>
            </a:pPr>
            <a:r>
              <a:rPr sz="1800">
                <a:latin typeface="Consolas"/>
              </a:rPr>
              <a:t>public void </a:t>
            </a:r>
            <a:r>
              <a:rPr sz="1800" err="1">
                <a:latin typeface="Consolas"/>
              </a:rPr>
              <a:t>MoveLeft</a:t>
            </a:r>
            <a:r>
              <a:rPr sz="1800">
                <a:latin typeface="Consolas"/>
              </a:rPr>
              <a:t>(bool pressed) {</a:t>
            </a:r>
          </a:p>
          <a:p>
            <a:pPr marL="0" indent="0">
              <a:buNone/>
            </a:pPr>
            <a:r>
              <a:rPr sz="1800">
                <a:latin typeface="Consolas"/>
              </a:rPr>
              <a:t>    _</a:t>
            </a:r>
            <a:r>
              <a:rPr sz="1800" err="1">
                <a:latin typeface="Consolas"/>
              </a:rPr>
              <a:t>movingLeft</a:t>
            </a:r>
            <a:r>
              <a:rPr sz="1800">
                <a:latin typeface="Consolas"/>
              </a:rPr>
              <a:t> = pressed;      // one place, one truth</a:t>
            </a:r>
          </a:p>
          <a:p>
            <a:pPr marL="0" indent="0">
              <a:buNone/>
            </a:pPr>
            <a:r>
              <a:rPr sz="1800">
                <a:latin typeface="Consolas"/>
              </a:rPr>
              <a:t>}</a:t>
            </a:r>
          </a:p>
          <a:p>
            <a:pPr marL="0" indent="0">
              <a:buNone/>
            </a:pPr>
            <a:endParaRPr sz="1800">
              <a:latin typeface="Consolas"/>
            </a:endParaRPr>
          </a:p>
          <a:p>
            <a:pPr marL="0" indent="0">
              <a:buNone/>
            </a:pPr>
            <a:r>
              <a:rPr sz="1800">
                <a:latin typeface="Consolas"/>
              </a:rPr>
              <a:t>// UI Button:  </a:t>
            </a:r>
            <a:r>
              <a:rPr sz="1800" err="1">
                <a:latin typeface="Consolas"/>
              </a:rPr>
              <a:t>OnPointerDown</a:t>
            </a:r>
            <a:r>
              <a:rPr sz="1800">
                <a:latin typeface="Consolas"/>
              </a:rPr>
              <a:t> -&gt; </a:t>
            </a:r>
            <a:r>
              <a:rPr sz="1800" err="1">
                <a:latin typeface="Consolas"/>
              </a:rPr>
              <a:t>MoveLeft</a:t>
            </a:r>
            <a:r>
              <a:rPr sz="1800">
                <a:latin typeface="Consolas"/>
              </a:rPr>
              <a:t>(true)</a:t>
            </a:r>
          </a:p>
          <a:p>
            <a:pPr marL="0" indent="0">
              <a:buNone/>
            </a:pPr>
            <a:r>
              <a:rPr sz="1800">
                <a:latin typeface="Consolas"/>
              </a:rPr>
              <a:t>//             </a:t>
            </a:r>
            <a:r>
              <a:rPr sz="1800" err="1">
                <a:latin typeface="Consolas"/>
              </a:rPr>
              <a:t>OnPointerUp</a:t>
            </a:r>
            <a:r>
              <a:rPr sz="1800">
                <a:latin typeface="Consolas"/>
              </a:rPr>
              <a:t>   -&gt; </a:t>
            </a:r>
            <a:r>
              <a:rPr sz="1800" err="1">
                <a:latin typeface="Consolas"/>
              </a:rPr>
              <a:t>MoveLeft</a:t>
            </a:r>
            <a:r>
              <a:rPr sz="1800">
                <a:latin typeface="Consolas"/>
              </a:rPr>
              <a:t>(false)</a:t>
            </a:r>
          </a:p>
          <a:p>
            <a:pPr marL="0" indent="0">
              <a:buNone/>
            </a:pPr>
            <a:r>
              <a:rPr sz="1800">
                <a:latin typeface="Consolas"/>
              </a:rPr>
              <a:t>// Keyboard :  A down -&gt; </a:t>
            </a:r>
            <a:r>
              <a:rPr sz="1800" err="1">
                <a:latin typeface="Consolas"/>
              </a:rPr>
              <a:t>MoveLeft</a:t>
            </a:r>
            <a:r>
              <a:rPr sz="1800">
                <a:latin typeface="Consolas"/>
              </a:rPr>
              <a:t>(true),  up -&gt; </a:t>
            </a:r>
            <a:r>
              <a:rPr sz="1800" err="1">
                <a:latin typeface="Consolas"/>
              </a:rPr>
              <a:t>MoveLeft</a:t>
            </a:r>
            <a:r>
              <a:rPr sz="1800">
                <a:latin typeface="Consolas"/>
              </a:rPr>
              <a:t>(false)</a:t>
            </a:r>
          </a:p>
        </p:txBody>
      </p:sp>
      <p:sp>
        <p:nvSpPr>
          <p:cNvPr id="4" name="TextBox 3">
            <a:extLst>
              <a:ext uri="{FF2B5EF4-FFF2-40B4-BE49-F238E27FC236}">
                <a16:creationId xmlns:a16="http://schemas.microsoft.com/office/drawing/2014/main" id="{FAD26D42-9018-476A-E471-6DAE071734A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35521715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QR Code, the Poster &amp; the Arcade</a:t>
            </a:r>
          </a:p>
        </p:txBody>
      </p:sp>
      <p:sp>
        <p:nvSpPr>
          <p:cNvPr id="3" name="Content Placeholder 2"/>
          <p:cNvSpPr>
            <a:spLocks noGrp="1"/>
          </p:cNvSpPr>
          <p:nvPr>
            <p:ph idx="1"/>
          </p:nvPr>
        </p:nvSpPr>
        <p:spPr/>
        <p:txBody>
          <a:bodyPr/>
          <a:lstStyle/>
          <a:p>
            <a:r>
              <a:t>Host the .apk at a public link (TL6's behind-the-scenes job — how-to provided).</a:t>
            </a:r>
          </a:p>
          <a:p>
            <a:r>
              <a:t>Generate a QR code pointing at the download.</a:t>
            </a:r>
          </a:p>
          <a:p>
            <a:r>
              <a:t>Your final-demo POSTER carries: the controls + the QR code.</a:t>
            </a:r>
          </a:p>
          <a:p>
            <a:r>
              <a:t>Scan → install → play on your own phone. All teams present at the demo, ready or not.</a:t>
            </a:r>
          </a:p>
        </p:txBody>
      </p:sp>
      <p:sp>
        <p:nvSpPr>
          <p:cNvPr id="4" name="TextBox 3">
            <a:extLst>
              <a:ext uri="{FF2B5EF4-FFF2-40B4-BE49-F238E27FC236}">
                <a16:creationId xmlns:a16="http://schemas.microsoft.com/office/drawing/2014/main" id="{F8F43A61-A6B1-B2AA-E65B-F21D831E5A6E}"/>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814878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Arcade Demo Mode — the Idle Timer</a:t>
            </a:r>
          </a:p>
        </p:txBody>
      </p:sp>
      <p:sp>
        <p:nvSpPr>
          <p:cNvPr id="3" name="Content Placeholder 2"/>
          <p:cNvSpPr>
            <a:spLocks noGrp="1"/>
          </p:cNvSpPr>
          <p:nvPr>
            <p:ph idx="1"/>
          </p:nvPr>
        </p:nvSpPr>
        <p:spPr/>
        <p:txBody>
          <a:bodyPr>
            <a:noAutofit/>
          </a:bodyPr>
          <a:lstStyle/>
          <a:p>
            <a:pPr marL="0" indent="0">
              <a:buNone/>
            </a:pPr>
            <a:r>
              <a:rPr sz="2000">
                <a:latin typeface="Consolas"/>
              </a:rPr>
              <a:t>// A dead booth is an empty screen. Auto-play when idle.</a:t>
            </a:r>
          </a:p>
          <a:p>
            <a:pPr marL="0" indent="0">
              <a:buNone/>
            </a:pPr>
            <a:r>
              <a:rPr sz="2000">
                <a:latin typeface="Consolas"/>
              </a:rPr>
              <a:t>float _idle;</a:t>
            </a:r>
          </a:p>
          <a:p>
            <a:pPr marL="0" indent="0">
              <a:buNone/>
            </a:pPr>
            <a:r>
              <a:rPr sz="2000">
                <a:latin typeface="Consolas"/>
              </a:rPr>
              <a:t>public float </a:t>
            </a:r>
            <a:r>
              <a:rPr sz="2000" err="1">
                <a:latin typeface="Consolas"/>
              </a:rPr>
              <a:t>idleLimit</a:t>
            </a:r>
            <a:r>
              <a:rPr sz="2000">
                <a:latin typeface="Consolas"/>
              </a:rPr>
              <a:t> = 120f;    // 2 minutes</a:t>
            </a:r>
          </a:p>
          <a:p>
            <a:pPr marL="0" indent="0">
              <a:buNone/>
            </a:pPr>
            <a:endParaRPr sz="2000">
              <a:latin typeface="Consolas"/>
            </a:endParaRPr>
          </a:p>
          <a:p>
            <a:pPr marL="0" indent="0">
              <a:buNone/>
            </a:pPr>
            <a:r>
              <a:rPr sz="2000">
                <a:latin typeface="Consolas"/>
              </a:rPr>
              <a:t>void Update() {</a:t>
            </a:r>
          </a:p>
          <a:p>
            <a:pPr marL="0" indent="0">
              <a:buNone/>
            </a:pPr>
            <a:r>
              <a:rPr sz="2000">
                <a:latin typeface="Consolas"/>
              </a:rPr>
              <a:t>    if (</a:t>
            </a:r>
            <a:r>
              <a:rPr sz="2000" err="1">
                <a:latin typeface="Consolas"/>
              </a:rPr>
              <a:t>Input.anyKey</a:t>
            </a:r>
            <a:r>
              <a:rPr sz="2000">
                <a:latin typeface="Consolas"/>
              </a:rPr>
              <a:t> || </a:t>
            </a:r>
            <a:r>
              <a:rPr sz="2000" err="1">
                <a:latin typeface="Consolas"/>
              </a:rPr>
              <a:t>Input.touchCount</a:t>
            </a:r>
            <a:r>
              <a:rPr sz="2000">
                <a:latin typeface="Consolas"/>
              </a:rPr>
              <a:t> &gt; 0)</a:t>
            </a:r>
          </a:p>
          <a:p>
            <a:pPr marL="0" indent="0">
              <a:buNone/>
            </a:pPr>
            <a:r>
              <a:rPr sz="2000">
                <a:latin typeface="Consolas"/>
              </a:rPr>
              <a:t>        _idle = 0f;               // someone's playing</a:t>
            </a:r>
          </a:p>
          <a:p>
            <a:pPr marL="0" indent="0">
              <a:buNone/>
            </a:pPr>
            <a:r>
              <a:rPr sz="2000">
                <a:latin typeface="Consolas"/>
              </a:rPr>
              <a:t>    else</a:t>
            </a:r>
          </a:p>
          <a:p>
            <a:pPr marL="0" indent="0">
              <a:buNone/>
            </a:pPr>
            <a:r>
              <a:rPr sz="2000">
                <a:latin typeface="Consolas"/>
              </a:rPr>
              <a:t>        _idle += </a:t>
            </a:r>
            <a:r>
              <a:rPr sz="2000" err="1">
                <a:latin typeface="Consolas"/>
              </a:rPr>
              <a:t>Time.deltaTime</a:t>
            </a:r>
            <a:r>
              <a:rPr sz="2000">
                <a:latin typeface="Consolas"/>
              </a:rPr>
              <a:t>;</a:t>
            </a:r>
          </a:p>
          <a:p>
            <a:pPr marL="0" indent="0">
              <a:buNone/>
            </a:pPr>
            <a:r>
              <a:rPr sz="2000">
                <a:latin typeface="Consolas"/>
              </a:rPr>
              <a:t>    if (_idle &gt; </a:t>
            </a:r>
            <a:r>
              <a:rPr sz="2000" err="1">
                <a:latin typeface="Consolas"/>
              </a:rPr>
              <a:t>idleLimit</a:t>
            </a:r>
            <a:r>
              <a:rPr sz="2000">
                <a:latin typeface="Consolas"/>
              </a:rPr>
              <a:t>)</a:t>
            </a:r>
          </a:p>
          <a:p>
            <a:pPr marL="0" indent="0">
              <a:buNone/>
            </a:pPr>
            <a:r>
              <a:rPr sz="2000">
                <a:latin typeface="Consolas"/>
              </a:rPr>
              <a:t>        </a:t>
            </a:r>
            <a:r>
              <a:rPr sz="2000" err="1">
                <a:latin typeface="Consolas"/>
              </a:rPr>
              <a:t>PlayDemoReel</a:t>
            </a:r>
            <a:r>
              <a:rPr sz="2000">
                <a:latin typeface="Consolas"/>
              </a:rPr>
              <a:t>();         </a:t>
            </a:r>
            <a:r>
              <a:rPr lang="en-US" sz="2000">
                <a:latin typeface="Consolas"/>
              </a:rPr>
              <a:t>/</a:t>
            </a:r>
            <a:r>
              <a:rPr sz="2000">
                <a:latin typeface="Consolas"/>
              </a:rPr>
              <a:t>/ auto-play a recording</a:t>
            </a:r>
          </a:p>
          <a:p>
            <a:pPr marL="0" indent="0">
              <a:buNone/>
            </a:pPr>
            <a:r>
              <a:rPr sz="2000">
                <a:latin typeface="Consolas"/>
              </a:rPr>
              <a:t>}</a:t>
            </a:r>
          </a:p>
        </p:txBody>
      </p:sp>
      <p:sp>
        <p:nvSpPr>
          <p:cNvPr id="4" name="TextBox 3">
            <a:extLst>
              <a:ext uri="{FF2B5EF4-FFF2-40B4-BE49-F238E27FC236}">
                <a16:creationId xmlns:a16="http://schemas.microsoft.com/office/drawing/2014/main" id="{EB0D5C30-7A69-106A-D17D-71942A8C705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051320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Pair Programming</a:t>
            </a:r>
          </a:p>
        </p:txBody>
      </p:sp>
      <p:sp>
        <p:nvSpPr>
          <p:cNvPr id="3" name="Text Placeholder 2"/>
          <p:cNvSpPr>
            <a:spLocks noGrp="1"/>
          </p:cNvSpPr>
          <p:nvPr>
            <p:ph type="body" idx="1"/>
          </p:nvPr>
        </p:nvSpPr>
        <p:spPr/>
        <p:txBody>
          <a:bodyPr/>
          <a:lstStyle/>
          <a:p>
            <a:r>
              <a:t>Close the last gaps together — and meet how industry actually builds.</a:t>
            </a:r>
          </a:p>
        </p:txBody>
      </p:sp>
      <p:sp>
        <p:nvSpPr>
          <p:cNvPr id="4" name="TextBox 3">
            <a:extLst>
              <a:ext uri="{FF2B5EF4-FFF2-40B4-BE49-F238E27FC236}">
                <a16:creationId xmlns:a16="http://schemas.microsoft.com/office/drawing/2014/main" id="{742D9564-D84F-B8B0-55CE-336349FF8214}"/>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5440978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This Week: Two Deadlines</a:t>
            </a:r>
          </a:p>
        </p:txBody>
      </p:sp>
      <p:sp>
        <p:nvSpPr>
          <p:cNvPr id="3" name="Content Placeholder 2"/>
          <p:cNvSpPr>
            <a:spLocks noGrp="1"/>
          </p:cNvSpPr>
          <p:nvPr>
            <p:ph idx="1"/>
          </p:nvPr>
        </p:nvSpPr>
        <p:spPr/>
        <p:txBody>
          <a:bodyPr/>
          <a:lstStyle/>
          <a:p>
            <a:r>
              <a:t>TODAY (Tue) — this lecture: how pairing works + your deliverable.</a:t>
            </a:r>
          </a:p>
          <a:p>
            <a:r>
              <a:t>BEFORE THU — tell your TL6 any unfinished code (pair-programming possibilities).</a:t>
            </a:r>
          </a:p>
          <a:p>
            <a:r>
              <a:t>THU (status update) — code FREEZES (no changes until after orals) + pairs assigned.</a:t>
            </a:r>
          </a:p>
          <a:p>
            <a:r>
              <a:t>Don't wait: get your unfinished pieces to your TL6 before Thursday.</a:t>
            </a:r>
          </a:p>
        </p:txBody>
      </p:sp>
      <p:sp>
        <p:nvSpPr>
          <p:cNvPr id="4" name="TextBox 3">
            <a:extLst>
              <a:ext uri="{FF2B5EF4-FFF2-40B4-BE49-F238E27FC236}">
                <a16:creationId xmlns:a16="http://schemas.microsoft.com/office/drawing/2014/main" id="{208A24A2-CFB1-65DA-CFEA-3AC332773FAB}"/>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569236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Why Agile, Why Pairing — the Short Version</a:t>
            </a:r>
          </a:p>
        </p:txBody>
      </p:sp>
      <p:sp>
        <p:nvSpPr>
          <p:cNvPr id="3" name="Content Placeholder 2"/>
          <p:cNvSpPr>
            <a:spLocks noGrp="1"/>
          </p:cNvSpPr>
          <p:nvPr>
            <p:ph idx="1"/>
          </p:nvPr>
        </p:nvSpPr>
        <p:spPr/>
        <p:txBody>
          <a:bodyPr>
            <a:normAutofit fontScale="85000" lnSpcReduction="10000"/>
          </a:bodyPr>
          <a:lstStyle/>
          <a:p>
            <a:r>
              <a:t>Waterfall all term (clear ABET artifacts); industry runs Agile — pairing is core Agile (from XP), and ABET too.</a:t>
            </a:r>
          </a:p>
          <a:p>
            <a:r>
              <a:t>What it is: two programmers, one computer, rotating partners — collective ownership (fix bugs, don't blame).</a:t>
            </a:r>
          </a:p>
          <a:p>
            <a:r>
              <a:t>Why it works: every line reviewed as written · encourages refactoring · spreads knowledge (no single point of failure).</a:t>
            </a:r>
          </a:p>
          <a:p>
            <a:r>
              <a:t>“Half as fast?” Mixed evidence — but fewer false starts, bugs caught early, knowledge-sharing worth it. Not the waste it looks like.</a:t>
            </a:r>
          </a:p>
        </p:txBody>
      </p:sp>
      <p:sp>
        <p:nvSpPr>
          <p:cNvPr id="4" name="TextBox 3">
            <a:extLst>
              <a:ext uri="{FF2B5EF4-FFF2-40B4-BE49-F238E27FC236}">
                <a16:creationId xmlns:a16="http://schemas.microsoft.com/office/drawing/2014/main" id="{A743312A-05C9-C1CF-3418-E112FC588D0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1497992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Driver &amp; Navigator</a:t>
            </a:r>
          </a:p>
        </p:txBody>
      </p:sp>
      <p:sp>
        <p:nvSpPr>
          <p:cNvPr id="3" name="Content Placeholder 2"/>
          <p:cNvSpPr>
            <a:spLocks noGrp="1"/>
          </p:cNvSpPr>
          <p:nvPr>
            <p:ph idx="1"/>
          </p:nvPr>
        </p:nvSpPr>
        <p:spPr/>
        <p:txBody>
          <a:bodyPr/>
          <a:lstStyle/>
          <a:p>
            <a:r>
              <a:t>DRIVER — has the keyboard, writes the code, focused on the line in front of them.</a:t>
            </a:r>
          </a:p>
          <a:p>
            <a:r>
              <a:t>NAVIGATOR — reviews each line as it's typed, thinks a step ahead, holds the big picture.</a:t>
            </a:r>
          </a:p>
          <a:p>
            <a:r>
              <a:t>Switch roles OFTEN — every 20–30 min or each small task.</a:t>
            </a:r>
          </a:p>
          <a:p>
            <a:r>
              <a:t>Same driver all day = an audience, not a pair.</a:t>
            </a:r>
          </a:p>
        </p:txBody>
      </p:sp>
      <p:sp>
        <p:nvSpPr>
          <p:cNvPr id="4" name="TextBox 3">
            <a:extLst>
              <a:ext uri="{FF2B5EF4-FFF2-40B4-BE49-F238E27FC236}">
                <a16:creationId xmlns:a16="http://schemas.microsoft.com/office/drawing/2014/main" id="{CEE3A7C1-4F1E-ABC7-C726-51E479174A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096648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Pairs Quietly Fail</a:t>
            </a:r>
          </a:p>
        </p:txBody>
      </p:sp>
      <p:sp>
        <p:nvSpPr>
          <p:cNvPr id="3" name="Content Placeholder 2"/>
          <p:cNvSpPr>
            <a:spLocks noGrp="1"/>
          </p:cNvSpPr>
          <p:nvPr>
            <p:ph idx="1"/>
          </p:nvPr>
        </p:nvSpPr>
        <p:spPr/>
        <p:txBody>
          <a:bodyPr>
            <a:normAutofit lnSpcReduction="10000"/>
          </a:bodyPr>
          <a:lstStyle/>
          <a:p>
            <a:r>
              <a:t>Disengagement — one person drifts, checks out.</a:t>
            </a:r>
          </a:p>
          <a:p>
            <a:r>
              <a:t>“Watch the master” — the junior defers to the expert and stops contributing.</a:t>
            </a:r>
          </a:p>
          <a:p>
            <a:r>
              <a:t>Silence — if the pair goes quiet, collaboration has stopped (talking IS the work).</a:t>
            </a:r>
          </a:p>
          <a:p>
            <a:r>
              <a:t>Fix for all three: put the LESS experienced person in the driver's seat more often — it forces conversation.</a:t>
            </a:r>
          </a:p>
        </p:txBody>
      </p:sp>
      <p:sp>
        <p:nvSpPr>
          <p:cNvPr id="4" name="TextBox 3">
            <a:extLst>
              <a:ext uri="{FF2B5EF4-FFF2-40B4-BE49-F238E27FC236}">
                <a16:creationId xmlns:a16="http://schemas.microsoft.com/office/drawing/2014/main" id="{BB891BE3-B02B-BECC-AFBE-F7ED16AA1CD7}"/>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889328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Your Pair-Programming Deliverable</a:t>
            </a:r>
          </a:p>
        </p:txBody>
      </p:sp>
      <p:sp>
        <p:nvSpPr>
          <p:cNvPr id="3" name="Content Placeholder 2"/>
          <p:cNvSpPr>
            <a:spLocks noGrp="1"/>
          </p:cNvSpPr>
          <p:nvPr>
            <p:ph idx="1"/>
          </p:nvPr>
        </p:nvSpPr>
        <p:spPr/>
        <p:txBody>
          <a:bodyPr>
            <a:normAutofit fontScale="92500" lnSpcReduction="20000"/>
          </a:bodyPr>
          <a:lstStyle/>
          <a:p>
            <a:r>
              <a:t>Pick an unfinished aspect in SOMEONE ELSE'S code (not your own).</a:t>
            </a:r>
          </a:p>
          <a:p>
            <a:r>
              <a:t>Best pairing: one person from that code's team (not the owner) + one outsider who's done similar work.</a:t>
            </a:r>
          </a:p>
          <a:p>
            <a:r>
              <a:t>~3 hours of real pair work → run the auto-tester afterward to confirm nothing broke.</a:t>
            </a:r>
          </a:p>
          <a:p>
            <a:r>
              <a:t>Do NOT change anyone else's code before the oral exams.</a:t>
            </a:r>
          </a:p>
          <a:p>
            <a:r>
              <a:t>One of you writes it up and submits to Canvas (see next slide — it's not an essay).</a:t>
            </a:r>
          </a:p>
        </p:txBody>
      </p:sp>
      <p:sp>
        <p:nvSpPr>
          <p:cNvPr id="4" name="TextBox 3">
            <a:extLst>
              <a:ext uri="{FF2B5EF4-FFF2-40B4-BE49-F238E27FC236}">
                <a16:creationId xmlns:a16="http://schemas.microsoft.com/office/drawing/2014/main" id="{37CC22AF-7E4D-CDCA-9663-88A99AEA231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509889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Write-Up Is a Locator Note</a:t>
            </a:r>
          </a:p>
        </p:txBody>
      </p:sp>
      <p:sp>
        <p:nvSpPr>
          <p:cNvPr id="3" name="Content Placeholder 2"/>
          <p:cNvSpPr>
            <a:spLocks noGrp="1"/>
          </p:cNvSpPr>
          <p:nvPr>
            <p:ph idx="1"/>
          </p:nvPr>
        </p:nvSpPr>
        <p:spPr/>
        <p:txBody>
          <a:bodyPr>
            <a:normAutofit fontScale="92500" lnSpcReduction="20000"/>
          </a:bodyPr>
          <a:lstStyle/>
          <a:p>
            <a:r>
              <a:t>Max 300 words — but 20–50 is plenty. It is NOT an essay.</a:t>
            </a:r>
          </a:p>
          <a:p>
            <a:r>
              <a:t>Just: who was in the pair, what you changed, and WHERE to find it.</a:t>
            </a:r>
          </a:p>
          <a:p>
            <a:r>
              <a:t>At the demo, Dr. BC walks game to game with a printout, finding each pair's update to mark it.</a:t>
            </a:r>
          </a:p>
          <a:p>
            <a:r>
              <a:t>At least one person per pair stays by the updated game until it's marked.</a:t>
            </a:r>
          </a:p>
          <a:p>
            <a:r>
              <a:t>The note exists so your update is found and marked fast — short and specific wins.</a:t>
            </a:r>
          </a:p>
        </p:txBody>
      </p:sp>
      <p:sp>
        <p:nvSpPr>
          <p:cNvPr id="4" name="TextBox 3">
            <a:extLst>
              <a:ext uri="{FF2B5EF4-FFF2-40B4-BE49-F238E27FC236}">
                <a16:creationId xmlns:a16="http://schemas.microsoft.com/office/drawing/2014/main" id="{061576E7-80AE-98CA-DD42-038F38F9C3DC}"/>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35934862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Pairs Get Decided</a:t>
            </a:r>
          </a:p>
        </p:txBody>
      </p:sp>
      <p:sp>
        <p:nvSpPr>
          <p:cNvPr id="3" name="Content Placeholder 2"/>
          <p:cNvSpPr>
            <a:spLocks noGrp="1"/>
          </p:cNvSpPr>
          <p:nvPr>
            <p:ph idx="1"/>
          </p:nvPr>
        </p:nvSpPr>
        <p:spPr/>
        <p:txBody>
          <a:bodyPr/>
          <a:lstStyle/>
          <a:p>
            <a:r>
              <a:t>Your TL6 recommends the logical pairings for the team.</a:t>
            </a:r>
          </a:p>
          <a:p>
            <a:r>
              <a:t>TL6 brings them to Thursday's status update; Dr. BC assigns the official pairs there.</a:t>
            </a:r>
          </a:p>
          <a:p>
            <a:r>
              <a:t>Once pairs are set, the code FREEZES.</a:t>
            </a:r>
          </a:p>
          <a:p>
            <a:r>
              <a:t>Before Thursday: know what's unfinished and who'd fit — get it to your TL6.</a:t>
            </a:r>
          </a:p>
        </p:txBody>
      </p:sp>
      <p:sp>
        <p:nvSpPr>
          <p:cNvPr id="4" name="TextBox 3">
            <a:extLst>
              <a:ext uri="{FF2B5EF4-FFF2-40B4-BE49-F238E27FC236}">
                <a16:creationId xmlns:a16="http://schemas.microsoft.com/office/drawing/2014/main" id="{0B3C1CB5-CD54-2046-5E3E-515630CEEFCD}"/>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3090464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C — Prep for Your Oral Exam</a:t>
            </a:r>
          </a:p>
        </p:txBody>
      </p:sp>
      <p:sp>
        <p:nvSpPr>
          <p:cNvPr id="3" name="Text Placeholder 2"/>
          <p:cNvSpPr>
            <a:spLocks noGrp="1"/>
          </p:cNvSpPr>
          <p:nvPr>
            <p:ph type="body" idx="1"/>
          </p:nvPr>
        </p:nvSpPr>
        <p:spPr/>
        <p:txBody>
          <a:bodyPr/>
          <a:lstStyle/>
          <a:p>
            <a:r>
              <a:t>Individual. You defend YOUR contribution, live — code frozen since Thursday.</a:t>
            </a:r>
          </a:p>
        </p:txBody>
      </p:sp>
      <p:sp>
        <p:nvSpPr>
          <p:cNvPr id="4" name="TextBox 3">
            <a:extLst>
              <a:ext uri="{FF2B5EF4-FFF2-40B4-BE49-F238E27FC236}">
                <a16:creationId xmlns:a16="http://schemas.microsoft.com/office/drawing/2014/main" id="{B9BE05FC-2637-92EC-7BDF-688B1C321A47}"/>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39628068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Prep for Your Oral Exam</a:t>
            </a:r>
          </a:p>
        </p:txBody>
      </p:sp>
      <p:sp>
        <p:nvSpPr>
          <p:cNvPr id="3" name="Content Placeholder 2"/>
          <p:cNvSpPr>
            <a:spLocks noGrp="1"/>
          </p:cNvSpPr>
          <p:nvPr>
            <p:ph idx="1"/>
          </p:nvPr>
        </p:nvSpPr>
        <p:spPr/>
        <p:txBody>
          <a:bodyPr>
            <a:normAutofit fontScale="85000" lnSpcReduction="10000"/>
          </a:bodyPr>
          <a:lstStyle/>
          <a:p>
            <a:r>
              <a:t>It's INDIVIDUAL — you defend YOUR contribution, live.</a:t>
            </a:r>
          </a:p>
          <a:p>
            <a:r>
              <a:t>Run your game; point to where your code executes; walk your methods from the entry point (show, don't describe).</a:t>
            </a:r>
          </a:p>
          <a:p>
            <a:r>
              <a:t>Know your commit history — open your repo beforehand; show what you built and when.</a:t>
            </a:r>
          </a:p>
          <a:p>
            <a:r>
              <a:t>Bring your Gantt / estimates — compare estimated vs actual, reflect honestly (your TL4 tracking comes home).</a:t>
            </a:r>
          </a:p>
          <a:p>
            <a:r>
              <a:t>Code frozen since Thursday — no last-minute edits. Defend what's in the repo.</a:t>
            </a:r>
          </a:p>
        </p:txBody>
      </p:sp>
      <p:sp>
        <p:nvSpPr>
          <p:cNvPr id="4" name="TextBox 3">
            <a:extLst>
              <a:ext uri="{FF2B5EF4-FFF2-40B4-BE49-F238E27FC236}">
                <a16:creationId xmlns:a16="http://schemas.microsoft.com/office/drawing/2014/main" id="{79D18367-20E3-B761-5E89-B8363F9C472E}"/>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40011512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Let's Play Some Games</a:t>
            </a:r>
          </a:p>
        </p:txBody>
      </p:sp>
      <p:sp>
        <p:nvSpPr>
          <p:cNvPr id="3" name="Content Placeholder 2"/>
          <p:cNvSpPr>
            <a:spLocks noGrp="1"/>
          </p:cNvSpPr>
          <p:nvPr>
            <p:ph idx="1"/>
          </p:nvPr>
        </p:nvSpPr>
        <p:spPr/>
        <p:txBody>
          <a:bodyPr>
            <a:normAutofit lnSpcReduction="10000"/>
          </a:bodyPr>
          <a:lstStyle/>
          <a:p>
            <a:r>
              <a:t>Every game that's ready: put your QR code up — we scan and play right now.</a:t>
            </a:r>
          </a:p>
          <a:p>
            <a:r>
              <a:t>This is the arcade moment — the point of the second-platform build.</a:t>
            </a:r>
          </a:p>
          <a:p>
            <a:r>
              <a:t>Not ready? That's your signal: touch controls + the build pipeline stand between you and demo day.</a:t>
            </a:r>
          </a:p>
          <a:p>
            <a:r>
              <a:t>Ship it, pair up, prep to defend — and let's play some games.</a:t>
            </a:r>
          </a:p>
        </p:txBody>
      </p:sp>
      <p:sp>
        <p:nvSpPr>
          <p:cNvPr id="4" name="TextBox 3">
            <a:extLst>
              <a:ext uri="{FF2B5EF4-FFF2-40B4-BE49-F238E27FC236}">
                <a16:creationId xmlns:a16="http://schemas.microsoft.com/office/drawing/2014/main" id="{DD99956A-2016-281A-C784-F4CB2CA41E7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extLst>
      <p:ext uri="{BB962C8B-B14F-4D97-AF65-F5344CB8AC3E}">
        <p14:creationId xmlns:p14="http://schemas.microsoft.com/office/powerpoint/2010/main" val="2266609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10405</Words>
  <Application>Microsoft Office PowerPoint</Application>
  <PresentationFormat>On-screen Show (4:3)</PresentationFormat>
  <Paragraphs>604</Paragraphs>
  <Slides>50</Slides>
  <Notes>41</Notes>
  <HiddenSlides>2</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Consolas</vt:lpstr>
      <vt:lpstr>Office Theme</vt:lpstr>
      <vt:lpstr>DECK MAP — HIDDEN (do not present)</vt:lpstr>
      <vt:lpstr>Your Code Leaves the Nest</vt:lpstr>
      <vt:lpstr>Meet Your TL6 Team</vt:lpstr>
      <vt:lpstr>Today — Get Ready to Leave the Nest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Building for a Phone (WEB)</vt:lpstr>
      <vt:lpstr>The Catch: Touch Controls</vt:lpstr>
      <vt:lpstr>One Movement Path, Two Input Sources</vt:lpstr>
      <vt:lpstr>Arcade Demo Mode — the Idle Timer</vt:lpstr>
      <vt:lpstr>Web Build Tutorial</vt:lpstr>
      <vt:lpstr>Web Build Tutorial</vt:lpstr>
      <vt:lpstr>Algernon Poster</vt:lpstr>
      <vt:lpstr>CONCLUSION</vt:lpstr>
      <vt:lpstr>Lecture 2</vt:lpstr>
      <vt:lpstr>Now — In Your Teams (TL6s take over)</vt:lpstr>
      <vt:lpstr>Watch: How a Build Gets onto a Phone</vt:lpstr>
      <vt:lpstr>Follow Along — One Breaking Point off a Real Phone</vt:lpstr>
      <vt:lpstr>Back Together — Now Harden It for the Demo</vt:lpstr>
      <vt:lpstr>Follow Along — Make Your Feature Demo-Safe</vt:lpstr>
      <vt:lpstr>DECK MAP — HIDDEN (do not present)</vt:lpstr>
      <vt:lpstr>From Lecture 1</vt:lpstr>
      <vt:lpstr>Ship It &amp; Wrap Up</vt:lpstr>
      <vt:lpstr>Your TL6 Team — the Home Stretch</vt:lpstr>
      <vt:lpstr>Today — Ship It, Then Wrap It</vt:lpstr>
      <vt:lpstr>Part A — Ship It to a Phone</vt:lpstr>
      <vt:lpstr>CI Is Done — This Is the CD Half</vt:lpstr>
      <vt:lpstr>Building for a Phone (APK)</vt:lpstr>
      <vt:lpstr>Follow Along  Could It Survive a Phone?</vt:lpstr>
      <vt:lpstr>The Catch: Touch Controls</vt:lpstr>
      <vt:lpstr>One Movement Path, Two Input Sources</vt:lpstr>
      <vt:lpstr>The QR Code, the Poster &amp; the Arcade</vt:lpstr>
      <vt:lpstr>Arcade Demo Mode — the Idle Timer</vt:lpstr>
      <vt:lpstr>Part B — Pair Programming</vt:lpstr>
      <vt:lpstr>This Week: Two Deadlines</vt:lpstr>
      <vt:lpstr>Why Agile, Why Pairing — the Short Version</vt:lpstr>
      <vt:lpstr>Driver &amp; Navigator</vt:lpstr>
      <vt:lpstr>How Pairs Quietly Fail</vt:lpstr>
      <vt:lpstr>Your Pair-Programming Deliverable</vt:lpstr>
      <vt:lpstr>The Write-Up Is a Locator Note</vt:lpstr>
      <vt:lpstr>How Pairs Get Decided</vt:lpstr>
      <vt:lpstr>Part C — Prep for Your Oral Exam</vt:lpstr>
      <vt:lpstr>Prep for Your Oral Exam</vt:lpstr>
      <vt:lpstr>Let's Play Some Games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Matteo Coppola</cp:lastModifiedBy>
  <cp:revision>3</cp:revision>
  <dcterms:created xsi:type="dcterms:W3CDTF">2013-01-27T09:14:16Z</dcterms:created>
  <dcterms:modified xsi:type="dcterms:W3CDTF">2026-10-21T02:48:52Z</dcterms:modified>
  <cp:category/>
</cp:coreProperties>
</file>