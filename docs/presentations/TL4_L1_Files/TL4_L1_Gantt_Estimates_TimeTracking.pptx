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 name="Google Shape;6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[SPOKEN]</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"Welcome to TL4's first lecture. Our role is project management - the plan, and the truth about the plan. You just came from TL5, where the AI gave you fine-grained time estimates for your feature's coding work. Today we put those estimates somewhere they'll actually be used: your team's tracking workbook. And we set up the habit that runs all semester - logging your real hours against those estimates.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Here's the honest framing for why this matters, and I'll come back to it: in this class, tracked work is work that counts. Untracked work is invisible - and invisible work can't help your contribution score at the oral exam. So today is about making your work visible."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[Then intros. Note the TL5 handoff - students should have estimates in hand.]</a:t>
            </a:r>
            <a:endParaRPr/>
          </a:p>
        </p:txBody>
      </p:sp>
      <p:sp>
        <p:nvSpPr>
          <p:cNvPr id="61" name="Google Shape;6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[SPOKEN — TL4 cohort up front; names.]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"Quick introductions - you'll want to know who to grab while we set up the workbook.</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[Each TL4 says name + team.]</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"While one of us presents, the rest circulate to help - today's hands-on part is getting your team's tracking workbook set up and your estimates entered, and spreadsheets always have a fiddly moment. Grab us; helping you earns us support credit. And a note on our role for the rest of the term: we're your team's project-management point of contact. We'll do periodic sanity checks on the tracking and nudge anyone who's fallen behind - not to nag, but because at the end, one of us stands up and answers for the whole team's state. So help us help you: keep your own rows current."]</a:t>
            </a:r>
            <a:endParaRPr/>
          </a:p>
        </p:txBody>
      </p:sp>
      <p:sp>
        <p:nvSpPr>
          <p:cNvPr id="68" name="Google Shape;68;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Getty - </a:t>
            </a:r>
            <a:r>
              <a:rPr lang="en-US" sz="1200">
                <a:solidFill>
                  <a:schemeClr val="dk1"/>
                </a:solidFill>
                <a:latin typeface="Arial"/>
                <a:ea typeface="Arial"/>
                <a:cs typeface="Arial"/>
                <a:sym typeface="Arial"/>
              </a:rPr>
              <a:t>[SPOKEN]</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"Here's the hour. First, the workbook - your team's tracking spreadsheet, what's in it and where it lives. Then the hands-on core: you enter the estimates you just made in TL5, and you learn how logging your actual hours against them works. Then a bit on how tracking connects to your grade - because it does. And finally, how we keep it honest over the semester with light sanity checks.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 theme, and I'll keep saying it: tracked work counts, untracked work is invisible. Today we make your work visible and set up the habit that keeps it that way."]</a:t>
            </a:r>
            <a:endParaRPr/>
          </a:p>
        </p:txBody>
      </p:sp>
      <p:sp>
        <p:nvSpPr>
          <p:cNvPr id="76" name="Google Shape;7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 name="Google Shape;8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Getty - </a:t>
            </a:r>
            <a:r>
              <a:rPr lang="en-US" sz="1200">
                <a:solidFill>
                  <a:schemeClr val="dk1"/>
                </a:solidFill>
                <a:latin typeface="Arial"/>
                <a:ea typeface="Arial"/>
                <a:cs typeface="Arial"/>
                <a:sym typeface="Arial"/>
              </a:rPr>
              <a:t>[SPOKEN — orient them to the workbook and its tabs. Name the real tabs.]</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"This is the workbook your team tracks everything in. Five tabs. The Gantt tab is the heart - your coding tasks, each with a predicted-hours column and a spent-hours column, plus a week-by-week view of what's done, in progress, or planned. The SA tab is for your systems-analysis work - your Champion, the RFP, your SA schedule - same predicted-versus-spent idea. Meetings tracks who attended team meetings and for how long. Overhead is for professional time that isn't coding or SA - lecture prep, oral-exam prep, and - note this - Training, which means the hours you spend in these TL lectures, plus any LEC support you give. And Management Summary rolls all of it up automatically per person - you never edit that one by hand.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One critical rule: this workbook does NOT go in Git. A shared spreadsheet in Git is a merge-conflict nightmare. Instead, host it on OneDrive - one copy the whole team edits live - and put the LINK in your Git docs folder. The file lives on OneDrive; only the link lives in Git."]</a:t>
            </a:r>
            <a:endParaRPr/>
          </a:p>
        </p:txBody>
      </p:sp>
      <p:sp>
        <p:nvSpPr>
          <p:cNvPr id="84" name="Google Shape;8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Getty - </a:t>
            </a:r>
            <a:r>
              <a:rPr lang="en-US" sz="1200">
                <a:solidFill>
                  <a:schemeClr val="dk1"/>
                </a:solidFill>
                <a:latin typeface="Arial"/>
                <a:ea typeface="Arial"/>
                <a:cs typeface="Arial"/>
                <a:sym typeface="Arial"/>
              </a:rPr>
              <a:t>[SPOKEN — braid divider marking the seam with TL5.]</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"Quick orientation. You just finished TL5, where you drove the AI to break your feature's coding into fine-grained work items, each with an hour estimate - things like 'serialization method, 3 hours; load method, 2 hours.' You should have that list in hand right now. That list is the raw material for today: we're going to put those numbers into your team's Gantt as your PREDICTED hours, and then all semester you'll log your ACTUAL hours next to them. If you don't have your estimates, flag a TL4 now - you'll need them in a few minutes."]</a:t>
            </a:r>
            <a:endParaRPr/>
          </a:p>
        </p:txBody>
      </p:sp>
      <p:sp>
        <p:nvSpPr>
          <p:cNvPr id="92" name="Google Shape;9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Xavier - </a:t>
            </a:r>
            <a:r>
              <a:rPr lang="en-US" sz="1200">
                <a:solidFill>
                  <a:schemeClr val="dk1"/>
                </a:solidFill>
                <a:latin typeface="Arial"/>
                <a:ea typeface="Arial"/>
                <a:cs typeface="Arial"/>
                <a:sym typeface="Arial"/>
              </a:rPr>
              <a:t>[FOLLOW-ALONG — the tooling core. TL4 sets up the shared workbook; each student enters THEIR OWN estimates. TL4s circulate (LEC via helping their own team; cross-team OK during this lecture).]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YOU MUST ACCOMPLISH:</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The team's workbook is on OneDrive (one shared copy), and its LINK is in the Git docs folder (the file is NOT in Git).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Each student has entered their own TL5 coding items as rows in the Gantt tab, with the AI estimate in the PREDICTED-hours column and SPENT left blank.</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Estimates are fine-grained (many small tasks), matching what TL5 produced.</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The Management Summary tab shows each person's predicted total rolling up automatically (a quick proof the workbook is wired right).</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Everyone edits ONLY their own rows. TL4 sets up the file; TL4 does NOT enter anyone else's data.</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IF YOU DON'T ALREADY KNOW HOW:</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OneDrive share: upload the .xlsx, Share -&gt; anyone in the team can edit, copy the link. Search "OneDrive share editable link".</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Link in Git: add the URL to docs/gantt-link.md (or similar) and commit that - the LINK, not the file.</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If the Management Summary doesn't roll up: the person's rows may be outside the summed range, or on the wrong tab - a TL4 can help.</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TL4s: getting seven people into one live OneDrive sheet without clobbering each other is the fiddly bit - this is your help/LEC moment.</a:t>
            </a:r>
            <a:endParaRPr/>
          </a:p>
        </p:txBody>
      </p:sp>
      <p:sp>
        <p:nvSpPr>
          <p:cNvPr id="100" name="Google Shape;100;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Xavier - </a:t>
            </a:r>
            <a:r>
              <a:rPr lang="en-US" sz="1200">
                <a:solidFill>
                  <a:schemeClr val="dk1"/>
                </a:solidFill>
                <a:latin typeface="Arial"/>
                <a:ea typeface="Arial"/>
                <a:cs typeface="Arial"/>
                <a:sym typeface="Arial"/>
              </a:rPr>
              <a:t>[FOLLOW-ALONG — establish the logging habit. Everyone logs one real entry in each relevant place so they've done it once.]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YOU MUST ACCOMPLISH:</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Each student logs at least one real SPENT-hours entry on a Gantt task they've actually started (predicted stays; spent is the truth).</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Each student can articulate: predicted is the estimate (from TL5/AI); spent is what it actually took; keeping BOTH is what makes tracking meaningful.</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Each student logs THIS lecture as Training hours in the Overhead tab (the business metaphor: job-related training your company sent you to).</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Each student marks their attendance for a real meeting in the Meetings tab.</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Everyone understands training/learning time counts: if a 1-hour task took 4 hours because you had to learn something, spent = the full time. That overrun is honest and expected.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IF YOU DON'T ALREADY KNOW HOW:</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It's just typing a number in the SPENT column next to your task. The trick is DOING it consistently - the habit, not the mechanic.</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Overhead/Training: add your hours in the Training row for yourself.</a:t>
            </a:r>
            <a:endParaRPr/>
          </a:p>
          <a:p>
            <a:pPr indent="0" lvl="0" marL="0" marR="0" rtl="0" algn="l">
              <a:spcBef>
                <a:spcPts val="0"/>
              </a:spcBef>
              <a:spcAft>
                <a:spcPts val="0"/>
              </a:spcAft>
              <a:buNone/>
            </a:pPr>
            <a:r>
              <a:rPr lang="en-US" sz="1200">
                <a:solidFill>
                  <a:schemeClr val="dk1"/>
                </a:solidFill>
                <a:latin typeface="Arial"/>
                <a:ea typeface="Arial"/>
                <a:cs typeface="Arial"/>
                <a:sym typeface="Arial"/>
              </a:rPr>
              <a:t>- TL4s: the thing to reinforce here isn't the spreadsheet - it's the HABIT. Help people see that logging takes 30 seconds and protects their contribution score.</a:t>
            </a:r>
            <a:endParaRPr/>
          </a:p>
        </p:txBody>
      </p:sp>
      <p:sp>
        <p:nvSpPr>
          <p:cNvPr id="108" name="Google Shape;10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Tyler - </a:t>
            </a:r>
            <a:r>
              <a:rPr lang="en-US" sz="1200">
                <a:solidFill>
                  <a:schemeClr val="dk1"/>
                </a:solidFill>
                <a:latin typeface="Arial"/>
                <a:ea typeface="Arial"/>
                <a:cs typeface="Arial"/>
                <a:sym typeface="Arial"/>
              </a:rPr>
              <a:t>[SPOKEN — the incentive framing. State it starkly, but be precise: not real money; it IMPACTS (not determines) contribution.]</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"Here's the framing that makes tracking worth your thirty seconds. Pretend your loaded labor rate is a hundred dollars an hour - that's roughly what a junior engineer actually costs a company, salary plus overhead. Now: in a real job, if you do the work but don't log it, the company can't bill it, and you effectively worked for free.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Same here. This isn't real money - to be clear, nobody's paying you. But it works the same way against your grade. Your oral exam score is contribution times technical skill, and tracked, evidenced work is how your contribution becomes visible. Untracked work is invisible - and invisible work can't count for you. It doesn't DETERMINE your contribution score by itself, but it absolutely IMPACTS it: two students who did the same work, one tracked it and one didn't, do not look the same at the oral exam. The tracked one has evidence. So: log your hours. Untracked work is unpaid work, and unpaid work, as far as your grade can see, didn't happen."]</a:t>
            </a:r>
            <a:endParaRPr/>
          </a:p>
        </p:txBody>
      </p:sp>
      <p:sp>
        <p:nvSpPr>
          <p:cNvPr id="116" name="Google Shape;116;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Tyler - </a:t>
            </a:r>
            <a:r>
              <a:rPr lang="en-US" sz="1200">
                <a:solidFill>
                  <a:schemeClr val="dk1"/>
                </a:solidFill>
                <a:latin typeface="Arial"/>
                <a:ea typeface="Arial"/>
                <a:cs typeface="Arial"/>
                <a:sym typeface="Arial"/>
              </a:rPr>
              <a:t>[SPOKEN — TL4 builds toward the contribution multiplier, so tell them what it looks for.]</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"Let me connect this directly to the exam, because TL4's whole subject - the plan and the tracking - feeds one specific thing: your contribution score. Your oral exam is your technical score, out of twenty, multiplied by a contribution score. That multiplier is not a vibe - it's evidenced by exactly the tracking we're setting up today.</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What does 'good contribution' look like in the evidence? Steady, tracked work across the semester - not a heroic all-nighter at the end. Predicted-versus-actual that shows you engaged honestly with your estimates, even when you were wrong. A commit history and a Gantt that tell the same story. And meetings and training attended. The Gantt you're building today is, quite literally, the document your contribution is read from. Keep it honest and current, and it argues your case for you at the exam. Neglect it, and you're asking to be judged on memory - yours and mine - which helps no one."]</a:t>
            </a:r>
            <a:endParaRPr/>
          </a:p>
        </p:txBody>
      </p:sp>
      <p:sp>
        <p:nvSpPr>
          <p:cNvPr id="124" name="Google Shape;124;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[SPOKEN — the narrow management role: sanity checks + nudge + takes the fall. Everyone still logs their own.]</a:t>
            </a:r>
            <a:endParaRPr/>
          </a:p>
          <a:p>
            <a:pPr indent="0" lvl="0" marL="0" marR="0" rtl="0" algn="l">
              <a:spcBef>
                <a:spcPts val="0"/>
              </a:spcBef>
              <a:spcAft>
                <a:spcPts val="0"/>
              </a:spcAft>
              <a:buNone/>
            </a:pPr>
            <a:r>
              <a:rPr lang="en-US" sz="1200">
                <a:solidFill>
                  <a:schemeClr val="dk1"/>
                </a:solidFill>
              </a:rPr>
              <a:t>MICHAEL</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"Last piece - what we, the TL4s, actually do for the rest of the semester, because it's deliberately light. We do NOT log your hours for you - that's yours, always. Our job is three things. One: periodic sanity checks - every week or so we glance at the team's Gantt to see if it looks alive. Two: if someone's clearly fallen behind on their tracking, we reach out - a quiet nudge, not a public callout. And three - the one that gives us skin in the game - at the Roast, one of us stands up and answers for the whole team's state. If the tracking's a mess, that's on the TL4 in the hot seat, not on you individually.</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 think of us as a light-touch foreman. We keep the tracking alive and we take the fall if it isn't. But the actual logging - every single row - is each of you, for your own work. Keep your rows current, and you make your TL4's job easy and your own contribution visible."]</a:t>
            </a:r>
            <a:endParaRPr/>
          </a:p>
        </p:txBody>
      </p:sp>
      <p:sp>
        <p:nvSpPr>
          <p:cNvPr id="132" name="Google Shape;132;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[SPOKEN — closer.]</a:t>
            </a:r>
            <a:endParaRPr/>
          </a:p>
          <a:p>
            <a:pPr indent="0" lvl="0" marL="0" marR="0" rtl="0" algn="l">
              <a:spcBef>
                <a:spcPts val="0"/>
              </a:spcBef>
              <a:spcAft>
                <a:spcPts val="0"/>
              </a:spcAft>
              <a:buNone/>
            </a:pPr>
            <a:r>
              <a:rPr lang="en-US" sz="1200">
                <a:solidFill>
                  <a:schemeClr val="dk1"/>
                </a:solidFill>
              </a:rPr>
              <a:t>MICHAEL</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"Quick recap. Your team has one tracking workbook, on OneDrive, with the link in your Git docs folder - never the file in Git. Your TL5 coding estimates are entered as predicted hours in the Gantt, and from today you log your actual spent hours against them - including training and learning time, which counts. You log meetings and lecture time in Overhead. And you keep your own rows current, because tracked work is what makes your contribution visible at the oral exam - untracked work is invisible.</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Your TL4s will sanity-check and nudge, and one of us answers for the team at the Roast a few weeks out - so the honest, current version of the truth is what protects all of us. Keep it current. Next time, in TL4 Part 2 - that's the Roast - we'll see how well everyone did."]</a:t>
            </a:r>
            <a:endParaRPr/>
          </a:p>
        </p:txBody>
      </p:sp>
      <p:sp>
        <p:nvSpPr>
          <p:cNvPr id="140" name="Google Shape;140;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lt1"/>
        </a:solidFill>
      </p:bgPr>
    </p:bg>
    <p:spTree>
      <p:nvGrpSpPr>
        <p:cNvPr id="13" name="Shape 13"/>
        <p:cNvGrpSpPr/>
        <p:nvPr/>
      </p:nvGrpSpPr>
      <p:grpSpPr>
        <a:xfrm>
          <a:off x="0" y="0"/>
          <a:ext cx="0" cy="0"/>
          <a:chOff x="0" y="0"/>
          <a:chExt cx="0" cy="0"/>
        </a:xfrm>
      </p:grpSpPr>
      <p:sp>
        <p:nvSpPr>
          <p:cNvPr id="14" name="Google Shape;14;p2"/>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5C3391"/>
              </a:buClr>
              <a:buSzPts val="4400"/>
              <a:buFont typeface="Calibri"/>
              <a:buNone/>
              <a:defRPr>
                <a:solidFill>
                  <a:srgbClr val="5C339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rgbClr val="5C3391"/>
              </a:buClr>
              <a:buSzPts val="3200"/>
              <a:buChar char="•"/>
              <a:defRPr>
                <a:solidFill>
                  <a:srgbClr val="5C3391"/>
                </a:solidFill>
              </a:defRPr>
            </a:lvl1pPr>
            <a:lvl2pPr indent="-406400" lvl="1" marL="914400" algn="l">
              <a:spcBef>
                <a:spcPts val="560"/>
              </a:spcBef>
              <a:spcAft>
                <a:spcPts val="0"/>
              </a:spcAft>
              <a:buClr>
                <a:srgbClr val="5C3391"/>
              </a:buClr>
              <a:buSzPts val="2800"/>
              <a:buChar char="–"/>
              <a:defRPr>
                <a:solidFill>
                  <a:srgbClr val="5C3391"/>
                </a:solidFill>
              </a:defRPr>
            </a:lvl2pPr>
            <a:lvl3pPr indent="-381000" lvl="2" marL="1371600" algn="l">
              <a:spcBef>
                <a:spcPts val="480"/>
              </a:spcBef>
              <a:spcAft>
                <a:spcPts val="0"/>
              </a:spcAft>
              <a:buClr>
                <a:srgbClr val="5C3391"/>
              </a:buClr>
              <a:buSzPts val="2400"/>
              <a:buChar char="•"/>
              <a:defRPr>
                <a:solidFill>
                  <a:srgbClr val="5C3391"/>
                </a:solidFill>
              </a:defRPr>
            </a:lvl3pPr>
            <a:lvl4pPr indent="-355600" lvl="3" marL="1828800" algn="l">
              <a:spcBef>
                <a:spcPts val="400"/>
              </a:spcBef>
              <a:spcAft>
                <a:spcPts val="0"/>
              </a:spcAft>
              <a:buClr>
                <a:srgbClr val="5C3391"/>
              </a:buClr>
              <a:buSzPts val="2000"/>
              <a:buChar char="–"/>
              <a:defRPr>
                <a:solidFill>
                  <a:srgbClr val="5C3391"/>
                </a:solidFill>
              </a:defRPr>
            </a:lvl4pPr>
            <a:lvl5pPr indent="-355600" lvl="4" marL="2286000" algn="l">
              <a:spcBef>
                <a:spcPts val="400"/>
              </a:spcBef>
              <a:spcAft>
                <a:spcPts val="0"/>
              </a:spcAft>
              <a:buClr>
                <a:srgbClr val="5C3391"/>
              </a:buClr>
              <a:buSzPts val="2000"/>
              <a:buChar char="»"/>
              <a:defRPr>
                <a:solidFill>
                  <a:srgbClr val="5C339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AC8ED9"/>
              </a:buClr>
              <a:buSzPts val="3200"/>
              <a:buNone/>
              <a:defRPr>
                <a:solidFill>
                  <a:srgbClr val="AC8ED9"/>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lt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AC8ED9"/>
              </a:buClr>
              <a:buSzPts val="2000"/>
              <a:buNone/>
              <a:defRPr sz="2000">
                <a:solidFill>
                  <a:srgbClr val="AC8ED9"/>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5"/>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4" name="Shape 24"/>
        <p:cNvGrpSpPr/>
        <p:nvPr/>
      </p:nvGrpSpPr>
      <p:grpSpPr>
        <a:xfrm>
          <a:off x="0" y="0"/>
          <a:ext cx="0" cy="0"/>
          <a:chOff x="0" y="0"/>
          <a:chExt cx="0" cy="0"/>
        </a:xfrm>
      </p:grpSpPr>
      <p:sp>
        <p:nvSpPr>
          <p:cNvPr id="25" name="Google Shape;25;p6"/>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lt1"/>
              </a:buClr>
              <a:buSzPts val="1800"/>
              <a:buChar char="•"/>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7"/>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lt1"/>
              </a:buClr>
              <a:buSzPts val="2800"/>
              <a:buChar char="•"/>
              <a:defRPr sz="2800"/>
            </a:lvl1pPr>
            <a:lvl2pPr indent="-381000" lvl="1" marL="914400" algn="l">
              <a:spcBef>
                <a:spcPts val="480"/>
              </a:spcBef>
              <a:spcAft>
                <a:spcPts val="0"/>
              </a:spcAft>
              <a:buClr>
                <a:schemeClr val="lt1"/>
              </a:buClr>
              <a:buSzPts val="2400"/>
              <a:buChar char="–"/>
              <a:defRPr sz="2400"/>
            </a:lvl2pPr>
            <a:lvl3pPr indent="-355600" lvl="2" marL="1371600" algn="l">
              <a:spcBef>
                <a:spcPts val="400"/>
              </a:spcBef>
              <a:spcAft>
                <a:spcPts val="0"/>
              </a:spcAft>
              <a:buClr>
                <a:schemeClr val="lt1"/>
              </a:buClr>
              <a:buSzPts val="2000"/>
              <a:buChar char="•"/>
              <a:defRPr sz="2000"/>
            </a:lvl3pPr>
            <a:lvl4pPr indent="-342900" lvl="3" marL="1828800" algn="l">
              <a:spcBef>
                <a:spcPts val="360"/>
              </a:spcBef>
              <a:spcAft>
                <a:spcPts val="0"/>
              </a:spcAft>
              <a:buClr>
                <a:schemeClr val="lt1"/>
              </a:buClr>
              <a:buSzPts val="1800"/>
              <a:buChar char="–"/>
              <a:defRPr sz="1800"/>
            </a:lvl4pPr>
            <a:lvl5pPr indent="-342900" lvl="4" marL="2286000" algn="l">
              <a:spcBef>
                <a:spcPts val="360"/>
              </a:spcBef>
              <a:spcAft>
                <a:spcPts val="0"/>
              </a:spcAft>
              <a:buClr>
                <a:schemeClr val="lt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0" name="Google Shape;30;p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lt1"/>
              </a:buClr>
              <a:buSzPts val="2800"/>
              <a:buChar char="•"/>
              <a:defRPr sz="2800"/>
            </a:lvl1pPr>
            <a:lvl2pPr indent="-381000" lvl="1" marL="914400" algn="l">
              <a:spcBef>
                <a:spcPts val="480"/>
              </a:spcBef>
              <a:spcAft>
                <a:spcPts val="0"/>
              </a:spcAft>
              <a:buClr>
                <a:schemeClr val="lt1"/>
              </a:buClr>
              <a:buSzPts val="2400"/>
              <a:buChar char="–"/>
              <a:defRPr sz="2400"/>
            </a:lvl2pPr>
            <a:lvl3pPr indent="-355600" lvl="2" marL="1371600" algn="l">
              <a:spcBef>
                <a:spcPts val="400"/>
              </a:spcBef>
              <a:spcAft>
                <a:spcPts val="0"/>
              </a:spcAft>
              <a:buClr>
                <a:schemeClr val="lt1"/>
              </a:buClr>
              <a:buSzPts val="2000"/>
              <a:buChar char="•"/>
              <a:defRPr sz="2000"/>
            </a:lvl3pPr>
            <a:lvl4pPr indent="-342900" lvl="3" marL="1828800" algn="l">
              <a:spcBef>
                <a:spcPts val="360"/>
              </a:spcBef>
              <a:spcAft>
                <a:spcPts val="0"/>
              </a:spcAft>
              <a:buClr>
                <a:schemeClr val="lt1"/>
              </a:buClr>
              <a:buSzPts val="1800"/>
              <a:buChar char="–"/>
              <a:defRPr sz="1800"/>
            </a:lvl4pPr>
            <a:lvl5pPr indent="-342900" lvl="4" marL="2286000" algn="l">
              <a:spcBef>
                <a:spcPts val="360"/>
              </a:spcBef>
              <a:spcAft>
                <a:spcPts val="0"/>
              </a:spcAft>
              <a:buClr>
                <a:schemeClr val="lt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1" name="Shape 31"/>
        <p:cNvGrpSpPr/>
        <p:nvPr/>
      </p:nvGrpSpPr>
      <p:grpSpPr>
        <a:xfrm>
          <a:off x="0" y="0"/>
          <a:ext cx="0" cy="0"/>
          <a:chOff x="0" y="0"/>
          <a:chExt cx="0" cy="0"/>
        </a:xfrm>
      </p:grpSpPr>
      <p:sp>
        <p:nvSpPr>
          <p:cNvPr id="32" name="Google Shape;32;p8"/>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lt1"/>
              </a:buClr>
              <a:buSzPts val="2400"/>
              <a:buNone/>
              <a:defRPr b="1" sz="2400"/>
            </a:lvl1pPr>
            <a:lvl2pPr indent="-228600" lvl="1" marL="914400" algn="l">
              <a:spcBef>
                <a:spcPts val="400"/>
              </a:spcBef>
              <a:spcAft>
                <a:spcPts val="0"/>
              </a:spcAft>
              <a:buClr>
                <a:schemeClr val="lt1"/>
              </a:buClr>
              <a:buSzPts val="2000"/>
              <a:buNone/>
              <a:defRPr b="1" sz="2000"/>
            </a:lvl2pPr>
            <a:lvl3pPr indent="-228600" lvl="2" marL="1371600" algn="l">
              <a:spcBef>
                <a:spcPts val="360"/>
              </a:spcBef>
              <a:spcAft>
                <a:spcPts val="0"/>
              </a:spcAft>
              <a:buClr>
                <a:schemeClr val="lt1"/>
              </a:buClr>
              <a:buSzPts val="1800"/>
              <a:buNone/>
              <a:defRPr b="1" sz="1800"/>
            </a:lvl3pPr>
            <a:lvl4pPr indent="-228600" lvl="3" marL="1828800" algn="l">
              <a:spcBef>
                <a:spcPts val="320"/>
              </a:spcBef>
              <a:spcAft>
                <a:spcPts val="0"/>
              </a:spcAft>
              <a:buClr>
                <a:schemeClr val="lt1"/>
              </a:buClr>
              <a:buSzPts val="1600"/>
              <a:buNone/>
              <a:defRPr b="1" sz="1600"/>
            </a:lvl4pPr>
            <a:lvl5pPr indent="-228600" lvl="4" marL="2286000" algn="l">
              <a:spcBef>
                <a:spcPts val="320"/>
              </a:spcBef>
              <a:spcAft>
                <a:spcPts val="0"/>
              </a:spcAft>
              <a:buClr>
                <a:schemeClr val="lt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4" name="Google Shape;34;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lt1"/>
              </a:buClr>
              <a:buSzPts val="2400"/>
              <a:buChar char="•"/>
              <a:defRPr sz="2400"/>
            </a:lvl1pPr>
            <a:lvl2pPr indent="-355600" lvl="1" marL="914400" algn="l">
              <a:spcBef>
                <a:spcPts val="400"/>
              </a:spcBef>
              <a:spcAft>
                <a:spcPts val="0"/>
              </a:spcAft>
              <a:buClr>
                <a:schemeClr val="lt1"/>
              </a:buClr>
              <a:buSzPts val="2000"/>
              <a:buChar char="–"/>
              <a:defRPr sz="2000"/>
            </a:lvl2pPr>
            <a:lvl3pPr indent="-342900" lvl="2" marL="1371600" algn="l">
              <a:spcBef>
                <a:spcPts val="360"/>
              </a:spcBef>
              <a:spcAft>
                <a:spcPts val="0"/>
              </a:spcAft>
              <a:buClr>
                <a:schemeClr val="lt1"/>
              </a:buClr>
              <a:buSzPts val="1800"/>
              <a:buChar char="•"/>
              <a:defRPr sz="1800"/>
            </a:lvl3pPr>
            <a:lvl4pPr indent="-330200" lvl="3" marL="1828800" algn="l">
              <a:spcBef>
                <a:spcPts val="320"/>
              </a:spcBef>
              <a:spcAft>
                <a:spcPts val="0"/>
              </a:spcAft>
              <a:buClr>
                <a:schemeClr val="lt1"/>
              </a:buClr>
              <a:buSzPts val="1600"/>
              <a:buChar char="–"/>
              <a:defRPr sz="1600"/>
            </a:lvl4pPr>
            <a:lvl5pPr indent="-330200" lvl="4" marL="2286000" algn="l">
              <a:spcBef>
                <a:spcPts val="320"/>
              </a:spcBef>
              <a:spcAft>
                <a:spcPts val="0"/>
              </a:spcAft>
              <a:buClr>
                <a:schemeClr val="lt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35" name="Google Shape;35;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lt1"/>
              </a:buClr>
              <a:buSzPts val="2400"/>
              <a:buNone/>
              <a:defRPr b="1" sz="2400"/>
            </a:lvl1pPr>
            <a:lvl2pPr indent="-228600" lvl="1" marL="914400" algn="l">
              <a:spcBef>
                <a:spcPts val="400"/>
              </a:spcBef>
              <a:spcAft>
                <a:spcPts val="0"/>
              </a:spcAft>
              <a:buClr>
                <a:schemeClr val="lt1"/>
              </a:buClr>
              <a:buSzPts val="2000"/>
              <a:buNone/>
              <a:defRPr b="1" sz="2000"/>
            </a:lvl2pPr>
            <a:lvl3pPr indent="-228600" lvl="2" marL="1371600" algn="l">
              <a:spcBef>
                <a:spcPts val="360"/>
              </a:spcBef>
              <a:spcAft>
                <a:spcPts val="0"/>
              </a:spcAft>
              <a:buClr>
                <a:schemeClr val="lt1"/>
              </a:buClr>
              <a:buSzPts val="1800"/>
              <a:buNone/>
              <a:defRPr b="1" sz="1800"/>
            </a:lvl3pPr>
            <a:lvl4pPr indent="-228600" lvl="3" marL="1828800" algn="l">
              <a:spcBef>
                <a:spcPts val="320"/>
              </a:spcBef>
              <a:spcAft>
                <a:spcPts val="0"/>
              </a:spcAft>
              <a:buClr>
                <a:schemeClr val="lt1"/>
              </a:buClr>
              <a:buSzPts val="1600"/>
              <a:buNone/>
              <a:defRPr b="1" sz="1600"/>
            </a:lvl4pPr>
            <a:lvl5pPr indent="-228600" lvl="4" marL="2286000" algn="l">
              <a:spcBef>
                <a:spcPts val="320"/>
              </a:spcBef>
              <a:spcAft>
                <a:spcPts val="0"/>
              </a:spcAft>
              <a:buClr>
                <a:schemeClr val="lt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6" name="Google Shape;36;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lt1"/>
              </a:buClr>
              <a:buSzPts val="2400"/>
              <a:buChar char="•"/>
              <a:defRPr sz="2400"/>
            </a:lvl1pPr>
            <a:lvl2pPr indent="-355600" lvl="1" marL="914400" algn="l">
              <a:spcBef>
                <a:spcPts val="400"/>
              </a:spcBef>
              <a:spcAft>
                <a:spcPts val="0"/>
              </a:spcAft>
              <a:buClr>
                <a:schemeClr val="lt1"/>
              </a:buClr>
              <a:buSzPts val="2000"/>
              <a:buChar char="–"/>
              <a:defRPr sz="2000"/>
            </a:lvl2pPr>
            <a:lvl3pPr indent="-342900" lvl="2" marL="1371600" algn="l">
              <a:spcBef>
                <a:spcPts val="360"/>
              </a:spcBef>
              <a:spcAft>
                <a:spcPts val="0"/>
              </a:spcAft>
              <a:buClr>
                <a:schemeClr val="lt1"/>
              </a:buClr>
              <a:buSzPts val="1800"/>
              <a:buChar char="•"/>
              <a:defRPr sz="1800"/>
            </a:lvl3pPr>
            <a:lvl4pPr indent="-330200" lvl="3" marL="1828800" algn="l">
              <a:spcBef>
                <a:spcPts val="320"/>
              </a:spcBef>
              <a:spcAft>
                <a:spcPts val="0"/>
              </a:spcAft>
              <a:buClr>
                <a:schemeClr val="lt1"/>
              </a:buClr>
              <a:buSzPts val="1600"/>
              <a:buChar char="–"/>
              <a:defRPr sz="1600"/>
            </a:lvl4pPr>
            <a:lvl5pPr indent="-330200" lvl="4" marL="2286000" algn="l">
              <a:spcBef>
                <a:spcPts val="320"/>
              </a:spcBef>
              <a:spcAft>
                <a:spcPts val="0"/>
              </a:spcAft>
              <a:buClr>
                <a:schemeClr val="lt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 name="Shape 37"/>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8" name="Shape 38"/>
        <p:cNvGrpSpPr/>
        <p:nvPr/>
      </p:nvGrpSpPr>
      <p:grpSpPr>
        <a:xfrm>
          <a:off x="0" y="0"/>
          <a:ext cx="0" cy="0"/>
          <a:chOff x="0" y="0"/>
          <a:chExt cx="0" cy="0"/>
        </a:xfrm>
      </p:grpSpPr>
      <p:sp>
        <p:nvSpPr>
          <p:cNvPr id="39" name="Google Shape;39;p1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lt1"/>
              </a:buClr>
              <a:buSzPts val="3200"/>
              <a:buChar char="•"/>
              <a:defRPr sz="3200"/>
            </a:lvl1pPr>
            <a:lvl2pPr indent="-406400" lvl="1" marL="914400" algn="l">
              <a:spcBef>
                <a:spcPts val="560"/>
              </a:spcBef>
              <a:spcAft>
                <a:spcPts val="0"/>
              </a:spcAft>
              <a:buClr>
                <a:schemeClr val="lt1"/>
              </a:buClr>
              <a:buSzPts val="2800"/>
              <a:buChar char="–"/>
              <a:defRPr sz="2800"/>
            </a:lvl2pPr>
            <a:lvl3pPr indent="-381000" lvl="2" marL="1371600" algn="l">
              <a:spcBef>
                <a:spcPts val="480"/>
              </a:spcBef>
              <a:spcAft>
                <a:spcPts val="0"/>
              </a:spcAft>
              <a:buClr>
                <a:schemeClr val="lt1"/>
              </a:buClr>
              <a:buSzPts val="2400"/>
              <a:buChar char="•"/>
              <a:defRPr sz="2400"/>
            </a:lvl3pPr>
            <a:lvl4pPr indent="-355600" lvl="3" marL="1828800" algn="l">
              <a:spcBef>
                <a:spcPts val="400"/>
              </a:spcBef>
              <a:spcAft>
                <a:spcPts val="0"/>
              </a:spcAft>
              <a:buClr>
                <a:schemeClr val="lt1"/>
              </a:buClr>
              <a:buSzPts val="2000"/>
              <a:buChar char="–"/>
              <a:defRPr sz="2000"/>
            </a:lvl4pPr>
            <a:lvl5pPr indent="-355600" lvl="4" marL="2286000" algn="l">
              <a:spcBef>
                <a:spcPts val="400"/>
              </a:spcBef>
              <a:spcAft>
                <a:spcPts val="0"/>
              </a:spcAft>
              <a:buClr>
                <a:schemeClr val="lt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1" name="Google Shape;41;p1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lt1"/>
              </a:buClr>
              <a:buSzPts val="1400"/>
              <a:buNone/>
              <a:defRPr sz="1400"/>
            </a:lvl1pPr>
            <a:lvl2pPr indent="-228600" lvl="1" marL="914400" algn="l">
              <a:spcBef>
                <a:spcPts val="240"/>
              </a:spcBef>
              <a:spcAft>
                <a:spcPts val="0"/>
              </a:spcAft>
              <a:buClr>
                <a:schemeClr val="lt1"/>
              </a:buClr>
              <a:buSzPts val="1200"/>
              <a:buNone/>
              <a:defRPr sz="1200"/>
            </a:lvl2pPr>
            <a:lvl3pPr indent="-228600" lvl="2" marL="1371600" algn="l">
              <a:spcBef>
                <a:spcPts val="200"/>
              </a:spcBef>
              <a:spcAft>
                <a:spcPts val="0"/>
              </a:spcAft>
              <a:buClr>
                <a:schemeClr val="lt1"/>
              </a:buClr>
              <a:buSzPts val="1000"/>
              <a:buNone/>
              <a:defRPr sz="1000"/>
            </a:lvl3pPr>
            <a:lvl4pPr indent="-228600" lvl="3" marL="1828800" algn="l">
              <a:spcBef>
                <a:spcPts val="180"/>
              </a:spcBef>
              <a:spcAft>
                <a:spcPts val="0"/>
              </a:spcAft>
              <a:buClr>
                <a:schemeClr val="lt1"/>
              </a:buClr>
              <a:buSzPts val="900"/>
              <a:buNone/>
              <a:defRPr sz="900"/>
            </a:lvl4pPr>
            <a:lvl5pPr indent="-228600" lvl="4" marL="2286000" algn="l">
              <a:spcBef>
                <a:spcPts val="180"/>
              </a:spcBef>
              <a:spcAft>
                <a:spcPts val="0"/>
              </a:spcAft>
              <a:buClr>
                <a:schemeClr val="lt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2" name="Shape 42"/>
        <p:cNvGrpSpPr/>
        <p:nvPr/>
      </p:nvGrpSpPr>
      <p:grpSpPr>
        <a:xfrm>
          <a:off x="0" y="0"/>
          <a:ext cx="0" cy="0"/>
          <a:chOff x="0" y="0"/>
          <a:chExt cx="0" cy="0"/>
        </a:xfrm>
      </p:grpSpPr>
      <p:sp>
        <p:nvSpPr>
          <p:cNvPr id="43" name="Google Shape;43;p1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11"/>
          <p:cNvSpPr/>
          <p:nvPr>
            <p:ph idx="2" type="pic"/>
          </p:nvPr>
        </p:nvSpPr>
        <p:spPr>
          <a:xfrm>
            <a:off x="1792288" y="612775"/>
            <a:ext cx="5486400" cy="4114800"/>
          </a:xfrm>
          <a:prstGeom prst="rect">
            <a:avLst/>
          </a:prstGeom>
          <a:noFill/>
          <a:ln>
            <a:noFill/>
          </a:ln>
        </p:spPr>
      </p:sp>
      <p:sp>
        <p:nvSpPr>
          <p:cNvPr id="45" name="Google Shape;45;p1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lt1"/>
              </a:buClr>
              <a:buSzPts val="1400"/>
              <a:buNone/>
              <a:defRPr sz="1400"/>
            </a:lvl1pPr>
            <a:lvl2pPr indent="-228600" lvl="1" marL="914400" algn="l">
              <a:spcBef>
                <a:spcPts val="240"/>
              </a:spcBef>
              <a:spcAft>
                <a:spcPts val="0"/>
              </a:spcAft>
              <a:buClr>
                <a:schemeClr val="lt1"/>
              </a:buClr>
              <a:buSzPts val="1200"/>
              <a:buNone/>
              <a:defRPr sz="1200"/>
            </a:lvl2pPr>
            <a:lvl3pPr indent="-228600" lvl="2" marL="1371600" algn="l">
              <a:spcBef>
                <a:spcPts val="200"/>
              </a:spcBef>
              <a:spcAft>
                <a:spcPts val="0"/>
              </a:spcAft>
              <a:buClr>
                <a:schemeClr val="lt1"/>
              </a:buClr>
              <a:buSzPts val="1000"/>
              <a:buNone/>
              <a:defRPr sz="1000"/>
            </a:lvl3pPr>
            <a:lvl4pPr indent="-228600" lvl="3" marL="1828800" algn="l">
              <a:spcBef>
                <a:spcPts val="180"/>
              </a:spcBef>
              <a:spcAft>
                <a:spcPts val="0"/>
              </a:spcAft>
              <a:buClr>
                <a:schemeClr val="lt1"/>
              </a:buClr>
              <a:buSzPts val="900"/>
              <a:buNone/>
              <a:defRPr sz="900"/>
            </a:lvl4pPr>
            <a:lvl5pPr indent="-228600" lvl="4" marL="2286000" algn="l">
              <a:spcBef>
                <a:spcPts val="180"/>
              </a:spcBef>
              <a:spcAft>
                <a:spcPts val="0"/>
              </a:spcAft>
              <a:buClr>
                <a:schemeClr val="lt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6" name="Shape 46"/>
        <p:cNvGrpSpPr/>
        <p:nvPr/>
      </p:nvGrpSpPr>
      <p:grpSpPr>
        <a:xfrm>
          <a:off x="0" y="0"/>
          <a:ext cx="0" cy="0"/>
          <a:chOff x="0" y="0"/>
          <a:chExt cx="0" cy="0"/>
        </a:xfrm>
      </p:grpSpPr>
      <p:sp>
        <p:nvSpPr>
          <p:cNvPr id="47" name="Google Shape;47;p12"/>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1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lt1"/>
              </a:buClr>
              <a:buSzPts val="1800"/>
              <a:buChar char="•"/>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9" name="Shape 49"/>
        <p:cNvGrpSpPr/>
        <p:nvPr/>
      </p:nvGrpSpPr>
      <p:grpSpPr>
        <a:xfrm>
          <a:off x="0" y="0"/>
          <a:ext cx="0" cy="0"/>
          <a:chOff x="0" y="0"/>
          <a:chExt cx="0" cy="0"/>
        </a:xfrm>
      </p:grpSpPr>
      <p:sp>
        <p:nvSpPr>
          <p:cNvPr id="50" name="Google Shape;50;p1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lt1"/>
              </a:buClr>
              <a:buSzPts val="1800"/>
              <a:buChar char="•"/>
              <a:defRPr/>
            </a:lvl1pPr>
            <a:lvl2pPr indent="-342900" lvl="1" marL="914400" algn="l">
              <a:spcBef>
                <a:spcPts val="360"/>
              </a:spcBef>
              <a:spcAft>
                <a:spcPts val="0"/>
              </a:spcAft>
              <a:buClr>
                <a:schemeClr val="lt1"/>
              </a:buClr>
              <a:buSzPts val="1800"/>
              <a:buChar char="–"/>
              <a:defRPr/>
            </a:lvl2pPr>
            <a:lvl3pPr indent="-342900" lvl="2" marL="1371600" algn="l">
              <a:spcBef>
                <a:spcPts val="360"/>
              </a:spcBef>
              <a:spcAft>
                <a:spcPts val="0"/>
              </a:spcAft>
              <a:buClr>
                <a:schemeClr val="lt1"/>
              </a:buClr>
              <a:buSzPts val="1800"/>
              <a:buChar char="•"/>
              <a:defRPr/>
            </a:lvl3pPr>
            <a:lvl4pPr indent="-342900" lvl="3" marL="1828800" algn="l">
              <a:spcBef>
                <a:spcPts val="360"/>
              </a:spcBef>
              <a:spcAft>
                <a:spcPts val="0"/>
              </a:spcAft>
              <a:buClr>
                <a:schemeClr val="lt1"/>
              </a:buClr>
              <a:buSzPts val="1800"/>
              <a:buChar char="–"/>
              <a:defRPr/>
            </a:lvl4pPr>
            <a:lvl5pPr indent="-342900" lvl="4" marL="2286000" algn="l">
              <a:spcBef>
                <a:spcPts val="360"/>
              </a:spcBef>
              <a:spcAft>
                <a:spcPts val="0"/>
              </a:spcAft>
              <a:buClr>
                <a:schemeClr val="lt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C339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lt1"/>
              </a:buClr>
              <a:buSzPts val="3200"/>
              <a:buFont typeface="Arial"/>
              <a:buChar char="•"/>
              <a:defRPr b="0" i="0" sz="3200" u="none" cap="none" strike="noStrike">
                <a:solidFill>
                  <a:schemeClr val="lt1"/>
                </a:solidFill>
                <a:latin typeface="Calibri"/>
                <a:ea typeface="Calibri"/>
                <a:cs typeface="Calibri"/>
                <a:sym typeface="Calibri"/>
              </a:defRPr>
            </a:lvl1pPr>
            <a:lvl2pPr indent="-406400" lvl="1" marL="914400" marR="0" rtl="0" algn="l">
              <a:spcBef>
                <a:spcPts val="56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2pPr>
            <a:lvl3pPr indent="-381000" lvl="2" marL="1371600" marR="0" rtl="0" algn="l">
              <a:spcBef>
                <a:spcPts val="48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3pPr>
            <a:lvl4pPr indent="-355600" lvl="3" marL="18288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4pPr>
            <a:lvl5pPr indent="-355600" lvl="4" marL="2286000" marR="0" rtl="0" algn="l">
              <a:spcBef>
                <a:spcPts val="4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nvSpPr>
        <p:spPr>
          <a:xfrm>
            <a:off x="457200" y="6419088"/>
            <a:ext cx="2146663" cy="31089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EBCC9"/>
              </a:buClr>
              <a:buSzPts val="1100"/>
              <a:buFont typeface="Calibri"/>
              <a:buNone/>
            </a:pPr>
            <a:r>
              <a:rPr i="1" lang="en-US" sz="1100">
                <a:solidFill>
                  <a:srgbClr val="AEBCC9"/>
                </a:solidFill>
                <a:latin typeface="Calibri"/>
                <a:ea typeface="Calibri"/>
                <a:cs typeface="Calibri"/>
                <a:sym typeface="Calibri"/>
              </a:rPr>
              <a:t>TL4</a:t>
            </a:r>
            <a:r>
              <a:rPr b="0" i="1" lang="en-US" sz="1100" u="none" cap="none" strike="noStrike">
                <a:solidFill>
                  <a:srgbClr val="AEBCC9"/>
                </a:solidFill>
                <a:latin typeface="Calibri"/>
                <a:ea typeface="Calibri"/>
                <a:cs typeface="Calibri"/>
                <a:sym typeface="Calibri"/>
              </a:rPr>
              <a:t>: Presenter Name</a:t>
            </a:r>
            <a:endParaRPr/>
          </a:p>
        </p:txBody>
      </p:sp>
      <p:sp>
        <p:nvSpPr>
          <p:cNvPr id="9" name="Google Shape;9;p1"/>
          <p:cNvSpPr txBox="1"/>
          <p:nvPr/>
        </p:nvSpPr>
        <p:spPr>
          <a:xfrm>
            <a:off x="3374580" y="6419088"/>
            <a:ext cx="1623620" cy="31089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EBCC9"/>
              </a:buClr>
              <a:buSzPts val="1100"/>
              <a:buFont typeface="Calibri"/>
              <a:buNone/>
            </a:pPr>
            <a:fld id="{00000000-1234-1234-1234-123412341234}" type="slidenum">
              <a:rPr b="0" i="0" lang="en-US" sz="1100" u="none" cap="none" strike="noStrike">
                <a:solidFill>
                  <a:srgbClr val="AEBCC9"/>
                </a:solidFill>
                <a:latin typeface="Calibri"/>
                <a:ea typeface="Calibri"/>
                <a:cs typeface="Calibri"/>
                <a:sym typeface="Calibri"/>
              </a:rPr>
              <a:t>‹#›</a:t>
            </a:fld>
            <a:endParaRPr b="0" i="0" sz="1100" u="none" cap="none" strike="noStrike">
              <a:solidFill>
                <a:srgbClr val="AEBCC9"/>
              </a:solidFill>
              <a:latin typeface="Calibri"/>
              <a:ea typeface="Calibri"/>
              <a:cs typeface="Calibri"/>
              <a:sym typeface="Calibri"/>
            </a:endParaRPr>
          </a:p>
        </p:txBody>
      </p:sp>
      <p:sp>
        <p:nvSpPr>
          <p:cNvPr id="10" name="Google Shape;10;p1"/>
          <p:cNvSpPr txBox="1"/>
          <p:nvPr/>
        </p:nvSpPr>
        <p:spPr>
          <a:xfrm>
            <a:off x="6940740" y="6419088"/>
            <a:ext cx="1747466" cy="31089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AEBCC9"/>
              </a:buClr>
              <a:buSzPts val="1100"/>
              <a:buFont typeface="Calibri"/>
              <a:buNone/>
            </a:pPr>
            <a:r>
              <a:rPr b="0" i="1" lang="en-US" sz="1100" u="none" cap="none" strike="noStrike">
                <a:solidFill>
                  <a:srgbClr val="AEBCC9"/>
                </a:solidFill>
                <a:latin typeface="Calibri"/>
                <a:ea typeface="Calibri"/>
                <a:cs typeface="Calibri"/>
                <a:sym typeface="Calibri"/>
              </a:rPr>
              <a:t>Co-presenter</a:t>
            </a:r>
            <a:endParaRPr/>
          </a:p>
        </p:txBody>
      </p:sp>
      <p:sp>
        <p:nvSpPr>
          <p:cNvPr id="11" name="Google Shape;11;p1"/>
          <p:cNvSpPr/>
          <p:nvPr/>
        </p:nvSpPr>
        <p:spPr>
          <a:xfrm>
            <a:off x="35496" y="128016"/>
            <a:ext cx="9001000" cy="6729984"/>
          </a:xfrm>
          <a:prstGeom prst="rect">
            <a:avLst/>
          </a:prstGeom>
          <a:noFill/>
          <a:ln cap="flat" cmpd="sng" w="381000">
            <a:solidFill>
              <a:srgbClr val="5C3391"/>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2" name="Google Shape;12;p1"/>
          <p:cNvPicPr preferRelativeResize="0"/>
          <p:nvPr/>
        </p:nvPicPr>
        <p:blipFill rotWithShape="1">
          <a:blip r:embed="rId1">
            <a:alphaModFix/>
          </a:blip>
          <a:srcRect b="0" l="0" r="0" t="0"/>
          <a:stretch/>
        </p:blipFill>
        <p:spPr>
          <a:xfrm>
            <a:off x="7626096" y="361087"/>
            <a:ext cx="1162400" cy="11624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 name="Shape 55"/>
        <p:cNvGrpSpPr/>
        <p:nvPr/>
      </p:nvGrpSpPr>
      <p:grpSpPr>
        <a:xfrm>
          <a:off x="0" y="0"/>
          <a:ext cx="0" cy="0"/>
          <a:chOff x="0" y="0"/>
          <a:chExt cx="0" cy="0"/>
        </a:xfrm>
      </p:grpSpPr>
      <p:sp>
        <p:nvSpPr>
          <p:cNvPr id="56" name="Google Shape;56;p14"/>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C3391"/>
              </a:buClr>
              <a:buSzPct val="100000"/>
              <a:buFont typeface="Calibri"/>
              <a:buNone/>
            </a:pPr>
            <a:r>
              <a:rPr lang="en-US">
                <a:solidFill>
                  <a:srgbClr val="5C3391"/>
                </a:solidFill>
              </a:rPr>
              <a:t>DECK MAP — HIDDEN (do not present)</a:t>
            </a:r>
            <a:endParaRPr/>
          </a:p>
        </p:txBody>
      </p:sp>
      <p:sp>
        <p:nvSpPr>
          <p:cNvPr id="57" name="Google Shape;5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47500" lnSpcReduction="20000"/>
          </a:bodyPr>
          <a:lstStyle/>
          <a:p>
            <a:pPr indent="-342900" lvl="0" marL="342900" rtl="0" algn="l">
              <a:spcBef>
                <a:spcPts val="0"/>
              </a:spcBef>
              <a:spcAft>
                <a:spcPts val="0"/>
              </a:spcAft>
              <a:buClr>
                <a:srgbClr val="5C3391"/>
              </a:buClr>
              <a:buSzPct val="100000"/>
              <a:buChar char="•"/>
            </a:pPr>
            <a:r>
              <a:rPr lang="en-US">
                <a:solidFill>
                  <a:srgbClr val="5C3391"/>
                </a:solidFill>
              </a:rPr>
              <a:t>TL4 L1 — Planning &amp; the Gantt. Blank Office Theme master (BC adds formatting). INTERLEAVED with TL5 L1 same day: TL5 FIRST (generate estimates) -&gt; THIS DECK (enter them, set up tracking).</a:t>
            </a:r>
            <a:endParaRPr/>
          </a:p>
          <a:p>
            <a:pPr indent="-342900" lvl="0" marL="342900" rtl="0" algn="l">
              <a:spcBef>
                <a:spcPts val="304"/>
              </a:spcBef>
              <a:spcAft>
                <a:spcPts val="0"/>
              </a:spcAft>
              <a:buClr>
                <a:srgbClr val="5C3391"/>
              </a:buClr>
              <a:buSzPct val="100000"/>
              <a:buChar char="•"/>
            </a:pPr>
            <a:r>
              <a:rPr lang="en-US">
                <a:solidFill>
                  <a:srgbClr val="5C3391"/>
                </a:solidFill>
              </a:rPr>
              <a:t>TOOLING: the spreadsheet workbook (Master_Gantt_Starter.xlsx). Tabs: Management Summary (auto-rollup) / Gantt (coding, predicted vs spent) / Meetings / SA / Overhead (incl. Training = TL-lecture hours, and LEC). HOST ON ONEDRIVE; put the LINK in the Git docs folder. NEVER put the file in Git (merge conflicts).</a:t>
            </a:r>
            <a:endParaRPr/>
          </a:p>
          <a:p>
            <a:pPr indent="-342900" lvl="0" marL="342900" rtl="0" algn="l">
              <a:spcBef>
                <a:spcPts val="304"/>
              </a:spcBef>
              <a:spcAft>
                <a:spcPts val="0"/>
              </a:spcAft>
              <a:buClr>
                <a:srgbClr val="5C3391"/>
              </a:buClr>
              <a:buSzPct val="100000"/>
              <a:buChar char="•"/>
            </a:pPr>
            <a:r>
              <a:rPr lang="en-US">
                <a:solidFill>
                  <a:srgbClr val="5C3391"/>
                </a:solidFill>
              </a:rPr>
              <a:t>TL4 ROLE (narrow, confirmed): (1) the tooling tutorial; (2) periodic basic SANITY CHECKS + reach out to anyone falling behind; (3) takes the fall at the Roast (L2). EVERYONE logs their OWN Gantt rows - TL4 never logs for them.</a:t>
            </a:r>
            <a:endParaRPr/>
          </a:p>
          <a:p>
            <a:pPr indent="-342900" lvl="0" marL="342900" rtl="0" algn="l">
              <a:spcBef>
                <a:spcPts val="304"/>
              </a:spcBef>
              <a:spcAft>
                <a:spcPts val="0"/>
              </a:spcAft>
              <a:buClr>
                <a:srgbClr val="5C3391"/>
              </a:buClr>
              <a:buSzPct val="100000"/>
              <a:buChar char="•"/>
            </a:pPr>
            <a:r>
              <a:rPr lang="en-US">
                <a:solidFill>
                  <a:srgbClr val="5C3391"/>
                </a:solidFill>
              </a:rPr>
              <a:t>$100/hr framing: NOT real money; untracked time is invisible and IMPACTS (does not determine) the contribution score at the oral exam.</a:t>
            </a:r>
            <a:endParaRPr/>
          </a:p>
          <a:p>
            <a:pPr indent="-342900" lvl="0" marL="342900" rtl="0" algn="l">
              <a:spcBef>
                <a:spcPts val="304"/>
              </a:spcBef>
              <a:spcAft>
                <a:spcPts val="0"/>
              </a:spcAft>
              <a:buClr>
                <a:srgbClr val="5C3391"/>
              </a:buClr>
              <a:buSzPct val="100000"/>
              <a:buChar char="•"/>
            </a:pPr>
            <a:r>
              <a:rPr lang="en-US">
                <a:solidFill>
                  <a:srgbClr val="5C3391"/>
                </a:solidFill>
              </a:rPr>
              <a:t>SUPPORT MODEL (corrected): specialty TL is their OWN team's point of contact (logs L1); cross-TL escalation logs L2 but routes back through the primary; outside-team help only DURING a lecture or by appointment.</a:t>
            </a:r>
            <a:endParaRPr/>
          </a:p>
          <a:p>
            <a:pPr indent="-342900" lvl="0" marL="342900" rtl="0" algn="l">
              <a:spcBef>
                <a:spcPts val="304"/>
              </a:spcBef>
              <a:spcAft>
                <a:spcPts val="0"/>
              </a:spcAft>
              <a:buClr>
                <a:srgbClr val="5C3391"/>
              </a:buClr>
              <a:buSzPct val="100000"/>
              <a:buChar char="•"/>
            </a:pPr>
            <a:r>
              <a:rPr lang="en-US">
                <a:solidFill>
                  <a:srgbClr val="5C3391"/>
                </a:solidFill>
              </a:rPr>
              <a:t>Contribution multiplier: oral exam = contribution(/10) x technical(/20). TL4 builds toward the CONTRIBUTION half - tracked, evidenced work.</a:t>
            </a:r>
            <a:endParaRPr/>
          </a:p>
          <a:p>
            <a:pPr indent="-342900" lvl="0" marL="342900" rtl="0" algn="l">
              <a:spcBef>
                <a:spcPts val="304"/>
              </a:spcBef>
              <a:spcAft>
                <a:spcPts val="0"/>
              </a:spcAft>
              <a:buClr>
                <a:srgbClr val="5C3391"/>
              </a:buClr>
              <a:buSzPct val="100000"/>
              <a:buChar char="•"/>
            </a:pPr>
            <a:r>
              <a:rPr lang="en-US">
                <a:solidFill>
                  <a:srgbClr val="5C3391"/>
                </a:solidFill>
              </a:rPr>
              <a:t>PARKED: BC considering promoting TL4 to 'upper-level management' (would change the web page + this deck). Built to the NARROW role for now. NOTE MODES: word-for-word spoken; must-do/how-to-research on hands-on blocks.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1"/>
              </a:buClr>
              <a:buSzPts val="4400"/>
              <a:buFont typeface="Calibri"/>
              <a:buNone/>
            </a:pPr>
            <a:r>
              <a:rPr lang="en-US" sz="4400">
                <a:solidFill>
                  <a:schemeClr val="lt1"/>
                </a:solidFill>
                <a:latin typeface="Calibri"/>
                <a:ea typeface="Calibri"/>
                <a:cs typeface="Calibri"/>
                <a:sym typeface="Calibri"/>
              </a:rPr>
              <a:t>Planning &amp; the Gantt</a:t>
            </a:r>
            <a:endParaRPr/>
          </a:p>
        </p:txBody>
      </p:sp>
      <p:sp>
        <p:nvSpPr>
          <p:cNvPr id="64" name="Google Shape;64;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AC8ED9"/>
              </a:buClr>
              <a:buSzPts val="3200"/>
              <a:buNone/>
            </a:pPr>
            <a:r>
              <a:rPr lang="en-US">
                <a:solidFill>
                  <a:srgbClr val="AC8ED9"/>
                </a:solidFill>
              </a:rPr>
              <a:t>TL4 — Lecture 1 · Set up tracking, enter your estimates, log your truth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C3391"/>
              </a:buClr>
              <a:buSzPts val="4400"/>
              <a:buFont typeface="Calibri"/>
              <a:buNone/>
            </a:pPr>
            <a:r>
              <a:rPr lang="en-US">
                <a:solidFill>
                  <a:srgbClr val="5C3391"/>
                </a:solidFill>
              </a:rPr>
              <a:t>Meet Your TL4 Team</a:t>
            </a:r>
            <a:endParaRPr/>
          </a:p>
        </p:txBody>
      </p:sp>
      <p:sp>
        <p:nvSpPr>
          <p:cNvPr id="71" name="Google Shape;71;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20000"/>
          </a:bodyPr>
          <a:lstStyle/>
          <a:p>
            <a:pPr indent="-358140" lvl="0" marL="342900" rtl="0" algn="l">
              <a:spcBef>
                <a:spcPts val="0"/>
              </a:spcBef>
              <a:spcAft>
                <a:spcPts val="0"/>
              </a:spcAft>
              <a:buClr>
                <a:srgbClr val="5C3391"/>
              </a:buClr>
              <a:buSzPts val="3200"/>
              <a:buChar char="•"/>
            </a:pPr>
            <a:r>
              <a:rPr lang="en-US">
                <a:solidFill>
                  <a:srgbClr val="5C3391"/>
                </a:solidFill>
              </a:rPr>
              <a:t>We are your TL4 group — everyone across the class who shares TL number 4.</a:t>
            </a:r>
            <a:endParaRPr/>
          </a:p>
          <a:p>
            <a:pPr indent="-358140" lvl="0" marL="342900" rtl="0" algn="l">
              <a:spcBef>
                <a:spcPts val="592"/>
              </a:spcBef>
              <a:spcAft>
                <a:spcPts val="0"/>
              </a:spcAft>
              <a:buClr>
                <a:srgbClr val="5C3391"/>
              </a:buClr>
              <a:buSzPts val="3200"/>
              <a:buChar char="•"/>
            </a:pPr>
            <a:r>
              <a:rPr lang="en-US">
                <a:solidFill>
                  <a:srgbClr val="5C3391"/>
                </a:solidFill>
              </a:rPr>
              <a:t>We circulate to help you set up the tracking workbook and enter your estimates.</a:t>
            </a:r>
            <a:endParaRPr/>
          </a:p>
          <a:p>
            <a:pPr indent="-358140" lvl="0" marL="342900" rtl="0" algn="l">
              <a:spcBef>
                <a:spcPts val="592"/>
              </a:spcBef>
              <a:spcAft>
                <a:spcPts val="0"/>
              </a:spcAft>
              <a:buClr>
                <a:srgbClr val="5C3391"/>
              </a:buClr>
              <a:buSzPts val="3200"/>
              <a:buChar char="•"/>
            </a:pPr>
            <a:r>
              <a:rPr lang="en-US">
                <a:solidFill>
                  <a:srgbClr val="5C3391"/>
                </a:solidFill>
              </a:rPr>
              <a:t>Our ongoing role: your team's PM point of contact — periodic sanity checks + a nudge if you fall behind.</a:t>
            </a:r>
            <a:endParaRPr/>
          </a:p>
          <a:p>
            <a:pPr indent="-358140" lvl="0" marL="342900" rtl="0" algn="l">
              <a:spcBef>
                <a:spcPts val="592"/>
              </a:spcBef>
              <a:spcAft>
                <a:spcPts val="0"/>
              </a:spcAft>
              <a:buClr>
                <a:srgbClr val="5C3391"/>
              </a:buClr>
              <a:buSzPts val="3200"/>
              <a:buChar char="•"/>
            </a:pPr>
            <a:r>
              <a:rPr lang="en-US">
                <a:solidFill>
                  <a:srgbClr val="5C3391"/>
                </a:solidFill>
              </a:rPr>
              <a:t>One of us answers for the whole team's state at the Roast — so keep your own rows current.</a:t>
            </a:r>
            <a:endParaRPr/>
          </a:p>
        </p:txBody>
      </p:sp>
      <p:sp>
        <p:nvSpPr>
          <p:cNvPr id="72" name="Google Shape;72;p16"/>
          <p:cNvSpPr txBox="1"/>
          <p:nvPr/>
        </p:nvSpPr>
        <p:spPr>
          <a:xfrm>
            <a:off x="457199" y="6583362"/>
            <a:ext cx="2499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All TL4s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C3391"/>
              </a:buClr>
              <a:buSzPct val="100000"/>
              <a:buFont typeface="Calibri"/>
              <a:buNone/>
            </a:pPr>
            <a:r>
              <a:rPr lang="en-US">
                <a:solidFill>
                  <a:srgbClr val="5C3391"/>
                </a:solidFill>
              </a:rPr>
              <a:t>Today — Make Your Work Visible</a:t>
            </a:r>
            <a:endParaRPr/>
          </a:p>
        </p:txBody>
      </p:sp>
      <p:sp>
        <p:nvSpPr>
          <p:cNvPr id="79" name="Google Shape;79;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514350" lvl="0" marL="514350" rtl="0" algn="l">
              <a:spcBef>
                <a:spcPts val="0"/>
              </a:spcBef>
              <a:spcAft>
                <a:spcPts val="0"/>
              </a:spcAft>
              <a:buClr>
                <a:srgbClr val="5C3391"/>
              </a:buClr>
              <a:buSzPct val="100000"/>
              <a:buFont typeface="Calibri"/>
              <a:buAutoNum type="arabicPeriod"/>
            </a:pPr>
            <a:r>
              <a:rPr lang="en-US"/>
              <a:t>The tracking workbook: what's in it, where it lives.</a:t>
            </a:r>
            <a:endParaRPr/>
          </a:p>
          <a:p>
            <a:pPr indent="-514350" lvl="0" marL="514350" rtl="0" algn="l">
              <a:spcBef>
                <a:spcPts val="592"/>
              </a:spcBef>
              <a:spcAft>
                <a:spcPts val="0"/>
              </a:spcAft>
              <a:buClr>
                <a:srgbClr val="5C3391"/>
              </a:buClr>
              <a:buSzPct val="100000"/>
              <a:buFont typeface="Calibri"/>
              <a:buAutoNum type="arabicPeriod"/>
            </a:pPr>
            <a:r>
              <a:rPr lang="en-US"/>
              <a:t>Enter your TL5 estimates; learn how logging actual hours works.</a:t>
            </a:r>
            <a:endParaRPr/>
          </a:p>
          <a:p>
            <a:pPr indent="-514350" lvl="0" marL="514350" rtl="0" algn="l">
              <a:spcBef>
                <a:spcPts val="592"/>
              </a:spcBef>
              <a:spcAft>
                <a:spcPts val="0"/>
              </a:spcAft>
              <a:buClr>
                <a:srgbClr val="5C3391"/>
              </a:buClr>
              <a:buSzPct val="100000"/>
              <a:buFont typeface="Calibri"/>
              <a:buAutoNum type="arabicPeriod"/>
            </a:pPr>
            <a:r>
              <a:rPr lang="en-US"/>
              <a:t>How tracking connects to your grade (the contribution multiplier).</a:t>
            </a:r>
            <a:endParaRPr/>
          </a:p>
          <a:p>
            <a:pPr indent="-514350" lvl="0" marL="514350" rtl="0" algn="l">
              <a:spcBef>
                <a:spcPts val="592"/>
              </a:spcBef>
              <a:spcAft>
                <a:spcPts val="0"/>
              </a:spcAft>
              <a:buClr>
                <a:srgbClr val="5C3391"/>
              </a:buClr>
              <a:buSzPct val="100000"/>
              <a:buFont typeface="Calibri"/>
              <a:buAutoNum type="arabicPeriod"/>
            </a:pPr>
            <a:r>
              <a:rPr lang="en-US"/>
              <a:t>Keeping it honest: light sanity checks all semester.</a:t>
            </a:r>
            <a:endParaRPr/>
          </a:p>
          <a:p>
            <a:pPr indent="-342900" lvl="0" marL="342900" rtl="0" algn="l">
              <a:spcBef>
                <a:spcPts val="592"/>
              </a:spcBef>
              <a:spcAft>
                <a:spcPts val="0"/>
              </a:spcAft>
              <a:buClr>
                <a:srgbClr val="5C3391"/>
              </a:buClr>
              <a:buSzPct val="100000"/>
              <a:buChar char="•"/>
            </a:pPr>
            <a:r>
              <a:rPr lang="en-US"/>
              <a:t>Theme: tracked work counts; untracked work is invisible.</a:t>
            </a:r>
            <a:endParaRPr/>
          </a:p>
        </p:txBody>
      </p:sp>
      <p:sp>
        <p:nvSpPr>
          <p:cNvPr id="80" name="Google Shape;80;p17"/>
          <p:cNvSpPr txBox="1"/>
          <p:nvPr/>
        </p:nvSpPr>
        <p:spPr>
          <a:xfrm>
            <a:off x="457199" y="6583362"/>
            <a:ext cx="2500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Getty Miller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C3391"/>
              </a:buClr>
              <a:buSzPct val="100000"/>
              <a:buFont typeface="Calibri"/>
              <a:buNone/>
            </a:pPr>
            <a:r>
              <a:rPr lang="en-US">
                <a:solidFill>
                  <a:srgbClr val="5C3391"/>
                </a:solidFill>
              </a:rPr>
              <a:t>Your Team's Tracking Workbook</a:t>
            </a:r>
            <a:endParaRPr/>
          </a:p>
        </p:txBody>
      </p:sp>
      <p:sp>
        <p:nvSpPr>
          <p:cNvPr id="87" name="Google Shape;8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rgbClr val="5C3391"/>
              </a:buClr>
              <a:buSzPct val="100000"/>
              <a:buChar char="•"/>
            </a:pPr>
            <a:r>
              <a:rPr lang="en-US">
                <a:solidFill>
                  <a:srgbClr val="5C3391"/>
                </a:solidFill>
              </a:rPr>
              <a:t>Gantt — your coding tasks: predicted hrs vs spent hrs, plus a week-by-week done/in-progress/planned view.</a:t>
            </a:r>
            <a:endParaRPr/>
          </a:p>
          <a:p>
            <a:pPr indent="-342900" lvl="0" marL="342900" rtl="0" algn="l">
              <a:spcBef>
                <a:spcPts val="544"/>
              </a:spcBef>
              <a:spcAft>
                <a:spcPts val="0"/>
              </a:spcAft>
              <a:buClr>
                <a:srgbClr val="5C3391"/>
              </a:buClr>
              <a:buSzPct val="100000"/>
              <a:buChar char="•"/>
            </a:pPr>
            <a:r>
              <a:rPr lang="en-US">
                <a:solidFill>
                  <a:srgbClr val="5C3391"/>
                </a:solidFill>
              </a:rPr>
              <a:t>SA — systems-analysis work (Champion, SA schedule), same predicted-vs-spent.</a:t>
            </a:r>
            <a:endParaRPr/>
          </a:p>
          <a:p>
            <a:pPr indent="-342900" lvl="0" marL="342900" rtl="0" algn="l">
              <a:spcBef>
                <a:spcPts val="544"/>
              </a:spcBef>
              <a:spcAft>
                <a:spcPts val="0"/>
              </a:spcAft>
              <a:buClr>
                <a:srgbClr val="5C3391"/>
              </a:buClr>
              <a:buSzPct val="100000"/>
              <a:buChar char="•"/>
            </a:pPr>
            <a:r>
              <a:rPr lang="en-US">
                <a:solidFill>
                  <a:srgbClr val="5C3391"/>
                </a:solidFill>
              </a:rPr>
              <a:t>Meetings — attendance and hours.</a:t>
            </a:r>
            <a:endParaRPr/>
          </a:p>
          <a:p>
            <a:pPr indent="-342900" lvl="0" marL="342900" rtl="0" algn="l">
              <a:spcBef>
                <a:spcPts val="544"/>
              </a:spcBef>
              <a:spcAft>
                <a:spcPts val="0"/>
              </a:spcAft>
              <a:buClr>
                <a:srgbClr val="5C3391"/>
              </a:buClr>
              <a:buSzPct val="100000"/>
              <a:buChar char="•"/>
            </a:pPr>
            <a:r>
              <a:rPr lang="en-US">
                <a:solidFill>
                  <a:srgbClr val="5C3391"/>
                </a:solidFill>
              </a:rPr>
              <a:t>Overhead — non-coding professional time: lecture/exam prep, Training (hours in TL lectures), LEC support given.</a:t>
            </a:r>
            <a:endParaRPr/>
          </a:p>
          <a:p>
            <a:pPr indent="-342900" lvl="0" marL="342900" rtl="0" algn="l">
              <a:spcBef>
                <a:spcPts val="544"/>
              </a:spcBef>
              <a:spcAft>
                <a:spcPts val="0"/>
              </a:spcAft>
              <a:buClr>
                <a:srgbClr val="5C3391"/>
              </a:buClr>
              <a:buSzPct val="100000"/>
              <a:buChar char="•"/>
            </a:pPr>
            <a:r>
              <a:rPr lang="en-US">
                <a:solidFill>
                  <a:srgbClr val="5C3391"/>
                </a:solidFill>
              </a:rPr>
              <a:t>Management Summary — auto-rolls-up per person. Never edit by hand.</a:t>
            </a:r>
            <a:endParaRPr/>
          </a:p>
          <a:p>
            <a:pPr indent="-342900" lvl="0" marL="342900" rtl="0" algn="l">
              <a:spcBef>
                <a:spcPts val="544"/>
              </a:spcBef>
              <a:spcAft>
                <a:spcPts val="0"/>
              </a:spcAft>
              <a:buClr>
                <a:srgbClr val="5C3391"/>
              </a:buClr>
              <a:buSzPct val="100000"/>
              <a:buChar char="•"/>
            </a:pPr>
            <a:r>
              <a:rPr lang="en-US">
                <a:solidFill>
                  <a:srgbClr val="5C3391"/>
                </a:solidFill>
              </a:rPr>
              <a:t>RULE: workbook lives on OneDrive; put the LINK in Git docs. Never the file in Git (merge-conflict nightmare).</a:t>
            </a:r>
            <a:endParaRPr/>
          </a:p>
        </p:txBody>
      </p:sp>
      <p:sp>
        <p:nvSpPr>
          <p:cNvPr id="88" name="Google Shape;88;p18"/>
          <p:cNvSpPr txBox="1"/>
          <p:nvPr/>
        </p:nvSpPr>
        <p:spPr>
          <a:xfrm>
            <a:off x="457199" y="6583362"/>
            <a:ext cx="2500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Getty Miller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lt1"/>
              </a:buClr>
              <a:buSzPts val="4000"/>
              <a:buFont typeface="Calibri"/>
              <a:buNone/>
            </a:pPr>
            <a:r>
              <a:rPr b="1" lang="en-US" sz="4000" cap="none"/>
              <a:t>← YOU JUST CAME FROM TL5</a:t>
            </a:r>
            <a:endParaRPr/>
          </a:p>
        </p:txBody>
      </p:sp>
      <p:sp>
        <p:nvSpPr>
          <p:cNvPr id="95" name="Google Shape;95;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AC8ED9"/>
              </a:buClr>
              <a:buSzPts val="2000"/>
              <a:buNone/>
            </a:pPr>
            <a:r>
              <a:rPr lang="en-US" sz="2000">
                <a:solidFill>
                  <a:srgbClr val="AC8ED9"/>
                </a:solidFill>
              </a:rPr>
              <a:t>You have fine-grained coding estimates in hand (task, predicted hours). Today they go into the Gantt.</a:t>
            </a:r>
            <a:endParaRPr/>
          </a:p>
        </p:txBody>
      </p:sp>
      <p:sp>
        <p:nvSpPr>
          <p:cNvPr id="96" name="Google Shape;96;p19"/>
          <p:cNvSpPr txBox="1"/>
          <p:nvPr/>
        </p:nvSpPr>
        <p:spPr>
          <a:xfrm>
            <a:off x="457199" y="6583362"/>
            <a:ext cx="2500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Getty Miller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1"/>
              </a:buClr>
              <a:buSzPct val="100000"/>
              <a:buFont typeface="Calibri"/>
              <a:buNone/>
            </a:pPr>
            <a:r>
              <a:rPr lang="en-US" sz="4400">
                <a:solidFill>
                  <a:schemeClr val="lt1"/>
                </a:solidFill>
                <a:latin typeface="Calibri"/>
                <a:ea typeface="Calibri"/>
                <a:cs typeface="Calibri"/>
                <a:sym typeface="Calibri"/>
              </a:rPr>
              <a:t>Follow Along 1 — Set Up Tracking &amp; Enter Your Estimates</a:t>
            </a:r>
            <a:endParaRPr/>
          </a:p>
        </p:txBody>
      </p:sp>
      <p:sp>
        <p:nvSpPr>
          <p:cNvPr id="103" name="Google Shape;103;p20"/>
          <p:cNvSpPr txBox="1"/>
          <p:nvPr/>
        </p:nvSpPr>
        <p:spPr>
          <a:xfrm>
            <a:off x="548640" y="1554480"/>
            <a:ext cx="8229600"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TL4 (once per team): put the workbook on OneDrive; paste the LINK into the Git docs folder.</a:t>
            </a:r>
            <a:endParaRPr/>
          </a:p>
          <a:p>
            <a:pPr indent="0" lvl="0" marL="0" marR="0" rtl="0" algn="l">
              <a:spcBef>
                <a:spcPts val="0"/>
              </a:spcBef>
              <a:spcAft>
                <a:spcPts val="0"/>
              </a:spcAft>
              <a:buNone/>
            </a:pPr>
            <a:r>
              <a:rPr lang="en-US" sz="2000">
                <a:solidFill>
                  <a:schemeClr val="lt1"/>
                </a:solidFill>
                <a:latin typeface="Calibri"/>
                <a:ea typeface="Calibri"/>
                <a:cs typeface="Calibri"/>
                <a:sym typeface="Calibri"/>
              </a:rPr>
              <a:t>Everyone (your own rows only):</a:t>
            </a:r>
            <a:endParaRPr/>
          </a:p>
          <a:p>
            <a:pPr indent="-342900" lvl="1" marL="800100" marR="0" rtl="0" algn="l">
              <a:spcBef>
                <a:spcPts val="0"/>
              </a:spcBef>
              <a:spcAft>
                <a:spcPts val="0"/>
              </a:spcAft>
              <a:buClr>
                <a:schemeClr val="lt1"/>
              </a:buClr>
              <a:buSzPts val="2000"/>
              <a:buFont typeface="Arial"/>
              <a:buChar char="•"/>
            </a:pPr>
            <a:r>
              <a:rPr b="0" i="0" lang="en-US" sz="2000" u="none" cap="none" strike="noStrike">
                <a:solidFill>
                  <a:schemeClr val="lt1"/>
                </a:solidFill>
                <a:latin typeface="Calibri"/>
                <a:ea typeface="Calibri"/>
                <a:cs typeface="Calibri"/>
                <a:sym typeface="Calibri"/>
              </a:rPr>
              <a:t>Open the Gantt tab. Enter your TL5 coding items as rows.</a:t>
            </a:r>
            <a:endParaRPr/>
          </a:p>
          <a:p>
            <a:pPr indent="-342900" lvl="1" marL="800100" marR="0" rtl="0" algn="l">
              <a:spcBef>
                <a:spcPts val="0"/>
              </a:spcBef>
              <a:spcAft>
                <a:spcPts val="0"/>
              </a:spcAft>
              <a:buClr>
                <a:schemeClr val="lt1"/>
              </a:buClr>
              <a:buSzPts val="2000"/>
              <a:buFont typeface="Arial"/>
              <a:buChar char="•"/>
            </a:pPr>
            <a:r>
              <a:rPr b="0" i="0" lang="en-US" sz="2000" u="none" cap="none" strike="noStrike">
                <a:solidFill>
                  <a:schemeClr val="lt1"/>
                </a:solidFill>
                <a:latin typeface="Calibri"/>
                <a:ea typeface="Calibri"/>
                <a:cs typeface="Calibri"/>
                <a:sym typeface="Calibri"/>
              </a:rPr>
              <a:t>Put each AI estimate in PREDICTED hours. Leave SPENT blank — you'll fill it as you work.</a:t>
            </a:r>
            <a:endParaRPr/>
          </a:p>
          <a:p>
            <a:pPr indent="-342900" lvl="1" marL="800100" marR="0" rtl="0" algn="l">
              <a:spcBef>
                <a:spcPts val="0"/>
              </a:spcBef>
              <a:spcAft>
                <a:spcPts val="0"/>
              </a:spcAft>
              <a:buClr>
                <a:schemeClr val="lt1"/>
              </a:buClr>
              <a:buSzPts val="2000"/>
              <a:buFont typeface="Arial"/>
              <a:buChar char="•"/>
            </a:pPr>
            <a:r>
              <a:rPr b="0" i="0" lang="en-US" sz="2000" u="none" cap="none" strike="noStrike">
                <a:solidFill>
                  <a:schemeClr val="lt1"/>
                </a:solidFill>
                <a:latin typeface="Calibri"/>
                <a:ea typeface="Calibri"/>
                <a:cs typeface="Calibri"/>
                <a:sym typeface="Calibri"/>
              </a:rPr>
              <a:t>Fine-grained is the point: many small tasks, not one big one.</a:t>
            </a:r>
            <a:endParaRPr/>
          </a:p>
          <a:p>
            <a:pPr indent="0" lvl="0" marL="0" marR="0" rtl="0" algn="l">
              <a:spcBef>
                <a:spcPts val="0"/>
              </a:spcBef>
              <a:spcAft>
                <a:spcPts val="0"/>
              </a:spcAft>
              <a:buNone/>
            </a:pPr>
            <a:r>
              <a:rPr lang="en-US" sz="2000">
                <a:solidFill>
                  <a:schemeClr val="lt1"/>
                </a:solidFill>
                <a:latin typeface="Calibri"/>
                <a:ea typeface="Calibri"/>
                <a:cs typeface="Calibri"/>
                <a:sym typeface="Calibri"/>
              </a:rPr>
              <a:t>Check: does the Management Summary show your predicted total rolling up? (It's automatic.)</a:t>
            </a:r>
            <a:endParaRPr/>
          </a:p>
        </p:txBody>
      </p:sp>
      <p:sp>
        <p:nvSpPr>
          <p:cNvPr id="104" name="Google Shape;104;p20"/>
          <p:cNvSpPr txBox="1"/>
          <p:nvPr/>
        </p:nvSpPr>
        <p:spPr>
          <a:xfrm>
            <a:off x="457199" y="6583362"/>
            <a:ext cx="2499900" cy="36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800">
                <a:solidFill>
                  <a:schemeClr val="lt1"/>
                </a:solidFill>
                <a:latin typeface="Calibri"/>
                <a:ea typeface="Calibri"/>
                <a:cs typeface="Calibri"/>
                <a:sym typeface="Calibri"/>
              </a:rPr>
              <a:t>Xavier Dahlstet</a:t>
            </a:r>
            <a:endParaRPr sz="1800">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1"/>
              </a:buClr>
              <a:buSzPct val="100000"/>
              <a:buFont typeface="Calibri"/>
              <a:buNone/>
            </a:pPr>
            <a:r>
              <a:rPr lang="en-US" sz="4400">
                <a:solidFill>
                  <a:schemeClr val="lt1"/>
                </a:solidFill>
                <a:latin typeface="Calibri"/>
                <a:ea typeface="Calibri"/>
                <a:cs typeface="Calibri"/>
                <a:sym typeface="Calibri"/>
              </a:rPr>
              <a:t>Follow Along 2 — How Logging Works</a:t>
            </a:r>
            <a:endParaRPr/>
          </a:p>
        </p:txBody>
      </p:sp>
      <p:sp>
        <p:nvSpPr>
          <p:cNvPr id="111" name="Google Shape;111;p21"/>
          <p:cNvSpPr txBox="1"/>
          <p:nvPr/>
        </p:nvSpPr>
        <p:spPr>
          <a:xfrm>
            <a:off x="548640" y="1554480"/>
            <a:ext cx="8229600"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lt1"/>
                </a:solidFill>
                <a:latin typeface="Calibri"/>
                <a:ea typeface="Calibri"/>
                <a:cs typeface="Calibri"/>
                <a:sym typeface="Calibri"/>
              </a:rPr>
              <a:t>Walk each tab and log ONE real entry so everyone's done it once:</a:t>
            </a:r>
            <a:endParaRPr/>
          </a:p>
          <a:p>
            <a:pPr indent="-342900" lvl="1" marL="800100" marR="0" rtl="0" algn="l">
              <a:spcBef>
                <a:spcPts val="0"/>
              </a:spcBef>
              <a:spcAft>
                <a:spcPts val="0"/>
              </a:spcAft>
              <a:buClr>
                <a:schemeClr val="lt1"/>
              </a:buClr>
              <a:buSzPts val="2000"/>
              <a:buFont typeface="Arial"/>
              <a:buChar char="•"/>
            </a:pPr>
            <a:r>
              <a:rPr b="0" i="0" lang="en-US" sz="2000" u="none" cap="none" strike="noStrike">
                <a:solidFill>
                  <a:schemeClr val="lt1"/>
                </a:solidFill>
                <a:latin typeface="Calibri"/>
                <a:ea typeface="Calibri"/>
                <a:cs typeface="Calibri"/>
                <a:sym typeface="Calibri"/>
              </a:rPr>
              <a:t>Gantt: pick a task you've started; put your actual hours in SPENT (keep PREDICTED as-is).</a:t>
            </a:r>
            <a:endParaRPr/>
          </a:p>
          <a:p>
            <a:pPr indent="-342900" lvl="1" marL="800100" marR="0" rtl="0" algn="l">
              <a:spcBef>
                <a:spcPts val="0"/>
              </a:spcBef>
              <a:spcAft>
                <a:spcPts val="0"/>
              </a:spcAft>
              <a:buClr>
                <a:schemeClr val="lt1"/>
              </a:buClr>
              <a:buSzPts val="2000"/>
              <a:buFont typeface="Arial"/>
              <a:buChar char="•"/>
            </a:pPr>
            <a:r>
              <a:rPr b="0" i="0" lang="en-US" sz="2000" u="none" cap="none" strike="noStrike">
                <a:solidFill>
                  <a:schemeClr val="lt1"/>
                </a:solidFill>
                <a:latin typeface="Calibri"/>
                <a:ea typeface="Calibri"/>
                <a:cs typeface="Calibri"/>
                <a:sym typeface="Calibri"/>
              </a:rPr>
              <a:t>Keep BOTH numbers — predicted vs spent is the whole point (and the Roast's evidence).</a:t>
            </a:r>
            <a:endParaRPr/>
          </a:p>
          <a:p>
            <a:pPr indent="-342900" lvl="1" marL="800100" marR="0" rtl="0" algn="l">
              <a:spcBef>
                <a:spcPts val="0"/>
              </a:spcBef>
              <a:spcAft>
                <a:spcPts val="0"/>
              </a:spcAft>
              <a:buClr>
                <a:schemeClr val="lt1"/>
              </a:buClr>
              <a:buSzPts val="2000"/>
              <a:buFont typeface="Arial"/>
              <a:buChar char="•"/>
            </a:pPr>
            <a:r>
              <a:rPr b="0" i="0" lang="en-US" sz="2000" u="none" cap="none" strike="noStrike">
                <a:solidFill>
                  <a:schemeClr val="lt1"/>
                </a:solidFill>
                <a:latin typeface="Calibri"/>
                <a:ea typeface="Calibri"/>
                <a:cs typeface="Calibri"/>
                <a:sym typeface="Calibri"/>
              </a:rPr>
              <a:t>Overhead: log THIS lecture as Training hours (your company sent you to training).</a:t>
            </a:r>
            <a:endParaRPr/>
          </a:p>
          <a:p>
            <a:pPr indent="-342900" lvl="1" marL="800100" marR="0" rtl="0" algn="l">
              <a:spcBef>
                <a:spcPts val="0"/>
              </a:spcBef>
              <a:spcAft>
                <a:spcPts val="0"/>
              </a:spcAft>
              <a:buClr>
                <a:schemeClr val="lt1"/>
              </a:buClr>
              <a:buSzPts val="2000"/>
              <a:buFont typeface="Arial"/>
              <a:buChar char="•"/>
            </a:pPr>
            <a:r>
              <a:rPr b="0" i="0" lang="en-US" sz="2000" u="none" cap="none" strike="noStrike">
                <a:solidFill>
                  <a:schemeClr val="lt1"/>
                </a:solidFill>
                <a:latin typeface="Calibri"/>
                <a:ea typeface="Calibri"/>
                <a:cs typeface="Calibri"/>
                <a:sym typeface="Calibri"/>
              </a:rPr>
              <a:t>Meetings: mark your attendance for a meeting that happened.</a:t>
            </a:r>
            <a:endParaRPr/>
          </a:p>
          <a:p>
            <a:pPr indent="0" lvl="0" marL="0" marR="0" rtl="0" algn="l">
              <a:spcBef>
                <a:spcPts val="0"/>
              </a:spcBef>
              <a:spcAft>
                <a:spcPts val="0"/>
              </a:spcAft>
              <a:buNone/>
            </a:pPr>
            <a:r>
              <a:rPr lang="en-US" sz="2000">
                <a:solidFill>
                  <a:schemeClr val="lt1"/>
                </a:solidFill>
                <a:latin typeface="Calibri"/>
                <a:ea typeface="Calibri"/>
                <a:cs typeface="Calibri"/>
                <a:sym typeface="Calibri"/>
              </a:rPr>
              <a:t>Training time counts. Learning to do a task is part of doing it — log it in SPENT.</a:t>
            </a:r>
            <a:endParaRPr/>
          </a:p>
        </p:txBody>
      </p:sp>
      <p:sp>
        <p:nvSpPr>
          <p:cNvPr id="112" name="Google Shape;112;p21"/>
          <p:cNvSpPr txBox="1"/>
          <p:nvPr/>
        </p:nvSpPr>
        <p:spPr>
          <a:xfrm>
            <a:off x="457199" y="6583362"/>
            <a:ext cx="2499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Xavier Dahlstet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C3391"/>
              </a:buClr>
              <a:buSzPct val="100000"/>
              <a:buFont typeface="Calibri"/>
              <a:buNone/>
            </a:pPr>
            <a:r>
              <a:rPr lang="en-US">
                <a:solidFill>
                  <a:srgbClr val="5C3391"/>
                </a:solidFill>
              </a:rPr>
              <a:t>$100 / Hour — Untracked Work Is Invisible</a:t>
            </a:r>
            <a:endParaRPr/>
          </a:p>
        </p:txBody>
      </p:sp>
      <p:sp>
        <p:nvSpPr>
          <p:cNvPr id="119" name="Google Shape;119;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77500" lnSpcReduction="20000"/>
          </a:bodyPr>
          <a:lstStyle/>
          <a:p>
            <a:pPr indent="-342900" lvl="0" marL="342900" rtl="0" algn="l">
              <a:spcBef>
                <a:spcPts val="0"/>
              </a:spcBef>
              <a:spcAft>
                <a:spcPts val="0"/>
              </a:spcAft>
              <a:buClr>
                <a:srgbClr val="5C3391"/>
              </a:buClr>
              <a:buSzPct val="100000"/>
              <a:buChar char="•"/>
            </a:pPr>
            <a:r>
              <a:rPr lang="en-US">
                <a:solidFill>
                  <a:srgbClr val="5C3391"/>
                </a:solidFill>
              </a:rPr>
              <a:t>Pretend your loaded labor rate is $100/hour (roughly what a junior engineer costs).</a:t>
            </a:r>
            <a:endParaRPr/>
          </a:p>
          <a:p>
            <a:pPr indent="-342900" lvl="0" marL="342900" rtl="0" algn="l">
              <a:spcBef>
                <a:spcPts val="496"/>
              </a:spcBef>
              <a:spcAft>
                <a:spcPts val="0"/>
              </a:spcAft>
              <a:buClr>
                <a:srgbClr val="5C3391"/>
              </a:buClr>
              <a:buSzPct val="100000"/>
              <a:buChar char="•"/>
            </a:pPr>
            <a:r>
              <a:rPr lang="en-US">
                <a:solidFill>
                  <a:srgbClr val="5C3391"/>
                </a:solidFill>
              </a:rPr>
              <a:t>In a real job: work you don't log can't be billed — you effectively worked for free.</a:t>
            </a:r>
            <a:endParaRPr/>
          </a:p>
          <a:p>
            <a:pPr indent="-342900" lvl="0" marL="342900" rtl="0" algn="l">
              <a:spcBef>
                <a:spcPts val="496"/>
              </a:spcBef>
              <a:spcAft>
                <a:spcPts val="0"/>
              </a:spcAft>
              <a:buClr>
                <a:srgbClr val="5C3391"/>
              </a:buClr>
              <a:buSzPct val="100000"/>
              <a:buChar char="•"/>
            </a:pPr>
            <a:r>
              <a:rPr lang="en-US">
                <a:solidFill>
                  <a:srgbClr val="5C3391"/>
                </a:solidFill>
              </a:rPr>
              <a:t>Here it's not real money — but it works the same against your grade.</a:t>
            </a:r>
            <a:endParaRPr/>
          </a:p>
          <a:p>
            <a:pPr indent="-342900" lvl="0" marL="342900" rtl="0" algn="l">
              <a:spcBef>
                <a:spcPts val="496"/>
              </a:spcBef>
              <a:spcAft>
                <a:spcPts val="0"/>
              </a:spcAft>
              <a:buClr>
                <a:srgbClr val="5C3391"/>
              </a:buClr>
              <a:buSzPct val="100000"/>
              <a:buChar char="•"/>
            </a:pPr>
            <a:r>
              <a:rPr lang="en-US">
                <a:solidFill>
                  <a:srgbClr val="5C3391"/>
                </a:solidFill>
              </a:rPr>
              <a:t>Oral exam = contribution × technical. Tracked, evidenced work makes your contribution VISIBLE.</a:t>
            </a:r>
            <a:endParaRPr/>
          </a:p>
          <a:p>
            <a:pPr indent="-342900" lvl="0" marL="342900" rtl="0" algn="l">
              <a:spcBef>
                <a:spcPts val="496"/>
              </a:spcBef>
              <a:spcAft>
                <a:spcPts val="0"/>
              </a:spcAft>
              <a:buClr>
                <a:srgbClr val="5C3391"/>
              </a:buClr>
              <a:buSzPct val="100000"/>
              <a:buChar char="•"/>
            </a:pPr>
            <a:r>
              <a:rPr lang="en-US">
                <a:solidFill>
                  <a:srgbClr val="5C3391"/>
                </a:solidFill>
              </a:rPr>
              <a:t>Untracked work doesn't DETERMINE your score — but it IMPACTS it. Two students, same work; the tracked one has evidence.</a:t>
            </a:r>
            <a:endParaRPr/>
          </a:p>
          <a:p>
            <a:pPr indent="-342900" lvl="0" marL="342900" rtl="0" algn="l">
              <a:spcBef>
                <a:spcPts val="496"/>
              </a:spcBef>
              <a:spcAft>
                <a:spcPts val="0"/>
              </a:spcAft>
              <a:buClr>
                <a:srgbClr val="5C3391"/>
              </a:buClr>
              <a:buSzPct val="100000"/>
              <a:buChar char="•"/>
            </a:pPr>
            <a:r>
              <a:rPr lang="en-US">
                <a:solidFill>
                  <a:srgbClr val="5C3391"/>
                </a:solidFill>
              </a:rPr>
              <a:t>Untracked work is unpaid work — and as far as your grade can see, it didn't happen.</a:t>
            </a:r>
            <a:endParaRPr/>
          </a:p>
        </p:txBody>
      </p:sp>
      <p:sp>
        <p:nvSpPr>
          <p:cNvPr id="120" name="Google Shape;120;p22"/>
          <p:cNvSpPr txBox="1"/>
          <p:nvPr/>
        </p:nvSpPr>
        <p:spPr>
          <a:xfrm>
            <a:off x="457199" y="6583362"/>
            <a:ext cx="24999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Tyler Osso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C3391"/>
              </a:buClr>
              <a:buSzPct val="100000"/>
              <a:buFont typeface="Calibri"/>
              <a:buNone/>
            </a:pPr>
            <a:r>
              <a:rPr lang="en-US">
                <a:solidFill>
                  <a:srgbClr val="5C3391"/>
                </a:solidFill>
              </a:rPr>
              <a:t>What the Oral Exam Looks For — Contribution</a:t>
            </a:r>
            <a:endParaRPr/>
          </a:p>
        </p:txBody>
      </p:sp>
      <p:sp>
        <p:nvSpPr>
          <p:cNvPr id="127" name="Google Shape;12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10000"/>
          </a:bodyPr>
          <a:lstStyle/>
          <a:p>
            <a:pPr indent="-342900" lvl="0" marL="342900" rtl="0" algn="l">
              <a:spcBef>
                <a:spcPts val="0"/>
              </a:spcBef>
              <a:spcAft>
                <a:spcPts val="0"/>
              </a:spcAft>
              <a:buClr>
                <a:srgbClr val="5C3391"/>
              </a:buClr>
              <a:buSzPct val="100000"/>
              <a:buChar char="•"/>
            </a:pPr>
            <a:r>
              <a:rPr lang="en-US"/>
              <a:t>Oral exam = technical (/20) × contribution. TL4's subject feeds the CONTRIBUTION half.</a:t>
            </a:r>
            <a:endParaRPr/>
          </a:p>
          <a:p>
            <a:pPr indent="-342900" lvl="0" marL="342900" rtl="0" algn="l">
              <a:spcBef>
                <a:spcPts val="544"/>
              </a:spcBef>
              <a:spcAft>
                <a:spcPts val="0"/>
              </a:spcAft>
              <a:buClr>
                <a:srgbClr val="5C3391"/>
              </a:buClr>
              <a:buSzPct val="100000"/>
              <a:buChar char="•"/>
            </a:pPr>
            <a:r>
              <a:rPr lang="en-US"/>
              <a:t>Good contribution in the evidence looks like:</a:t>
            </a:r>
            <a:endParaRPr/>
          </a:p>
          <a:p>
            <a:pPr indent="-285750" lvl="1" marL="742950" rtl="0" algn="l">
              <a:spcBef>
                <a:spcPts val="476"/>
              </a:spcBef>
              <a:spcAft>
                <a:spcPts val="0"/>
              </a:spcAft>
              <a:buClr>
                <a:srgbClr val="5C3391"/>
              </a:buClr>
              <a:buSzPct val="100000"/>
              <a:buChar char="–"/>
            </a:pPr>
            <a:r>
              <a:rPr lang="en-US"/>
              <a:t>Steady tracked work all semester (not one heroic all-nighter).</a:t>
            </a:r>
            <a:endParaRPr/>
          </a:p>
          <a:p>
            <a:pPr indent="-285750" lvl="1" marL="742950" rtl="0" algn="l">
              <a:spcBef>
                <a:spcPts val="476"/>
              </a:spcBef>
              <a:spcAft>
                <a:spcPts val="0"/>
              </a:spcAft>
              <a:buClr>
                <a:srgbClr val="5C3391"/>
              </a:buClr>
              <a:buSzPct val="100000"/>
              <a:buChar char="–"/>
            </a:pPr>
            <a:r>
              <a:rPr lang="en-US"/>
              <a:t>Predicted-vs-actual that shows honest engagement (even when the estimate was wrong).</a:t>
            </a:r>
            <a:endParaRPr/>
          </a:p>
          <a:p>
            <a:pPr indent="-285750" lvl="1" marL="742950" rtl="0" algn="l">
              <a:spcBef>
                <a:spcPts val="476"/>
              </a:spcBef>
              <a:spcAft>
                <a:spcPts val="0"/>
              </a:spcAft>
              <a:buClr>
                <a:srgbClr val="5C3391"/>
              </a:buClr>
              <a:buSzPct val="100000"/>
              <a:buChar char="–"/>
            </a:pPr>
            <a:r>
              <a:rPr lang="en-US"/>
              <a:t>A commit history and a Gantt that tell the same story.</a:t>
            </a:r>
            <a:endParaRPr/>
          </a:p>
          <a:p>
            <a:pPr indent="-285750" lvl="1" marL="742950" rtl="0" algn="l">
              <a:spcBef>
                <a:spcPts val="476"/>
              </a:spcBef>
              <a:spcAft>
                <a:spcPts val="0"/>
              </a:spcAft>
              <a:buClr>
                <a:srgbClr val="5C3391"/>
              </a:buClr>
              <a:buSzPct val="100000"/>
              <a:buChar char="–"/>
            </a:pPr>
            <a:r>
              <a:rPr lang="en-US"/>
              <a:t>Meetings and training attended and logged.</a:t>
            </a:r>
            <a:endParaRPr/>
          </a:p>
          <a:p>
            <a:pPr indent="-342900" lvl="0" marL="342900" rtl="0" algn="l">
              <a:spcBef>
                <a:spcPts val="544"/>
              </a:spcBef>
              <a:spcAft>
                <a:spcPts val="0"/>
              </a:spcAft>
              <a:buClr>
                <a:srgbClr val="5C3391"/>
              </a:buClr>
              <a:buSzPct val="100000"/>
              <a:buChar char="•"/>
            </a:pPr>
            <a:r>
              <a:rPr lang="en-US"/>
              <a:t>The Gantt is the document your contribution is READ FROM. Keep it honest; it argues your case for you.</a:t>
            </a:r>
            <a:endParaRPr/>
          </a:p>
        </p:txBody>
      </p:sp>
      <p:sp>
        <p:nvSpPr>
          <p:cNvPr id="128" name="Google Shape;128;p23"/>
          <p:cNvSpPr txBox="1"/>
          <p:nvPr/>
        </p:nvSpPr>
        <p:spPr>
          <a:xfrm>
            <a:off x="457199" y="6583362"/>
            <a:ext cx="2500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Tyler Osso</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4"/>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5C3391"/>
              </a:buClr>
              <a:buSzPct val="100000"/>
              <a:buFont typeface="Calibri"/>
              <a:buNone/>
            </a:pPr>
            <a:r>
              <a:rPr lang="en-US">
                <a:solidFill>
                  <a:srgbClr val="5C3391"/>
                </a:solidFill>
              </a:rPr>
              <a:t>Keeping It Honest — the TL4's Job</a:t>
            </a:r>
            <a:endParaRPr/>
          </a:p>
        </p:txBody>
      </p:sp>
      <p:sp>
        <p:nvSpPr>
          <p:cNvPr id="135" name="Google Shape;135;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rgbClr val="5C3391"/>
              </a:buClr>
              <a:buSzPct val="100000"/>
              <a:buChar char="•"/>
            </a:pPr>
            <a:r>
              <a:rPr lang="en-US"/>
              <a:t>The TL4 does NOT log your hours - that's always yours.</a:t>
            </a:r>
            <a:endParaRPr/>
          </a:p>
          <a:p>
            <a:pPr indent="-342900" lvl="0" marL="342900" rtl="0" algn="l">
              <a:spcBef>
                <a:spcPts val="592"/>
              </a:spcBef>
              <a:spcAft>
                <a:spcPts val="0"/>
              </a:spcAft>
              <a:buClr>
                <a:srgbClr val="5C3391"/>
              </a:buClr>
              <a:buSzPct val="100000"/>
              <a:buChar char="•"/>
            </a:pPr>
            <a:r>
              <a:rPr lang="en-US"/>
              <a:t>The TL4's job, all semester, is three things:</a:t>
            </a:r>
            <a:endParaRPr/>
          </a:p>
          <a:p>
            <a:pPr indent="-514350" lvl="1" marL="914400" rtl="0" algn="l">
              <a:spcBef>
                <a:spcPts val="518"/>
              </a:spcBef>
              <a:spcAft>
                <a:spcPts val="0"/>
              </a:spcAft>
              <a:buClr>
                <a:srgbClr val="5C3391"/>
              </a:buClr>
              <a:buSzPct val="100000"/>
              <a:buFont typeface="Calibri"/>
              <a:buAutoNum type="arabicPeriod"/>
            </a:pPr>
            <a:r>
              <a:rPr lang="en-US"/>
              <a:t>Periodic sanity checks: glance at the team Gantt; does it look alive?</a:t>
            </a:r>
            <a:endParaRPr/>
          </a:p>
          <a:p>
            <a:pPr indent="-514350" lvl="1" marL="914400" rtl="0" algn="l">
              <a:spcBef>
                <a:spcPts val="518"/>
              </a:spcBef>
              <a:spcAft>
                <a:spcPts val="0"/>
              </a:spcAft>
              <a:buClr>
                <a:srgbClr val="5C3391"/>
              </a:buClr>
              <a:buSzPct val="100000"/>
              <a:buFont typeface="Calibri"/>
              <a:buAutoNum type="arabicPeriod"/>
            </a:pPr>
            <a:r>
              <a:rPr lang="en-US"/>
              <a:t>Reach out privately to anyone who's fallen behind on tracking (a nudge, not a callout).</a:t>
            </a:r>
            <a:endParaRPr/>
          </a:p>
          <a:p>
            <a:pPr indent="-514350" lvl="1" marL="914400" rtl="0" algn="l">
              <a:spcBef>
                <a:spcPts val="518"/>
              </a:spcBef>
              <a:spcAft>
                <a:spcPts val="0"/>
              </a:spcAft>
              <a:buClr>
                <a:srgbClr val="5C3391"/>
              </a:buClr>
              <a:buSzPct val="100000"/>
              <a:buFont typeface="Calibri"/>
              <a:buAutoNum type="arabicPeriod"/>
            </a:pPr>
            <a:r>
              <a:rPr lang="en-US"/>
              <a:t>Takes the fall at the Roast: one TL4 answers for the whole team's state.</a:t>
            </a:r>
            <a:endParaRPr/>
          </a:p>
          <a:p>
            <a:pPr indent="-342900" lvl="0" marL="342900" rtl="0" algn="l">
              <a:spcBef>
                <a:spcPts val="592"/>
              </a:spcBef>
              <a:spcAft>
                <a:spcPts val="0"/>
              </a:spcAft>
              <a:buClr>
                <a:srgbClr val="5C3391"/>
              </a:buClr>
              <a:buSzPct val="100000"/>
              <a:buChar char="•"/>
            </a:pPr>
            <a:r>
              <a:rPr lang="en-US"/>
              <a:t>Light-touch foreman: keep the tracking alive, take the fall if it isn't. Everyone logs their own rows.</a:t>
            </a:r>
            <a:endParaRPr/>
          </a:p>
        </p:txBody>
      </p:sp>
      <p:sp>
        <p:nvSpPr>
          <p:cNvPr id="136" name="Google Shape;136;p24"/>
          <p:cNvSpPr txBox="1"/>
          <p:nvPr/>
        </p:nvSpPr>
        <p:spPr>
          <a:xfrm>
            <a:off x="457199" y="6583362"/>
            <a:ext cx="2500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Name: Michael Jones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457200" y="274638"/>
            <a:ext cx="6961931"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5C3391"/>
              </a:buClr>
              <a:buSzPts val="4400"/>
              <a:buFont typeface="Calibri"/>
              <a:buNone/>
            </a:pPr>
            <a:r>
              <a:rPr lang="en-US">
                <a:solidFill>
                  <a:srgbClr val="5C3391"/>
                </a:solidFill>
              </a:rPr>
              <a:t>Recap — What You Owe</a:t>
            </a:r>
            <a:endParaRPr/>
          </a:p>
        </p:txBody>
      </p:sp>
      <p:sp>
        <p:nvSpPr>
          <p:cNvPr id="143" name="Google Shape;143;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spcBef>
                <a:spcPts val="0"/>
              </a:spcBef>
              <a:spcAft>
                <a:spcPts val="0"/>
              </a:spcAft>
              <a:buClr>
                <a:srgbClr val="5C3391"/>
              </a:buClr>
              <a:buSzPct val="100000"/>
              <a:buChar char="•"/>
            </a:pPr>
            <a:r>
              <a:rPr lang="en-US"/>
              <a:t>One workbook per team, on OneDrive, link in Git docs - never the file in Git.</a:t>
            </a:r>
            <a:endParaRPr/>
          </a:p>
          <a:p>
            <a:pPr indent="-342900" lvl="0" marL="342900" rtl="0" algn="l">
              <a:spcBef>
                <a:spcPts val="544"/>
              </a:spcBef>
              <a:spcAft>
                <a:spcPts val="0"/>
              </a:spcAft>
              <a:buClr>
                <a:srgbClr val="5C3391"/>
              </a:buClr>
              <a:buSzPct val="100000"/>
              <a:buChar char="•"/>
            </a:pPr>
            <a:r>
              <a:rPr lang="en-US"/>
              <a:t>TL5 estimates entered as PREDICTED; log your ACTUAL spent hours from today (training/learning time counts).</a:t>
            </a:r>
            <a:endParaRPr/>
          </a:p>
          <a:p>
            <a:pPr indent="-342900" lvl="0" marL="342900" rtl="0" algn="l">
              <a:spcBef>
                <a:spcPts val="544"/>
              </a:spcBef>
              <a:spcAft>
                <a:spcPts val="0"/>
              </a:spcAft>
              <a:buClr>
                <a:srgbClr val="5C3391"/>
              </a:buClr>
              <a:buSzPct val="100000"/>
              <a:buChar char="•"/>
            </a:pPr>
            <a:r>
              <a:rPr lang="en-US"/>
              <a:t>Log meetings and lecture/training time in Overhead.</a:t>
            </a:r>
            <a:endParaRPr/>
          </a:p>
          <a:p>
            <a:pPr indent="-342900" lvl="0" marL="342900" rtl="0" algn="l">
              <a:spcBef>
                <a:spcPts val="544"/>
              </a:spcBef>
              <a:spcAft>
                <a:spcPts val="0"/>
              </a:spcAft>
              <a:buClr>
                <a:srgbClr val="5C3391"/>
              </a:buClr>
              <a:buSzPct val="100000"/>
              <a:buChar char="•"/>
            </a:pPr>
            <a:r>
              <a:rPr lang="en-US"/>
              <a:t>Keep your OWN rows current - tracked work is visible at the oral exam; untracked is invisible.</a:t>
            </a:r>
            <a:endParaRPr/>
          </a:p>
          <a:p>
            <a:pPr indent="-342900" lvl="0" marL="342900" rtl="0" algn="l">
              <a:spcBef>
                <a:spcPts val="544"/>
              </a:spcBef>
              <a:spcAft>
                <a:spcPts val="0"/>
              </a:spcAft>
              <a:buClr>
                <a:srgbClr val="5C3391"/>
              </a:buClr>
              <a:buSzPct val="100000"/>
              <a:buChar char="•"/>
            </a:pPr>
            <a:r>
              <a:rPr lang="en-US"/>
              <a:t>TL4s sanity-check &amp; nudge; one answers for the team at the Roast.</a:t>
            </a:r>
            <a:endParaRPr/>
          </a:p>
          <a:p>
            <a:pPr indent="-342900" lvl="0" marL="342900" rtl="0" algn="l">
              <a:spcBef>
                <a:spcPts val="544"/>
              </a:spcBef>
              <a:spcAft>
                <a:spcPts val="0"/>
              </a:spcAft>
              <a:buClr>
                <a:srgbClr val="5C3391"/>
              </a:buClr>
              <a:buSzPct val="100000"/>
              <a:buChar char="•"/>
            </a:pPr>
            <a:r>
              <a:rPr lang="en-US">
                <a:solidFill>
                  <a:srgbClr val="5C3391"/>
                </a:solidFill>
              </a:rPr>
              <a:t>Next</a:t>
            </a:r>
            <a:r>
              <a:rPr lang="en-US"/>
              <a:t>: </a:t>
            </a:r>
            <a:r>
              <a:rPr lang="en-US">
                <a:solidFill>
                  <a:srgbClr val="5C3391"/>
                </a:solidFill>
              </a:rPr>
              <a:t>TL4 </a:t>
            </a:r>
            <a:r>
              <a:rPr lang="en-US"/>
              <a:t>Part 2: the Roast.</a:t>
            </a:r>
            <a:endParaRPr/>
          </a:p>
        </p:txBody>
      </p:sp>
      <p:sp>
        <p:nvSpPr>
          <p:cNvPr id="144" name="Google Shape;144;p25"/>
          <p:cNvSpPr txBox="1"/>
          <p:nvPr/>
        </p:nvSpPr>
        <p:spPr>
          <a:xfrm>
            <a:off x="457199" y="6583362"/>
            <a:ext cx="250001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lt1"/>
                </a:solidFill>
                <a:latin typeface="Calibri"/>
                <a:ea typeface="Calibri"/>
                <a:cs typeface="Calibri"/>
                <a:sym typeface="Calibri"/>
              </a:rPr>
              <a:t>Name: Michael Jones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